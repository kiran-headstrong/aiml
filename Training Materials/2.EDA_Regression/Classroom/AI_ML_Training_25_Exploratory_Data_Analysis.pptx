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4"/>
    <p:sldMasterId id="2147483916" r:id="rId5"/>
    <p:sldMasterId id="2147483711" r:id="rId6"/>
  </p:sldMasterIdLst>
  <p:notesMasterIdLst>
    <p:notesMasterId r:id="rId43"/>
  </p:notesMasterIdLst>
  <p:handoutMasterIdLst>
    <p:handoutMasterId r:id="rId44"/>
  </p:handoutMasterIdLst>
  <p:sldIdLst>
    <p:sldId id="421" r:id="rId7"/>
    <p:sldId id="603" r:id="rId8"/>
    <p:sldId id="552" r:id="rId9"/>
    <p:sldId id="553" r:id="rId10"/>
    <p:sldId id="555" r:id="rId11"/>
    <p:sldId id="606" r:id="rId12"/>
    <p:sldId id="609" r:id="rId13"/>
    <p:sldId id="610" r:id="rId14"/>
    <p:sldId id="557" r:id="rId15"/>
    <p:sldId id="558" r:id="rId16"/>
    <p:sldId id="559" r:id="rId17"/>
    <p:sldId id="562" r:id="rId18"/>
    <p:sldId id="604" r:id="rId19"/>
    <p:sldId id="611" r:id="rId20"/>
    <p:sldId id="612" r:id="rId21"/>
    <p:sldId id="565" r:id="rId22"/>
    <p:sldId id="566" r:id="rId23"/>
    <p:sldId id="567" r:id="rId24"/>
    <p:sldId id="568" r:id="rId25"/>
    <p:sldId id="569" r:id="rId26"/>
    <p:sldId id="570" r:id="rId27"/>
    <p:sldId id="571" r:id="rId28"/>
    <p:sldId id="572" r:id="rId29"/>
    <p:sldId id="573" r:id="rId30"/>
    <p:sldId id="574" r:id="rId31"/>
    <p:sldId id="579" r:id="rId32"/>
    <p:sldId id="607" r:id="rId33"/>
    <p:sldId id="608" r:id="rId34"/>
    <p:sldId id="581" r:id="rId35"/>
    <p:sldId id="598" r:id="rId36"/>
    <p:sldId id="614" r:id="rId37"/>
    <p:sldId id="575" r:id="rId38"/>
    <p:sldId id="594" r:id="rId39"/>
    <p:sldId id="613" r:id="rId40"/>
    <p:sldId id="615" r:id="rId41"/>
    <p:sldId id="616" r:id="rId42"/>
  </p:sldIdLst>
  <p:sldSz cx="9144000" cy="6858000" type="screen4x3"/>
  <p:notesSz cx="6934200" cy="9220200"/>
  <p:custDataLst>
    <p:tags r:id="rId4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528A27-4C5F-4F7E-B2FE-588F85F4C246}">
          <p14:sldIdLst>
            <p14:sldId id="421"/>
            <p14:sldId id="603"/>
            <p14:sldId id="552"/>
            <p14:sldId id="553"/>
            <p14:sldId id="555"/>
            <p14:sldId id="606"/>
            <p14:sldId id="609"/>
            <p14:sldId id="610"/>
            <p14:sldId id="557"/>
            <p14:sldId id="558"/>
            <p14:sldId id="559"/>
            <p14:sldId id="562"/>
            <p14:sldId id="604"/>
            <p14:sldId id="611"/>
            <p14:sldId id="612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9"/>
            <p14:sldId id="607"/>
            <p14:sldId id="608"/>
            <p14:sldId id="581"/>
            <p14:sldId id="598"/>
            <p14:sldId id="614"/>
            <p14:sldId id="575"/>
          </p14:sldIdLst>
        </p14:section>
        <p14:section name="Template Gallery" id="{78C5F7B2-3405-4037-B2F8-2C93B94C7367}">
          <p14:sldIdLst>
            <p14:sldId id="594"/>
            <p14:sldId id="613"/>
            <p14:sldId id="615"/>
            <p14:sldId id="6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orient="horz" pos="1061">
          <p15:clr>
            <a:srgbClr val="A4A3A4"/>
          </p15:clr>
        </p15:guide>
        <p15:guide id="3" orient="horz" pos="4051">
          <p15:clr>
            <a:srgbClr val="A4A3A4"/>
          </p15:clr>
        </p15:guide>
        <p15:guide id="4" pos="2881">
          <p15:clr>
            <a:srgbClr val="A4A3A4"/>
          </p15:clr>
        </p15:guide>
        <p15:guide id="5" pos="29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sa Fusch Krause" initials="lfk" lastIdx="5" clrIdx="0"/>
  <p:cmAuthor id="1" name="Joy Baer" initials="JB" lastIdx="1" clrIdx="1"/>
  <p:cmAuthor id="2" name="Tim Kimble" initials="TK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39A6"/>
    <a:srgbClr val="71B532"/>
    <a:srgbClr val="8FDE00"/>
    <a:srgbClr val="0038A6"/>
    <a:srgbClr val="788288"/>
    <a:srgbClr val="0038FF"/>
    <a:srgbClr val="E2E1DD"/>
    <a:srgbClr val="E5007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377" autoAdjust="0"/>
    <p:restoredTop sz="95405" autoAdjust="0"/>
  </p:normalViewPr>
  <p:slideViewPr>
    <p:cSldViewPr snapToGrid="0" showGuides="1">
      <p:cViewPr varScale="1">
        <p:scale>
          <a:sx n="95" d="100"/>
          <a:sy n="95" d="100"/>
        </p:scale>
        <p:origin x="552" y="72"/>
      </p:cViewPr>
      <p:guideLst>
        <p:guide orient="horz" pos="2161"/>
        <p:guide orient="horz" pos="1061"/>
        <p:guide orient="horz" pos="4051"/>
        <p:guide pos="2881"/>
        <p:guide pos="29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890"/>
    </p:cViewPr>
  </p:sorterViewPr>
  <p:notesViewPr>
    <p:cSldViewPr snapToGrid="0" showGuides="1">
      <p:cViewPr varScale="1">
        <p:scale>
          <a:sx n="72" d="100"/>
          <a:sy n="72" d="100"/>
        </p:scale>
        <p:origin x="2995" y="58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/>
          <a:lstStyle>
            <a:lvl1pPr algn="r">
              <a:defRPr sz="1200"/>
            </a:lvl1pPr>
          </a:lstStyle>
          <a:p>
            <a:fld id="{AFC05218-9953-4640-89A5-149AC6FED752}" type="datetime1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1010"/>
          </a:xfrm>
          <a:prstGeom prst="rect">
            <a:avLst/>
          </a:prstGeom>
        </p:spPr>
        <p:txBody>
          <a:bodyPr vert="horz" lIns="92305" tIns="46152" rIns="92305" bIns="46152" rtlCol="0" anchor="b"/>
          <a:lstStyle>
            <a:lvl1pPr algn="r">
              <a:defRPr sz="1200"/>
            </a:lvl1pPr>
          </a:lstStyle>
          <a:p>
            <a:fld id="{FF24542A-C47C-43AB-939D-F3F3244911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30335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6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B04A10-6A5F-45BB-823A-4264F8ABC0E8}" type="datetime1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7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1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6" y="8757591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5" tIns="46152" rIns="92305" bIns="4615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9F009B-AA83-4291-81BE-194F11CE190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2812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47" indent="-171447" defTabSz="923047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F009B-AA83-4291-81BE-194F11CE1901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A8BEC4E-4012-48AB-B7C4-6ED86FECB442}" type="datetime1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37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B8E1CE7-DCE5-4DA8-8EA5-3776C9CFD275}" type="slidenum">
              <a:rPr lang="en-US" altLang="he-IL" sz="1200"/>
              <a:pPr/>
              <a:t>4</a:t>
            </a:fld>
            <a:endParaRPr lang="en-US" altLang="he-IL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39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E979A19-2375-44AC-9185-101E71DD46AA}" type="slidenum">
              <a:rPr lang="en-US" altLang="he-IL" sz="1200"/>
              <a:pPr/>
              <a:t>5</a:t>
            </a:fld>
            <a:endParaRPr lang="en-US" altLang="he-IL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529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B5FE-E94E-74D6-4E7D-01E929C9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4FA989B-C68C-B0FA-42CE-CFB6CA28D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57D570-02DF-4426-BFF6-C012188F8C2E}" type="slidenum">
              <a:rPr lang="en-US" altLang="he-IL" sz="1200"/>
              <a:pPr/>
              <a:t>7</a:t>
            </a:fld>
            <a:endParaRPr lang="en-US" altLang="he-IL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08D87AA-8C86-C39D-66CB-E323A343DB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572FC41-CD44-F1BE-5939-9F78852256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09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6A99-0059-2782-3BD6-A8359E49E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E23BAAD1-83CA-2678-F21E-C9851F261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57D570-02DF-4426-BFF6-C012188F8C2E}" type="slidenum">
              <a:rPr lang="en-US" altLang="he-IL" sz="1200"/>
              <a:pPr/>
              <a:t>8</a:t>
            </a:fld>
            <a:endParaRPr lang="en-US" altLang="he-IL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CDBFFBC2-11D1-9A5D-3227-2B6ECA1D6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A71F241-C2F2-DD0D-7960-9F37463CB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97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B86C424-D61D-4A8C-8B93-63E21D4D125D}" type="slidenum">
              <a:rPr lang="en-US" altLang="he-IL" sz="1200"/>
              <a:pPr/>
              <a:t>10</a:t>
            </a:fld>
            <a:endParaRPr lang="en-US" altLang="he-IL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8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he-IL">
                <a:latin typeface="Times" panose="02020603050405020304" pitchFamily="18" charset="0"/>
              </a:rPr>
              <a:t>Horizontal line in box is median (Q2)</a:t>
            </a:r>
          </a:p>
          <a:p>
            <a:r>
              <a:rPr lang="en-US" altLang="he-IL">
                <a:latin typeface="Times" panose="02020603050405020304" pitchFamily="18" charset="0"/>
              </a:rPr>
              <a:t>Top and bottom of plot are always Q1 and Q3</a:t>
            </a:r>
          </a:p>
          <a:p>
            <a:r>
              <a:rPr lang="en-US" altLang="he-IL">
                <a:latin typeface="Times" panose="02020603050405020304" pitchFamily="18" charset="0"/>
              </a:rPr>
              <a:t>Whiskers can mean several things: usually these are the minimum and maximum of all of the data</a:t>
            </a:r>
          </a:p>
          <a:p>
            <a:r>
              <a:rPr lang="en-US" altLang="he-IL">
                <a:latin typeface="Times" panose="02020603050405020304" pitchFamily="18" charset="0"/>
              </a:rPr>
              <a:t>Values outside this range are pkptted as outliers (circles)</a:t>
            </a:r>
            <a:endParaRPr lang="he-IL" altLang="he-IL">
              <a:latin typeface="Times" panose="02020603050405020304" pitchFamily="18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452B3EF-3DBC-4335-845A-D4BB3582D40D}" type="slidenum">
              <a:rPr lang="en-US" altLang="he-IL" sz="1200"/>
              <a:pPr/>
              <a:t>12</a:t>
            </a:fld>
            <a:endParaRPr lang="en-US" altLang="he-IL" sz="1200"/>
          </a:p>
        </p:txBody>
      </p:sp>
    </p:spTree>
    <p:extLst>
      <p:ext uri="{BB962C8B-B14F-4D97-AF65-F5344CB8AC3E}">
        <p14:creationId xmlns:p14="http://schemas.microsoft.com/office/powerpoint/2010/main" val="259232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50B3-2389-53B2-5A6A-7E565CEE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F0AF3B6C-55A7-84AD-35E5-005DAB2B16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57D570-02DF-4426-BFF6-C012188F8C2E}" type="slidenum">
              <a:rPr lang="en-US" altLang="he-IL" sz="1200"/>
              <a:pPr/>
              <a:t>14</a:t>
            </a:fld>
            <a:endParaRPr lang="en-US" altLang="he-IL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775B5B8-42BF-50C7-F546-7A0F1BC48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47033EFF-7080-78E9-E486-59AED1FDD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999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8C33-AE63-E505-10FF-BD97CDA0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4AB3C4A-7DAD-5523-ED2E-61B81C9B6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57D570-02DF-4426-BFF6-C012188F8C2E}" type="slidenum">
              <a:rPr lang="en-US" altLang="he-IL" sz="1200"/>
              <a:pPr/>
              <a:t>15</a:t>
            </a:fld>
            <a:endParaRPr lang="en-US" altLang="he-IL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31ACCC3-474C-BC9F-3807-0EFF7807D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A60BD07-8AB2-8BB1-5BBC-F26965106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8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DEB6C0F-A8FC-4F14-8679-009C1167FC29}" type="slidenum">
              <a:rPr lang="en-US" altLang="he-IL" sz="1200"/>
              <a:pPr/>
              <a:t>19</a:t>
            </a:fld>
            <a:endParaRPr lang="en-US" altLang="he-IL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979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3EDF466-21A8-4171-A8D0-B07CDB141D33}" type="slidenum">
              <a:rPr lang="en-US" altLang="he-IL" sz="1200"/>
              <a:pPr/>
              <a:t>20</a:t>
            </a:fld>
            <a:endParaRPr lang="en-US" altLang="he-IL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401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30CFFC9-F4B1-4D71-8292-1C0962CFC7FF}" type="slidenum">
              <a:rPr lang="en-US" altLang="he-IL" sz="1200"/>
              <a:pPr/>
              <a:t>21</a:t>
            </a:fld>
            <a:endParaRPr lang="en-US" altLang="he-IL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334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20FC49D-3115-4320-8C2D-53EEDCC6CF97}" type="slidenum">
              <a:rPr lang="en-US" altLang="he-IL" sz="1200"/>
              <a:pPr/>
              <a:t>22</a:t>
            </a:fld>
            <a:endParaRPr lang="en-US" altLang="he-IL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109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73F1D4D-9DDD-42C1-9A88-4B87B0E316B7}" type="slidenum">
              <a:rPr lang="en-US" altLang="he-IL" sz="1200"/>
              <a:pPr/>
              <a:t>23</a:t>
            </a:fld>
            <a:endParaRPr lang="en-US" altLang="he-IL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952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AE57AE5-2DF4-405C-9CE6-A9DFA293B611}" type="slidenum">
              <a:rPr lang="en-US" altLang="he-IL" sz="1200"/>
              <a:pPr/>
              <a:t>24</a:t>
            </a:fld>
            <a:endParaRPr lang="en-US" altLang="he-IL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425" y="3221038"/>
            <a:ext cx="7905750" cy="305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he-IL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19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546890"/>
            <a:ext cx="7772400" cy="637097"/>
          </a:xfrm>
        </p:spPr>
        <p:txBody>
          <a:bodyPr/>
          <a:lstStyle>
            <a:lvl1pPr algn="ctr"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45403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ption 1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21" name="Blue bg"/>
          <p:cNvSpPr>
            <a:spLocks noChangeArrowheads="1"/>
          </p:cNvSpPr>
          <p:nvPr userDrawn="1"/>
        </p:nvSpPr>
        <p:spPr bwMode="auto">
          <a:xfrm>
            <a:off x="380" y="0"/>
            <a:ext cx="9143628" cy="4583575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0" name="TextBox 109"/>
          <p:cNvSpPr txBox="1"/>
          <p:nvPr userDrawn="1"/>
        </p:nvSpPr>
        <p:spPr>
          <a:xfrm>
            <a:off x="3286207" y="542899"/>
            <a:ext cx="48006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Engineering, Operations &amp; Technology</a:t>
            </a:r>
          </a:p>
        </p:txBody>
      </p:sp>
      <p:grpSp>
        <p:nvGrpSpPr>
          <p:cNvPr id="2" name="Boeing 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Copyright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2014 Boeing. All rights reserved.</a:t>
            </a:r>
          </a:p>
        </p:txBody>
      </p:sp>
      <p:sp>
        <p:nvSpPr>
          <p:cNvPr id="64" name="Boeing Proprietary"/>
          <p:cNvSpPr txBox="1">
            <a:spLocks noChangeArrowheads="1"/>
          </p:cNvSpPr>
          <p:nvPr userDrawn="1"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>
                    <a:lumMod val="50000"/>
                  </a:srgbClr>
                </a:solidFill>
              </a:rPr>
              <a:t>BOEING PROPRIETARY</a:t>
            </a:r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5511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rgbClr val="78828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itle 1"/>
          <p:cNvSpPr>
            <a:spLocks noGrp="1"/>
          </p:cNvSpPr>
          <p:nvPr userDrawn="1"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bg1"/>
          </a:solidFill>
        </p:grpSpPr>
        <p:sp>
          <p:nvSpPr>
            <p:cNvPr id="61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71" name="Straight Connector 70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48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ption 2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21" name="Rectangle 29"/>
          <p:cNvSpPr>
            <a:spLocks noChangeArrowheads="1"/>
          </p:cNvSpPr>
          <p:nvPr userDrawn="1"/>
        </p:nvSpPr>
        <p:spPr bwMode="auto">
          <a:xfrm flipV="1">
            <a:off x="380" y="4570409"/>
            <a:ext cx="9143628" cy="235050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" name="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Rectangle 61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/>
                </a:solidFill>
              </a:rPr>
              <a:t>Copyright © 2014 Boeing. All rights reserved.</a:t>
            </a:r>
          </a:p>
        </p:txBody>
      </p:sp>
      <p:sp>
        <p:nvSpPr>
          <p:cNvPr id="68" name="Rectangle 67"/>
          <p:cNvSpPr txBox="1">
            <a:spLocks noChangeArrowheads="1"/>
          </p:cNvSpPr>
          <p:nvPr userDrawn="1"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</a:rPr>
              <a:t>BOEING PROPRIETARY</a:t>
            </a:r>
          </a:p>
        </p:txBody>
      </p:sp>
      <p:sp>
        <p:nvSpPr>
          <p:cNvPr id="6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4957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itle 1"/>
          <p:cNvSpPr>
            <a:spLocks noGrp="1"/>
          </p:cNvSpPr>
          <p:nvPr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tx2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tx2"/>
          </a:solidFill>
        </p:grpSpPr>
        <p:sp>
          <p:nvSpPr>
            <p:cNvPr id="63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3" name="TextBox 112"/>
          <p:cNvSpPr txBox="1"/>
          <p:nvPr userDrawn="1"/>
        </p:nvSpPr>
        <p:spPr>
          <a:xfrm>
            <a:off x="3286207" y="542899"/>
            <a:ext cx="48006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Operations &amp; Technology</a:t>
            </a:r>
          </a:p>
        </p:txBody>
      </p:sp>
      <p:cxnSp>
        <p:nvCxnSpPr>
          <p:cNvPr id="114" name="Straight Connector 113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rgbClr val="003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45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ption 3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-3" y="4572000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Rectangle 61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2014 Boeing. All rights reserved.</a:t>
            </a:r>
          </a:p>
        </p:txBody>
      </p:sp>
      <p:cxnSp>
        <p:nvCxnSpPr>
          <p:cNvPr id="61" name="Straight Connector 60"/>
          <p:cNvCxnSpPr/>
          <p:nvPr userDrawn="1"/>
        </p:nvCxnSpPr>
        <p:spPr>
          <a:xfrm flipH="1">
            <a:off x="-2" y="4576299"/>
            <a:ext cx="9144002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7"/>
          <p:cNvSpPr txBox="1">
            <a:spLocks noChangeArrowheads="1"/>
          </p:cNvSpPr>
          <p:nvPr userDrawn="1"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>
                    <a:lumMod val="50000"/>
                  </a:srgbClr>
                </a:solidFill>
              </a:rPr>
              <a:t>BOEING PROPRIETARY</a:t>
            </a:r>
          </a:p>
        </p:txBody>
      </p:sp>
      <p:sp>
        <p:nvSpPr>
          <p:cNvPr id="6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4957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4" name="Title 1"/>
          <p:cNvSpPr>
            <a:spLocks noGrp="1"/>
          </p:cNvSpPr>
          <p:nvPr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tx2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9800" y="2130891"/>
            <a:ext cx="895973" cy="184883"/>
          </a:xfrm>
          <a:prstGeom prst="rect">
            <a:avLst/>
          </a:prstGeom>
        </p:spPr>
      </p:pic>
      <p:cxnSp>
        <p:nvCxnSpPr>
          <p:cNvPr id="63" name="Straight Connector 62"/>
          <p:cNvCxnSpPr/>
          <p:nvPr userDrawn="1"/>
        </p:nvCxnSpPr>
        <p:spPr>
          <a:xfrm flipH="1">
            <a:off x="8137426" y="1041144"/>
            <a:ext cx="666394" cy="8614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tx2"/>
          </a:solidFill>
        </p:grpSpPr>
        <p:sp>
          <p:nvSpPr>
            <p:cNvPr id="71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5" name="TextBox 114"/>
          <p:cNvSpPr txBox="1"/>
          <p:nvPr userDrawn="1"/>
        </p:nvSpPr>
        <p:spPr>
          <a:xfrm>
            <a:off x="3286207" y="542899"/>
            <a:ext cx="48006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Operations &amp; Technology</a:t>
            </a:r>
          </a:p>
        </p:txBody>
      </p:sp>
      <p:cxnSp>
        <p:nvCxnSpPr>
          <p:cNvPr id="116" name="Straight Connector 115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rgbClr val="003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6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1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21" name="Blue bg"/>
          <p:cNvSpPr>
            <a:spLocks noChangeArrowheads="1"/>
          </p:cNvSpPr>
          <p:nvPr userDrawn="1"/>
        </p:nvSpPr>
        <p:spPr bwMode="auto">
          <a:xfrm>
            <a:off x="380" y="0"/>
            <a:ext cx="9143628" cy="4583575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" name="Boeing 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Copyright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2016 Boeing. All rights reserved.</a:t>
            </a:r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5511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rgbClr val="78828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itle 1"/>
          <p:cNvSpPr>
            <a:spLocks noGrp="1"/>
          </p:cNvSpPr>
          <p:nvPr userDrawn="1"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bg1"/>
          </a:solidFill>
        </p:grpSpPr>
        <p:sp>
          <p:nvSpPr>
            <p:cNvPr id="61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71" name="Straight Connector 70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48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2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21" name="Rectangle 29"/>
          <p:cNvSpPr>
            <a:spLocks noChangeArrowheads="1"/>
          </p:cNvSpPr>
          <p:nvPr userDrawn="1"/>
        </p:nvSpPr>
        <p:spPr bwMode="auto">
          <a:xfrm flipV="1">
            <a:off x="380" y="4594473"/>
            <a:ext cx="9143628" cy="235050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r"/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" name="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Rectangle 61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/>
                </a:solidFill>
              </a:rPr>
              <a:t>Copyright © 2014 Boeing. All rights reserved.</a:t>
            </a:r>
          </a:p>
        </p:txBody>
      </p:sp>
      <p:sp>
        <p:nvSpPr>
          <p:cNvPr id="68" name="Rectangle 67"/>
          <p:cNvSpPr txBox="1">
            <a:spLocks noChangeArrowheads="1"/>
          </p:cNvSpPr>
          <p:nvPr userDrawn="1"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FFFFFF"/>
                </a:solidFill>
              </a:rPr>
              <a:t>BOEING PROPRIETARY / </a:t>
            </a:r>
            <a:r>
              <a:rPr lang="en-US" sz="800" dirty="0">
                <a:solidFill>
                  <a:srgbClr val="FFFFFF">
                    <a:lumMod val="50000"/>
                  </a:srgbClr>
                </a:solidFill>
              </a:rPr>
              <a:t>EXPORT</a:t>
            </a:r>
            <a:r>
              <a:rPr lang="en-US" sz="800" baseline="0" dirty="0">
                <a:solidFill>
                  <a:srgbClr val="FFFFFF">
                    <a:lumMod val="50000"/>
                  </a:srgbClr>
                </a:solidFill>
              </a:rPr>
              <a:t> CONTROLLED</a:t>
            </a:r>
            <a:endParaRPr lang="en-US" sz="800" dirty="0">
              <a:solidFill>
                <a:srgbClr val="FFFFFF">
                  <a:lumMod val="50000"/>
                </a:srgbClr>
              </a:solidFill>
            </a:endParaRPr>
          </a:p>
          <a:p>
            <a:pPr>
              <a:defRPr/>
            </a:pP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6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4957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itle 1"/>
          <p:cNvSpPr>
            <a:spLocks noGrp="1"/>
          </p:cNvSpPr>
          <p:nvPr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tx2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tx2"/>
          </a:solidFill>
        </p:grpSpPr>
        <p:sp>
          <p:nvSpPr>
            <p:cNvPr id="63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3" name="TextBox 112"/>
          <p:cNvSpPr txBox="1"/>
          <p:nvPr userDrawn="1"/>
        </p:nvSpPr>
        <p:spPr>
          <a:xfrm>
            <a:off x="3286207" y="542899"/>
            <a:ext cx="48006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Operations &amp; Technology</a:t>
            </a:r>
          </a:p>
        </p:txBody>
      </p:sp>
      <p:cxnSp>
        <p:nvCxnSpPr>
          <p:cNvPr id="114" name="Straight Connector 113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rgbClr val="003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 userDrawn="1"/>
        </p:nvSpPr>
        <p:spPr>
          <a:xfrm>
            <a:off x="4674938" y="755727"/>
            <a:ext cx="3391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38A6"/>
                </a:solidFill>
                <a:latin typeface="HelveticaNeue LT 45 Light" pitchFamily="34" charset="0"/>
              </a:rPr>
              <a:t>Boeing Research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93045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tion 3: Environment, Health &amp;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id" hidden="1"/>
          <p:cNvGrpSpPr/>
          <p:nvPr userDrawn="1"/>
        </p:nvGrpSpPr>
        <p:grpSpPr>
          <a:xfrm>
            <a:off x="-3" y="0"/>
            <a:ext cx="9144011" cy="6858000"/>
            <a:chOff x="-3" y="0"/>
            <a:chExt cx="9144011" cy="6858000"/>
          </a:xfrm>
        </p:grpSpPr>
        <p:grpSp>
          <p:nvGrpSpPr>
            <p:cNvPr id="3" name="Group 12"/>
            <p:cNvGrpSpPr/>
            <p:nvPr userDrawn="1"/>
          </p:nvGrpSpPr>
          <p:grpSpPr>
            <a:xfrm>
              <a:off x="-3" y="0"/>
              <a:ext cx="9144011" cy="6858000"/>
              <a:chOff x="-3" y="0"/>
              <a:chExt cx="9144011" cy="6858000"/>
            </a:xfrm>
          </p:grpSpPr>
          <p:grpSp>
            <p:nvGrpSpPr>
              <p:cNvPr id="4" name="Group 41"/>
              <p:cNvGrpSpPr/>
              <p:nvPr userDrawn="1"/>
            </p:nvGrpSpPr>
            <p:grpSpPr>
              <a:xfrm>
                <a:off x="3954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57" name="Straight Connector 5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15"/>
              <p:cNvGrpSpPr/>
              <p:nvPr userDrawn="1"/>
            </p:nvGrpSpPr>
            <p:grpSpPr>
              <a:xfrm>
                <a:off x="-3" y="456356"/>
                <a:ext cx="9144011" cy="5958732"/>
                <a:chOff x="-3" y="456356"/>
                <a:chExt cx="9144011" cy="5958732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>
                  <a:off x="471778" y="213699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243245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3288274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3583735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4424269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4719730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7" name="Rectangle 26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-3" y="2284726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380" y="3429000"/>
                  <a:ext cx="9143628" cy="7005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-3" y="4572000"/>
                  <a:ext cx="914399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6" name="Group 32"/>
                <p:cNvGrpSpPr/>
                <p:nvPr userDrawn="1"/>
              </p:nvGrpSpPr>
              <p:grpSpPr>
                <a:xfrm>
                  <a:off x="1001862" y="457200"/>
                  <a:ext cx="7135564" cy="5957888"/>
                  <a:chOff x="1001862" y="0"/>
                  <a:chExt cx="7135564" cy="6858000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5" name="Straight Connector 20"/>
                  <p:cNvCxnSpPr/>
                  <p:nvPr/>
                </p:nvCxnSpPr>
                <p:spPr>
                  <a:xfrm>
                    <a:off x="1001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15"/>
                  <p:cNvCxnSpPr/>
                  <p:nvPr/>
                </p:nvCxnSpPr>
                <p:spPr>
                  <a:xfrm>
                    <a:off x="1154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1699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39306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53387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255178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 userDrawn="1"/>
                </p:nvCxnSpPr>
                <p:spPr>
                  <a:xfrm>
                    <a:off x="309585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 userDrawn="1"/>
                </p:nvCxnSpPr>
                <p:spPr>
                  <a:xfrm>
                    <a:off x="3249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 userDrawn="1"/>
                </p:nvCxnSpPr>
                <p:spPr>
                  <a:xfrm>
                    <a:off x="3795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944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4493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4641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5191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813742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5885138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6043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658960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67380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728768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743544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79857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6551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253" name="Rectangle 61"/>
          <p:cNvSpPr>
            <a:spLocks noChangeArrowheads="1"/>
          </p:cNvSpPr>
          <p:nvPr userDrawn="1"/>
        </p:nvSpPr>
        <p:spPr bwMode="auto">
          <a:xfrm>
            <a:off x="439738" y="6658300"/>
            <a:ext cx="2065337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rgbClr val="FFFFFF">
                    <a:lumMod val="50000"/>
                  </a:srgbClr>
                </a:solidFill>
              </a:rPr>
              <a:t>Copyright © 2014 Boeing. All rights reserved.</a:t>
            </a:r>
          </a:p>
        </p:txBody>
      </p:sp>
      <p:cxnSp>
        <p:nvCxnSpPr>
          <p:cNvPr id="61" name="Straight Connector 60"/>
          <p:cNvCxnSpPr/>
          <p:nvPr userDrawn="1"/>
        </p:nvCxnSpPr>
        <p:spPr>
          <a:xfrm flipH="1">
            <a:off x="-2" y="4576299"/>
            <a:ext cx="9144002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7"/>
          <p:cNvSpPr txBox="1">
            <a:spLocks noChangeArrowheads="1"/>
          </p:cNvSpPr>
          <p:nvPr userDrawn="1"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>
                    <a:lumMod val="50000"/>
                  </a:srgbClr>
                </a:solidFill>
              </a:rPr>
              <a:t>BOEING PROPRIETARY / EXPORT CONTROLLED</a:t>
            </a:r>
          </a:p>
        </p:txBody>
      </p:sp>
      <p:sp>
        <p:nvSpPr>
          <p:cNvPr id="6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4591050"/>
            <a:ext cx="7951787" cy="1495794"/>
          </a:xfrm>
          <a:prstGeom prst="rect">
            <a:avLst/>
          </a:prstGeom>
        </p:spPr>
        <p:txBody>
          <a:bodyPr lIns="0"/>
          <a:lstStyle>
            <a:lvl1pPr>
              <a:defRPr sz="5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4" name="Title 1"/>
          <p:cNvSpPr>
            <a:spLocks noGrp="1"/>
          </p:cNvSpPr>
          <p:nvPr>
            <p:ph type="ctrTitle" sz="quarter" hasCustomPrompt="1"/>
          </p:nvPr>
        </p:nvSpPr>
        <p:spPr>
          <a:xfrm>
            <a:off x="462152" y="2077699"/>
            <a:ext cx="8251825" cy="1661993"/>
          </a:xfrm>
          <a:prstGeom prst="rect">
            <a:avLst/>
          </a:prstGeom>
        </p:spPr>
        <p:txBody>
          <a:bodyPr lIns="0"/>
          <a:lstStyle>
            <a:lvl1pPr>
              <a:defRPr sz="6000" b="0" i="0">
                <a:solidFill>
                  <a:schemeClr val="tx2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9800" y="2130891"/>
            <a:ext cx="895973" cy="184883"/>
          </a:xfrm>
          <a:prstGeom prst="rect">
            <a:avLst/>
          </a:prstGeom>
        </p:spPr>
      </p:pic>
      <p:cxnSp>
        <p:nvCxnSpPr>
          <p:cNvPr id="63" name="Straight Connector 62"/>
          <p:cNvCxnSpPr/>
          <p:nvPr userDrawn="1"/>
        </p:nvCxnSpPr>
        <p:spPr>
          <a:xfrm flipH="1">
            <a:off x="8137426" y="1041144"/>
            <a:ext cx="666394" cy="8614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15"/>
          <p:cNvGrpSpPr>
            <a:grpSpLocks noChangeAspect="1"/>
          </p:cNvGrpSpPr>
          <p:nvPr userDrawn="1"/>
        </p:nvGrpSpPr>
        <p:grpSpPr bwMode="auto">
          <a:xfrm>
            <a:off x="432047" y="379304"/>
            <a:ext cx="1802168" cy="426944"/>
            <a:chOff x="318" y="626"/>
            <a:chExt cx="1241" cy="294"/>
          </a:xfrm>
          <a:solidFill>
            <a:schemeClr val="tx2"/>
          </a:solidFill>
        </p:grpSpPr>
        <p:sp>
          <p:nvSpPr>
            <p:cNvPr id="71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5" name="TextBox 114"/>
          <p:cNvSpPr txBox="1"/>
          <p:nvPr userDrawn="1"/>
        </p:nvSpPr>
        <p:spPr>
          <a:xfrm>
            <a:off x="3286207" y="542899"/>
            <a:ext cx="48006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0039A6"/>
                </a:solidFill>
              </a:rPr>
              <a:t>Engineering, Operations &amp; Technology</a:t>
            </a:r>
          </a:p>
        </p:txBody>
      </p:sp>
      <p:cxnSp>
        <p:nvCxnSpPr>
          <p:cNvPr id="116" name="Straight Connector 115"/>
          <p:cNvCxnSpPr/>
          <p:nvPr userDrawn="1"/>
        </p:nvCxnSpPr>
        <p:spPr>
          <a:xfrm flipH="1">
            <a:off x="8137426" y="-242225"/>
            <a:ext cx="666394" cy="861413"/>
          </a:xfrm>
          <a:prstGeom prst="line">
            <a:avLst/>
          </a:prstGeom>
          <a:ln w="12700">
            <a:solidFill>
              <a:srgbClr val="003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 userDrawn="1"/>
        </p:nvSpPr>
        <p:spPr>
          <a:xfrm>
            <a:off x="4674938" y="755727"/>
            <a:ext cx="3391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38A6"/>
                </a:solidFill>
                <a:latin typeface="HelveticaNeue LT 45 Light" pitchFamily="34" charset="0"/>
              </a:rPr>
              <a:t>Boeing Research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348576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8" y="1147763"/>
            <a:ext cx="8256587" cy="1736133"/>
          </a:xfrm>
        </p:spPr>
        <p:txBody>
          <a:bodyPr/>
          <a:lstStyle>
            <a:lvl1pPr marL="0" indent="0">
              <a:buFont typeface="Symbol" panose="05050102010706020507" pitchFamily="18" charset="2"/>
              <a:buChar char=""/>
              <a:defRPr/>
            </a:lvl1pPr>
            <a:lvl2pPr marL="288925" indent="-173038">
              <a:defRPr/>
            </a:lvl2pPr>
            <a:lvl3pPr marL="461963" indent="-184150">
              <a:defRPr/>
            </a:lvl3pPr>
            <a:lvl4pPr marL="746125" indent="-225425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356616"/>
            <a:ext cx="8256587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54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  2015 – Gideon Dror</a:t>
            </a:r>
          </a:p>
        </p:txBody>
      </p:sp>
    </p:spTree>
    <p:extLst>
      <p:ext uri="{BB962C8B-B14F-4D97-AF65-F5344CB8AC3E}">
        <p14:creationId xmlns:p14="http://schemas.microsoft.com/office/powerpoint/2010/main" val="247790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61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  2015 – Gideon Dror</a:t>
            </a:r>
          </a:p>
        </p:txBody>
      </p:sp>
    </p:spTree>
    <p:extLst>
      <p:ext uri="{BB962C8B-B14F-4D97-AF65-F5344CB8AC3E}">
        <p14:creationId xmlns:p14="http://schemas.microsoft.com/office/powerpoint/2010/main" val="532771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  2015 – Gideon Dror</a:t>
            </a:r>
          </a:p>
        </p:txBody>
      </p:sp>
    </p:spTree>
    <p:extLst>
      <p:ext uri="{BB962C8B-B14F-4D97-AF65-F5344CB8AC3E}">
        <p14:creationId xmlns:p14="http://schemas.microsoft.com/office/powerpoint/2010/main" val="133611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-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3"/>
          <p:cNvSpPr>
            <a:spLocks noChangeArrowheads="1"/>
          </p:cNvSpPr>
          <p:nvPr userDrawn="1"/>
        </p:nvSpPr>
        <p:spPr bwMode="auto">
          <a:xfrm>
            <a:off x="7589520" y="775065"/>
            <a:ext cx="320040" cy="292608"/>
          </a:xfrm>
          <a:prstGeom prst="rect">
            <a:avLst/>
          </a:prstGeom>
          <a:solidFill>
            <a:srgbClr val="008000"/>
          </a:solidFill>
          <a:ln w="127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0" tIns="0" rIns="0" bIns="0" anchor="ctr" anchorCtr="1"/>
          <a:lstStyle/>
          <a:p>
            <a:pPr algn="ctr" defTabSz="820738"/>
            <a:r>
              <a:rPr lang="en-US" sz="14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7954460" y="775065"/>
            <a:ext cx="320040" cy="292608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0" tIns="0" rIns="0" bIns="0" anchor="ctr" anchorCtr="1"/>
          <a:lstStyle/>
          <a:p>
            <a:pPr algn="ctr" defTabSz="820738"/>
            <a:r>
              <a:rPr lang="en-US" sz="1400" b="1" dirty="0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6" name="Rectangle 33"/>
          <p:cNvSpPr>
            <a:spLocks noChangeArrowheads="1"/>
          </p:cNvSpPr>
          <p:nvPr userDrawn="1"/>
        </p:nvSpPr>
        <p:spPr bwMode="auto">
          <a:xfrm>
            <a:off x="8355732" y="775065"/>
            <a:ext cx="320040" cy="292608"/>
          </a:xfrm>
          <a:prstGeom prst="rect">
            <a:avLst/>
          </a:prstGeom>
          <a:solidFill>
            <a:srgbClr val="FF0000"/>
          </a:solidFill>
          <a:ln w="127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0" tIns="0" rIns="0" bIns="0" anchor="ctr" anchorCtr="1"/>
          <a:lstStyle/>
          <a:p>
            <a:pPr algn="ctr" defTabSz="820738"/>
            <a:r>
              <a:rPr lang="en-US" sz="1400" b="1" dirty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7477124" y="553523"/>
            <a:ext cx="1227241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46038" rIns="0" bIns="46038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cs typeface="Arial" charset="0"/>
              </a:rPr>
              <a:t> Prev</a:t>
            </a:r>
            <a:r>
              <a:rPr lang="en-US" sz="1000" dirty="0">
                <a:cs typeface="Arial" charset="0"/>
              </a:rPr>
              <a:t> | </a:t>
            </a:r>
            <a:r>
              <a:rPr lang="en-US" sz="1000" dirty="0">
                <a:solidFill>
                  <a:schemeClr val="tx1"/>
                </a:solidFill>
                <a:cs typeface="Arial" charset="0"/>
              </a:rPr>
              <a:t>Curr     YE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Action Button: Forward or Next 7">
            <a:hlinkClick r:id="" action="ppaction://hlinkshowjump?jump=nextslide" highlightClick="1"/>
          </p:cNvPr>
          <p:cNvSpPr/>
          <p:nvPr userDrawn="1"/>
        </p:nvSpPr>
        <p:spPr bwMode="auto">
          <a:xfrm>
            <a:off x="8492892" y="315459"/>
            <a:ext cx="182880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20738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Action Button: Back or Previous 8">
            <a:hlinkClick r:id="" action="ppaction://hlinkshowjump?jump=previousslide" highlightClick="1"/>
          </p:cNvPr>
          <p:cNvSpPr/>
          <p:nvPr userDrawn="1"/>
        </p:nvSpPr>
        <p:spPr bwMode="auto">
          <a:xfrm>
            <a:off x="8047900" y="315459"/>
            <a:ext cx="182880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20738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Action Button: Home 9">
            <a:hlinkClick r:id="" action="ppaction://hlinkshowjump?jump=firstslide" highlightClick="1"/>
          </p:cNvPr>
          <p:cNvSpPr/>
          <p:nvPr userDrawn="1"/>
        </p:nvSpPr>
        <p:spPr bwMode="auto">
          <a:xfrm>
            <a:off x="8267449" y="315459"/>
            <a:ext cx="182880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20738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- 1 line title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-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 - title + subtitle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93957308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-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6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46320" y="1600200"/>
            <a:ext cx="384048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97601603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- 1 line title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6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46320" y="1600200"/>
            <a:ext cx="384048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97601603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-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6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46320" y="1600200"/>
            <a:ext cx="384048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97601603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- title + subtitle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6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46320" y="1600200"/>
            <a:ext cx="384048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  <p:extLst>
      <p:ext uri="{BB962C8B-B14F-4D97-AF65-F5344CB8AC3E}">
        <p14:creationId xmlns:p14="http://schemas.microsoft.com/office/powerpoint/2010/main" val="297601603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600200"/>
            <a:ext cx="9144000" cy="4937760"/>
          </a:xfrm>
          <a:solidFill>
            <a:schemeClr val="accent6">
              <a:lumMod val="10000"/>
              <a:lumOff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5754168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600199"/>
            <a:ext cx="9144000" cy="4462272"/>
          </a:xfrm>
          <a:solidFill>
            <a:schemeClr val="accent6">
              <a:lumMod val="10000"/>
              <a:lumOff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57541682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 + tit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600200"/>
            <a:ext cx="9144000" cy="4937760"/>
          </a:xfrm>
          <a:solidFill>
            <a:schemeClr val="accent6">
              <a:lumMod val="10000"/>
              <a:lumOff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57541682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 + title + header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600200"/>
            <a:ext cx="9144000" cy="4462272"/>
          </a:xfrm>
          <a:solidFill>
            <a:schemeClr val="accent6">
              <a:lumMod val="10000"/>
              <a:lumOff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657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  <p:extLst>
      <p:ext uri="{BB962C8B-B14F-4D97-AF65-F5344CB8AC3E}">
        <p14:creationId xmlns:p14="http://schemas.microsoft.com/office/powerpoint/2010/main" val="215754168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 userDrawn="1">
            <p:ph type="pic" sz="quarter" idx="13"/>
          </p:nvPr>
        </p:nvSpPr>
        <p:spPr>
          <a:xfrm>
            <a:off x="457200" y="1600200"/>
            <a:ext cx="4023360" cy="4937760"/>
          </a:xfrm>
          <a:solidFill>
            <a:schemeClr val="accent6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/>
        </p:spPr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99" y="1600200"/>
            <a:ext cx="4072468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02943170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left + content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 userDrawn="1">
            <p:ph type="pic" sz="quarter" idx="13"/>
          </p:nvPr>
        </p:nvSpPr>
        <p:spPr>
          <a:xfrm>
            <a:off x="457200" y="1600200"/>
            <a:ext cx="4023360" cy="4462272"/>
          </a:xfrm>
          <a:solidFill>
            <a:schemeClr val="accent6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/>
        </p:spPr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99" y="1600200"/>
            <a:ext cx="4072468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02943170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 userDrawn="1">
            <p:ph type="pic" sz="quarter" idx="13"/>
          </p:nvPr>
        </p:nvSpPr>
        <p:spPr>
          <a:xfrm>
            <a:off x="457200" y="1600200"/>
            <a:ext cx="4023360" cy="4937760"/>
          </a:xfrm>
          <a:solidFill>
            <a:schemeClr val="accent6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/>
        </p:spPr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99" y="1600200"/>
            <a:ext cx="4072468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02943170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left + title + subtitle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7"/>
          <p:cNvSpPr>
            <a:spLocks noGrp="1"/>
          </p:cNvSpPr>
          <p:nvPr userDrawn="1">
            <p:ph type="pic" sz="quarter" idx="13"/>
          </p:nvPr>
        </p:nvSpPr>
        <p:spPr>
          <a:xfrm>
            <a:off x="457200" y="1600200"/>
            <a:ext cx="4023360" cy="4462272"/>
          </a:xfrm>
          <a:solidFill>
            <a:schemeClr val="accent6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/>
        </p:spPr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99" y="1600200"/>
            <a:ext cx="4072468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  <p:extLst>
      <p:ext uri="{BB962C8B-B14F-4D97-AF65-F5344CB8AC3E}">
        <p14:creationId xmlns:p14="http://schemas.microsoft.com/office/powerpoint/2010/main" val="302943170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0374" y="416052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374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571999" y="1600200"/>
            <a:ext cx="4089401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7153369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content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0374" y="3866751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374" y="1600200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571999" y="1600200"/>
            <a:ext cx="4089401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7153369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0374" y="416052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374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571999" y="1600200"/>
            <a:ext cx="4089401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7153369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title + subtitle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0374" y="3866751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374" y="1600200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571999" y="1600200"/>
            <a:ext cx="4089401" cy="1283428"/>
          </a:xfrm>
        </p:spPr>
        <p:txBody>
          <a:bodyPr/>
          <a:lstStyle>
            <a:lvl1pPr marL="0" marR="0" indent="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lvl1pPr>
            <a:lvl2pPr marL="182880" marR="0" indent="-182880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2pPr>
            <a:lvl3pPr marL="365760" marR="0" indent="-185738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▪"/>
              <a:tabLst/>
              <a:defRPr/>
            </a:lvl3pPr>
            <a:lvl4pPr marL="548640" marR="0" indent="-163513" algn="l" defTabSz="820738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charset="0"/>
              <a:buChar char="–"/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17153369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49377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45647128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content left+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4462272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45647128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content lef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49377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345647128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+ content left + subtitle+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4462272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  <p:extLst>
      <p:ext uri="{BB962C8B-B14F-4D97-AF65-F5344CB8AC3E}">
        <p14:creationId xmlns:p14="http://schemas.microsoft.com/office/powerpoint/2010/main" val="3456471285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83059" y="416052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content left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683059" y="3866751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683059" y="1600200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s +  content lef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83059" y="416052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83059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content left + subtitle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41148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683059" y="3866751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683059" y="1600200"/>
            <a:ext cx="4023360" cy="21945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3931920"/>
            <a:ext cx="82296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4385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1600200"/>
            <a:ext cx="9144000" cy="205740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77754310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image + content+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3931920"/>
            <a:ext cx="82296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4385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1600200"/>
            <a:ext cx="9144000" cy="205740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7775431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image +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3931920"/>
            <a:ext cx="82296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4385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1600200"/>
            <a:ext cx="9144000" cy="205740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</p:spTree>
    <p:extLst>
      <p:ext uri="{BB962C8B-B14F-4D97-AF65-F5344CB8AC3E}">
        <p14:creationId xmlns:p14="http://schemas.microsoft.com/office/powerpoint/2010/main" val="77754310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image + content + subtitle+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3931920"/>
            <a:ext cx="82296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4385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1600200"/>
            <a:ext cx="9144000" cy="205740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  <p:extLst>
      <p:ext uri="{BB962C8B-B14F-4D97-AF65-F5344CB8AC3E}">
        <p14:creationId xmlns:p14="http://schemas.microsoft.com/office/powerpoint/2010/main" val="77754310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455915" y="1368706"/>
            <a:ext cx="2250176" cy="1605987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455915" y="3148312"/>
            <a:ext cx="2250176" cy="1605987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455915" y="4927919"/>
            <a:ext cx="2250176" cy="1605987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362340"/>
            <a:ext cx="50292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layout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455915" y="1183506"/>
            <a:ext cx="2250176" cy="155448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455915" y="2824213"/>
            <a:ext cx="2250176" cy="155448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455915" y="4464919"/>
            <a:ext cx="2250176" cy="155448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77140"/>
            <a:ext cx="5029200" cy="12834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895765" y="1368706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895765" y="3148312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895765" y="492791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744164" y="1368706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744164" y="3148312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4744164" y="492791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2592562" y="1368706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2592562" y="3148312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2592562" y="492791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22"/>
          </p:nvPr>
        </p:nvSpPr>
        <p:spPr>
          <a:xfrm>
            <a:off x="440960" y="1368706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23"/>
          </p:nvPr>
        </p:nvSpPr>
        <p:spPr>
          <a:xfrm>
            <a:off x="440960" y="3148312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24"/>
          </p:nvPr>
        </p:nvSpPr>
        <p:spPr>
          <a:xfrm>
            <a:off x="440960" y="492791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26"/>
          </p:nvPr>
        </p:nvSpPr>
        <p:spPr>
          <a:xfrm>
            <a:off x="439738" y="254121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6"/>
          <p:cNvSpPr>
            <a:spLocks noGrp="1"/>
          </p:cNvSpPr>
          <p:nvPr>
            <p:ph type="body" sz="quarter" idx="27"/>
          </p:nvPr>
        </p:nvSpPr>
        <p:spPr>
          <a:xfrm>
            <a:off x="2589632" y="254121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8"/>
          </p:nvPr>
        </p:nvSpPr>
        <p:spPr>
          <a:xfrm>
            <a:off x="4739526" y="254121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36"/>
          <p:cNvSpPr>
            <a:spLocks noGrp="1"/>
          </p:cNvSpPr>
          <p:nvPr>
            <p:ph type="body" sz="quarter" idx="29"/>
          </p:nvPr>
        </p:nvSpPr>
        <p:spPr>
          <a:xfrm>
            <a:off x="6889421" y="254121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6"/>
          <p:cNvSpPr>
            <a:spLocks noGrp="1"/>
          </p:cNvSpPr>
          <p:nvPr>
            <p:ph type="body" sz="quarter" idx="30"/>
          </p:nvPr>
        </p:nvSpPr>
        <p:spPr>
          <a:xfrm>
            <a:off x="436863" y="4332630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31"/>
          </p:nvPr>
        </p:nvSpPr>
        <p:spPr>
          <a:xfrm>
            <a:off x="2586757" y="4332630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32"/>
          </p:nvPr>
        </p:nvSpPr>
        <p:spPr>
          <a:xfrm>
            <a:off x="4736651" y="4332630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33"/>
          </p:nvPr>
        </p:nvSpPr>
        <p:spPr>
          <a:xfrm>
            <a:off x="6886546" y="4332630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34"/>
          </p:nvPr>
        </p:nvSpPr>
        <p:spPr>
          <a:xfrm>
            <a:off x="445489" y="6101041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35"/>
          </p:nvPr>
        </p:nvSpPr>
        <p:spPr>
          <a:xfrm>
            <a:off x="2595383" y="6101041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36"/>
          </p:nvPr>
        </p:nvSpPr>
        <p:spPr>
          <a:xfrm>
            <a:off x="4745277" y="6101041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37"/>
          </p:nvPr>
        </p:nvSpPr>
        <p:spPr>
          <a:xfrm>
            <a:off x="6895172" y="6101041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895765" y="1125631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895765" y="2806850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895765" y="448806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744164" y="1125631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744164" y="2806850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4744164" y="448806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2592562" y="1125631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2592562" y="2806850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2592562" y="448806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22"/>
          </p:nvPr>
        </p:nvSpPr>
        <p:spPr>
          <a:xfrm>
            <a:off x="440960" y="1125631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23"/>
          </p:nvPr>
        </p:nvSpPr>
        <p:spPr>
          <a:xfrm>
            <a:off x="440960" y="2806850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24"/>
          </p:nvPr>
        </p:nvSpPr>
        <p:spPr>
          <a:xfrm>
            <a:off x="440960" y="4488069"/>
            <a:ext cx="1801368" cy="11612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6"/>
          </p:nvPr>
        </p:nvSpPr>
        <p:spPr>
          <a:xfrm>
            <a:off x="439738" y="228243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36"/>
          <p:cNvSpPr>
            <a:spLocks noGrp="1"/>
          </p:cNvSpPr>
          <p:nvPr>
            <p:ph type="body" sz="quarter" idx="27"/>
          </p:nvPr>
        </p:nvSpPr>
        <p:spPr>
          <a:xfrm>
            <a:off x="2589632" y="228243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6"/>
          <p:cNvSpPr>
            <a:spLocks noGrp="1"/>
          </p:cNvSpPr>
          <p:nvPr>
            <p:ph type="body" sz="quarter" idx="28"/>
          </p:nvPr>
        </p:nvSpPr>
        <p:spPr>
          <a:xfrm>
            <a:off x="4739526" y="228243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29"/>
          </p:nvPr>
        </p:nvSpPr>
        <p:spPr>
          <a:xfrm>
            <a:off x="6889421" y="2282436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30"/>
          </p:nvPr>
        </p:nvSpPr>
        <p:spPr>
          <a:xfrm>
            <a:off x="436863" y="3970338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31"/>
          </p:nvPr>
        </p:nvSpPr>
        <p:spPr>
          <a:xfrm>
            <a:off x="2586757" y="3970338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32"/>
          </p:nvPr>
        </p:nvSpPr>
        <p:spPr>
          <a:xfrm>
            <a:off x="4736651" y="3970338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33"/>
          </p:nvPr>
        </p:nvSpPr>
        <p:spPr>
          <a:xfrm>
            <a:off x="6886546" y="3970338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34"/>
          </p:nvPr>
        </p:nvSpPr>
        <p:spPr>
          <a:xfrm>
            <a:off x="445489" y="5652489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35"/>
          </p:nvPr>
        </p:nvSpPr>
        <p:spPr>
          <a:xfrm>
            <a:off x="2595383" y="5652489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36"/>
          </p:nvPr>
        </p:nvSpPr>
        <p:spPr>
          <a:xfrm>
            <a:off x="4745277" y="5652489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37"/>
          </p:nvPr>
        </p:nvSpPr>
        <p:spPr>
          <a:xfrm>
            <a:off x="6895172" y="5652489"/>
            <a:ext cx="1793875" cy="124650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629546" y="1229806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629546" y="3009412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629546" y="4789019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en-US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546182" y="1229806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546182" y="3009412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546182" y="4789019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62819" y="1229806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462819" y="3009412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462819" y="4789019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Placeholder 26"/>
          <p:cNvSpPr>
            <a:spLocks noGrp="1"/>
          </p:cNvSpPr>
          <p:nvPr>
            <p:ph type="body" sz="quarter" idx="23"/>
          </p:nvPr>
        </p:nvSpPr>
        <p:spPr>
          <a:xfrm>
            <a:off x="457200" y="262304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6"/>
          <p:cNvSpPr>
            <a:spLocks noGrp="1"/>
          </p:cNvSpPr>
          <p:nvPr>
            <p:ph type="body" sz="quarter" idx="24"/>
          </p:nvPr>
        </p:nvSpPr>
        <p:spPr>
          <a:xfrm>
            <a:off x="3533955" y="262017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6630837" y="262017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6"/>
          <p:cNvSpPr>
            <a:spLocks noGrp="1"/>
          </p:cNvSpPr>
          <p:nvPr>
            <p:ph type="body" sz="quarter" idx="26"/>
          </p:nvPr>
        </p:nvSpPr>
        <p:spPr>
          <a:xfrm>
            <a:off x="462951" y="4405838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6"/>
          <p:cNvSpPr>
            <a:spLocks noGrp="1"/>
          </p:cNvSpPr>
          <p:nvPr>
            <p:ph type="body" sz="quarter" idx="27"/>
          </p:nvPr>
        </p:nvSpPr>
        <p:spPr>
          <a:xfrm>
            <a:off x="3539706" y="440296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26"/>
          <p:cNvSpPr>
            <a:spLocks noGrp="1"/>
          </p:cNvSpPr>
          <p:nvPr>
            <p:ph type="body" sz="quarter" idx="28"/>
          </p:nvPr>
        </p:nvSpPr>
        <p:spPr>
          <a:xfrm>
            <a:off x="6636588" y="440296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6"/>
          <p:cNvSpPr>
            <a:spLocks noGrp="1"/>
          </p:cNvSpPr>
          <p:nvPr>
            <p:ph type="body" sz="quarter" idx="29"/>
          </p:nvPr>
        </p:nvSpPr>
        <p:spPr>
          <a:xfrm>
            <a:off x="454324" y="618288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3531079" y="6180004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26"/>
          <p:cNvSpPr>
            <a:spLocks noGrp="1"/>
          </p:cNvSpPr>
          <p:nvPr>
            <p:ph type="body" sz="quarter" idx="31"/>
          </p:nvPr>
        </p:nvSpPr>
        <p:spPr>
          <a:xfrm>
            <a:off x="6627961" y="6180004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629546" y="1056181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629546" y="2835787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6629546" y="4615394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546182" y="1056181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546182" y="2835787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546182" y="4615394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62819" y="1056181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462819" y="2835787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/>
          </p:nvPr>
        </p:nvSpPr>
        <p:spPr>
          <a:xfrm>
            <a:off x="462819" y="4615394"/>
            <a:ext cx="2066544" cy="128016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3"/>
          </p:nvPr>
        </p:nvSpPr>
        <p:spPr>
          <a:xfrm>
            <a:off x="457200" y="2338388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6"/>
          <p:cNvSpPr>
            <a:spLocks noGrp="1"/>
          </p:cNvSpPr>
          <p:nvPr>
            <p:ph type="body" sz="quarter" idx="24"/>
          </p:nvPr>
        </p:nvSpPr>
        <p:spPr>
          <a:xfrm>
            <a:off x="3533955" y="233551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6630837" y="233551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26"/>
          <p:cNvSpPr>
            <a:spLocks noGrp="1"/>
          </p:cNvSpPr>
          <p:nvPr>
            <p:ph type="body" sz="quarter" idx="26"/>
          </p:nvPr>
        </p:nvSpPr>
        <p:spPr>
          <a:xfrm>
            <a:off x="462951" y="412118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26"/>
          <p:cNvSpPr>
            <a:spLocks noGrp="1"/>
          </p:cNvSpPr>
          <p:nvPr>
            <p:ph type="body" sz="quarter" idx="27"/>
          </p:nvPr>
        </p:nvSpPr>
        <p:spPr>
          <a:xfrm>
            <a:off x="3539706" y="4118304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26"/>
          <p:cNvSpPr>
            <a:spLocks noGrp="1"/>
          </p:cNvSpPr>
          <p:nvPr>
            <p:ph type="body" sz="quarter" idx="28"/>
          </p:nvPr>
        </p:nvSpPr>
        <p:spPr>
          <a:xfrm>
            <a:off x="6636588" y="4118304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26"/>
          <p:cNvSpPr>
            <a:spLocks noGrp="1"/>
          </p:cNvSpPr>
          <p:nvPr>
            <p:ph type="body" sz="quarter" idx="29"/>
          </p:nvPr>
        </p:nvSpPr>
        <p:spPr>
          <a:xfrm>
            <a:off x="454324" y="589822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3531079" y="589534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6"/>
          <p:cNvSpPr>
            <a:spLocks noGrp="1"/>
          </p:cNvSpPr>
          <p:nvPr>
            <p:ph type="body" sz="quarter" idx="31"/>
          </p:nvPr>
        </p:nvSpPr>
        <p:spPr>
          <a:xfrm>
            <a:off x="6627961" y="589534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 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83059" y="1602515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35150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8574" y="4348163"/>
            <a:ext cx="4020239" cy="21304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689895" y="4353914"/>
            <a:ext cx="4020239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+  content bottom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83059" y="1602515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35150" y="1600200"/>
            <a:ext cx="4023360" cy="2377440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8574" y="4106636"/>
            <a:ext cx="4020239" cy="19059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689895" y="4112387"/>
            <a:ext cx="4020239" cy="1905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481138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629546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629546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en-US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546182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546182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62819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462819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Placeholder 26"/>
          <p:cNvSpPr>
            <a:spLocks noGrp="1"/>
          </p:cNvSpPr>
          <p:nvPr>
            <p:ph type="body" sz="quarter" idx="23"/>
          </p:nvPr>
        </p:nvSpPr>
        <p:spPr>
          <a:xfrm>
            <a:off x="457200" y="306036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6"/>
          <p:cNvSpPr>
            <a:spLocks noGrp="1"/>
          </p:cNvSpPr>
          <p:nvPr>
            <p:ph type="body" sz="quarter" idx="24"/>
          </p:nvPr>
        </p:nvSpPr>
        <p:spPr>
          <a:xfrm>
            <a:off x="3533955" y="30574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6630837" y="30574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6"/>
          <p:cNvSpPr>
            <a:spLocks noGrp="1"/>
          </p:cNvSpPr>
          <p:nvPr>
            <p:ph type="body" sz="quarter" idx="26"/>
          </p:nvPr>
        </p:nvSpPr>
        <p:spPr>
          <a:xfrm>
            <a:off x="462951" y="50975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26"/>
          <p:cNvSpPr>
            <a:spLocks noGrp="1"/>
          </p:cNvSpPr>
          <p:nvPr>
            <p:ph type="body" sz="quarter" idx="27"/>
          </p:nvPr>
        </p:nvSpPr>
        <p:spPr>
          <a:xfrm>
            <a:off x="3539706" y="509471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26"/>
          <p:cNvSpPr>
            <a:spLocks noGrp="1"/>
          </p:cNvSpPr>
          <p:nvPr>
            <p:ph type="body" sz="quarter" idx="28"/>
          </p:nvPr>
        </p:nvSpPr>
        <p:spPr>
          <a:xfrm>
            <a:off x="6636588" y="509471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 + tag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58531" y="6126480"/>
            <a:ext cx="8247888" cy="400110"/>
          </a:xfrm>
          <a:solidFill>
            <a:schemeClr val="tx2"/>
          </a:solidFill>
          <a:ln>
            <a:noFill/>
          </a:ln>
        </p:spPr>
        <p:txBody>
          <a:bodyPr lIns="91440" tIns="45720" rIns="91440" bIns="45720" anchor="ctr"/>
          <a:lstStyle>
            <a:lvl1pPr marL="0" marR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Click to edit tag line</a:t>
            </a:r>
          </a:p>
        </p:txBody>
      </p:sp>
      <p:sp>
        <p:nvSpPr>
          <p:cNvPr id="39" name="Text Placeholder 26"/>
          <p:cNvSpPr>
            <a:spLocks noGrp="1"/>
          </p:cNvSpPr>
          <p:nvPr>
            <p:ph type="body" sz="quarter" idx="29"/>
          </p:nvPr>
        </p:nvSpPr>
        <p:spPr>
          <a:xfrm>
            <a:off x="454324" y="589822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3531079" y="589534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6"/>
          <p:cNvSpPr>
            <a:spLocks noGrp="1"/>
          </p:cNvSpPr>
          <p:nvPr>
            <p:ph type="body" sz="quarter" idx="31"/>
          </p:nvPr>
        </p:nvSpPr>
        <p:spPr>
          <a:xfrm>
            <a:off x="6627961" y="589534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629546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629546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546182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546182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462819" y="159556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462819" y="3645503"/>
            <a:ext cx="2066544" cy="1389888"/>
          </a:xfr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Placeholder 26"/>
          <p:cNvSpPr>
            <a:spLocks noGrp="1"/>
          </p:cNvSpPr>
          <p:nvPr>
            <p:ph type="body" sz="quarter" idx="23"/>
          </p:nvPr>
        </p:nvSpPr>
        <p:spPr>
          <a:xfrm>
            <a:off x="457200" y="3060362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26"/>
          <p:cNvSpPr>
            <a:spLocks noGrp="1"/>
          </p:cNvSpPr>
          <p:nvPr>
            <p:ph type="body" sz="quarter" idx="24"/>
          </p:nvPr>
        </p:nvSpPr>
        <p:spPr>
          <a:xfrm>
            <a:off x="3533955" y="30574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6630837" y="30574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26"/>
          <p:cNvSpPr>
            <a:spLocks noGrp="1"/>
          </p:cNvSpPr>
          <p:nvPr>
            <p:ph type="body" sz="quarter" idx="26"/>
          </p:nvPr>
        </p:nvSpPr>
        <p:spPr>
          <a:xfrm>
            <a:off x="462951" y="5097586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26"/>
          <p:cNvSpPr>
            <a:spLocks noGrp="1"/>
          </p:cNvSpPr>
          <p:nvPr>
            <p:ph type="body" sz="quarter" idx="27"/>
          </p:nvPr>
        </p:nvSpPr>
        <p:spPr>
          <a:xfrm>
            <a:off x="3539706" y="509471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6"/>
          <p:cNvSpPr>
            <a:spLocks noGrp="1"/>
          </p:cNvSpPr>
          <p:nvPr>
            <p:ph type="body" sz="quarter" idx="28"/>
          </p:nvPr>
        </p:nvSpPr>
        <p:spPr>
          <a:xfrm>
            <a:off x="6636588" y="5094710"/>
            <a:ext cx="2079625" cy="15234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eing Logo Closing Slide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7795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image" Target="../media/image2.emf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oeing 12 column grid" hidden="1"/>
          <p:cNvGrpSpPr/>
          <p:nvPr/>
        </p:nvGrpSpPr>
        <p:grpSpPr>
          <a:xfrm>
            <a:off x="-3" y="456356"/>
            <a:ext cx="9144011" cy="5958732"/>
            <a:chOff x="-3" y="456356"/>
            <a:chExt cx="9144011" cy="5958732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471778" y="99590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471778" y="129136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471778" y="2136995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471778" y="243245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471778" y="3288274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471778" y="3583735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471778" y="4424269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471778" y="4719730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471778" y="556790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471778" y="586336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Rectangle 19"/>
            <p:cNvSpPr/>
            <p:nvPr userDrawn="1"/>
          </p:nvSpPr>
          <p:spPr>
            <a:xfrm>
              <a:off x="463550" y="456356"/>
              <a:ext cx="8223250" cy="5944444"/>
            </a:xfrm>
            <a:prstGeom prst="rect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/>
            <p:cNvCxnSpPr/>
            <p:nvPr userDrawn="1"/>
          </p:nvCxnSpPr>
          <p:spPr>
            <a:xfrm>
              <a:off x="471782" y="114363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-3" y="2284726"/>
              <a:ext cx="9143998" cy="0"/>
            </a:xfrm>
            <a:prstGeom prst="lin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380" y="3429000"/>
              <a:ext cx="9143628" cy="7005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-3" y="4572000"/>
              <a:ext cx="9143998" cy="0"/>
            </a:xfrm>
            <a:prstGeom prst="lin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471782" y="571563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6" name="Group 25"/>
            <p:cNvGrpSpPr/>
            <p:nvPr userDrawn="1"/>
          </p:nvGrpSpPr>
          <p:grpSpPr>
            <a:xfrm>
              <a:off x="1001862" y="457200"/>
              <a:ext cx="7135564" cy="5957888"/>
              <a:chOff x="1001862" y="0"/>
              <a:chExt cx="7135564" cy="6858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457081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Straight Connector 20"/>
              <p:cNvCxnSpPr/>
              <p:nvPr/>
            </p:nvCxnSpPr>
            <p:spPr>
              <a:xfrm>
                <a:off x="100186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" name="Straight Connector 15"/>
              <p:cNvCxnSpPr/>
              <p:nvPr/>
            </p:nvCxnSpPr>
            <p:spPr>
              <a:xfrm>
                <a:off x="115406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699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52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239306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533871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551789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Straight Connector 34"/>
              <p:cNvCxnSpPr/>
              <p:nvPr userDrawn="1"/>
            </p:nvCxnSpPr>
            <p:spPr>
              <a:xfrm>
                <a:off x="3095851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" name="Straight Connector 35"/>
              <p:cNvCxnSpPr/>
              <p:nvPr userDrawn="1"/>
            </p:nvCxnSpPr>
            <p:spPr>
              <a:xfrm>
                <a:off x="3249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Straight Connector 36"/>
              <p:cNvCxnSpPr/>
              <p:nvPr userDrawn="1"/>
            </p:nvCxnSpPr>
            <p:spPr>
              <a:xfrm>
                <a:off x="379560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Straight Connector 37"/>
              <p:cNvCxnSpPr/>
              <p:nvPr userDrawn="1"/>
            </p:nvCxnSpPr>
            <p:spPr>
              <a:xfrm>
                <a:off x="394407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9" name="Straight Connector 38"/>
              <p:cNvCxnSpPr/>
              <p:nvPr userDrawn="1"/>
            </p:nvCxnSpPr>
            <p:spPr>
              <a:xfrm>
                <a:off x="4493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0" name="Straight Connector 39"/>
              <p:cNvCxnSpPr/>
              <p:nvPr userDrawn="1"/>
            </p:nvCxnSpPr>
            <p:spPr>
              <a:xfrm>
                <a:off x="464144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Straight Connector 40"/>
              <p:cNvCxnSpPr/>
              <p:nvPr userDrawn="1"/>
            </p:nvCxnSpPr>
            <p:spPr>
              <a:xfrm>
                <a:off x="519177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2" name="Straight Connector 41"/>
              <p:cNvCxnSpPr/>
              <p:nvPr userDrawn="1"/>
            </p:nvCxnSpPr>
            <p:spPr>
              <a:xfrm>
                <a:off x="813742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3" name="Straight Connector 42"/>
              <p:cNvCxnSpPr/>
              <p:nvPr userDrawn="1"/>
            </p:nvCxnSpPr>
            <p:spPr>
              <a:xfrm>
                <a:off x="5885138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Straight Connector 43"/>
              <p:cNvCxnSpPr/>
              <p:nvPr userDrawn="1"/>
            </p:nvCxnSpPr>
            <p:spPr>
              <a:xfrm>
                <a:off x="6043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Straight Connector 44"/>
              <p:cNvCxnSpPr/>
              <p:nvPr userDrawn="1"/>
            </p:nvCxnSpPr>
            <p:spPr>
              <a:xfrm>
                <a:off x="658960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Straight Connector 45"/>
              <p:cNvCxnSpPr/>
              <p:nvPr userDrawn="1"/>
            </p:nvCxnSpPr>
            <p:spPr>
              <a:xfrm>
                <a:off x="673807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7" name="Straight Connector 46"/>
              <p:cNvCxnSpPr/>
              <p:nvPr userDrawn="1"/>
            </p:nvCxnSpPr>
            <p:spPr>
              <a:xfrm>
                <a:off x="7287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8" name="Straight Connector 47"/>
              <p:cNvCxnSpPr/>
              <p:nvPr userDrawn="1"/>
            </p:nvCxnSpPr>
            <p:spPr>
              <a:xfrm>
                <a:off x="743544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Straight Connector 48"/>
              <p:cNvCxnSpPr/>
              <p:nvPr userDrawn="1"/>
            </p:nvCxnSpPr>
            <p:spPr>
              <a:xfrm>
                <a:off x="798577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15278"/>
            <a:ext cx="776334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52144" y="1298448"/>
            <a:ext cx="7772400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414338" y="6657975"/>
            <a:ext cx="2065337" cy="111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4" tIns="9144" rIns="9144" bIns="9144" anchor="b">
            <a:spAutoFit/>
          </a:bodyPr>
          <a:lstStyle/>
          <a:p>
            <a:pPr defTabSz="820738" eaLnBrk="0" hangingPunct="0"/>
            <a:r>
              <a:rPr lang="en-US" sz="600" dirty="0">
                <a:solidFill>
                  <a:schemeClr val="bg1">
                    <a:lumMod val="50000"/>
                  </a:schemeClr>
                </a:solidFill>
              </a:rPr>
              <a:t>Copyright © 2016 Boeing. All rights reserved.</a:t>
            </a:r>
          </a:p>
        </p:txBody>
      </p:sp>
      <p:sp>
        <p:nvSpPr>
          <p:cNvPr id="50" name="Rectangle 67"/>
          <p:cNvSpPr txBox="1">
            <a:spLocks noChangeArrowheads="1"/>
          </p:cNvSpPr>
          <p:nvPr/>
        </p:nvSpPr>
        <p:spPr>
          <a:xfrm>
            <a:off x="2973388" y="6576837"/>
            <a:ext cx="3200400" cy="177800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3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931" r:id="rId2"/>
    <p:sldLayoutId id="2147483932" r:id="rId3"/>
    <p:sldLayoutId id="2147483933" r:id="rId4"/>
    <p:sldLayoutId id="2147483969" r:id="rId5"/>
    <p:sldLayoutId id="2147483970" r:id="rId6"/>
    <p:sldLayoutId id="2147483971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transition spd="med"/>
  <p:hf hdr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baseline="0">
          <a:solidFill>
            <a:schemeClr val="bg2">
              <a:lumMod val="75000"/>
            </a:schemeClr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0" indent="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None/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65760" indent="-274320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627063" indent="-18573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7921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0" y="0"/>
            <a:ext cx="9144000" cy="28416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432000" tIns="0" rIns="0" bIns="0" anchor="ctr"/>
          <a:lstStyle/>
          <a:p>
            <a:pPr marL="0" marR="0" indent="0" algn="l" defTabSz="82073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</a:rPr>
              <a:t>	</a:t>
            </a:r>
            <a:endParaRPr lang="en-US" sz="1200" b="1" i="0" u="none" strike="noStrike" kern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Boeing 12 column grid" hidden="1"/>
          <p:cNvGrpSpPr/>
          <p:nvPr/>
        </p:nvGrpSpPr>
        <p:grpSpPr>
          <a:xfrm>
            <a:off x="-3" y="456356"/>
            <a:ext cx="9144011" cy="5958732"/>
            <a:chOff x="-3" y="456356"/>
            <a:chExt cx="9144011" cy="5958732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471778" y="99590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471778" y="129136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471778" y="2136995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471778" y="243245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471778" y="3288274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471778" y="3583735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471778" y="4424269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471778" y="4719730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471778" y="5567906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471778" y="586336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Rectangle 19"/>
            <p:cNvSpPr/>
            <p:nvPr userDrawn="1"/>
          </p:nvSpPr>
          <p:spPr>
            <a:xfrm>
              <a:off x="463550" y="456356"/>
              <a:ext cx="8223250" cy="5944444"/>
            </a:xfrm>
            <a:prstGeom prst="rect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/>
            <p:cNvCxnSpPr/>
            <p:nvPr userDrawn="1"/>
          </p:nvCxnSpPr>
          <p:spPr>
            <a:xfrm>
              <a:off x="471782" y="114363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-3" y="2284726"/>
              <a:ext cx="9143998" cy="0"/>
            </a:xfrm>
            <a:prstGeom prst="lin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380" y="3429000"/>
              <a:ext cx="9143628" cy="7005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-3" y="4572000"/>
              <a:ext cx="9143998" cy="0"/>
            </a:xfrm>
            <a:prstGeom prst="lin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471782" y="5715637"/>
              <a:ext cx="8211312" cy="0"/>
            </a:xfrm>
            <a:prstGeom prst="line">
              <a:avLst/>
            </a:prstGeom>
            <a:noFill/>
            <a:ln w="6350">
              <a:solidFill>
                <a:schemeClr val="accent1">
                  <a:lumMod val="20000"/>
                  <a:lumOff val="8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6" name="Group 25"/>
            <p:cNvGrpSpPr/>
            <p:nvPr userDrawn="1"/>
          </p:nvGrpSpPr>
          <p:grpSpPr>
            <a:xfrm>
              <a:off x="1001862" y="457200"/>
              <a:ext cx="7135564" cy="5957888"/>
              <a:chOff x="1001862" y="0"/>
              <a:chExt cx="7135564" cy="6858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457081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" name="Straight Connector 20"/>
              <p:cNvCxnSpPr/>
              <p:nvPr/>
            </p:nvCxnSpPr>
            <p:spPr>
              <a:xfrm>
                <a:off x="100186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" name="Straight Connector 15"/>
              <p:cNvCxnSpPr/>
              <p:nvPr/>
            </p:nvCxnSpPr>
            <p:spPr>
              <a:xfrm>
                <a:off x="115406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699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52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239306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533871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551789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Straight Connector 34"/>
              <p:cNvCxnSpPr/>
              <p:nvPr userDrawn="1"/>
            </p:nvCxnSpPr>
            <p:spPr>
              <a:xfrm>
                <a:off x="3095851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" name="Straight Connector 35"/>
              <p:cNvCxnSpPr/>
              <p:nvPr userDrawn="1"/>
            </p:nvCxnSpPr>
            <p:spPr>
              <a:xfrm>
                <a:off x="3249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Straight Connector 36"/>
              <p:cNvCxnSpPr/>
              <p:nvPr userDrawn="1"/>
            </p:nvCxnSpPr>
            <p:spPr>
              <a:xfrm>
                <a:off x="379560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Straight Connector 37"/>
              <p:cNvCxnSpPr/>
              <p:nvPr userDrawn="1"/>
            </p:nvCxnSpPr>
            <p:spPr>
              <a:xfrm>
                <a:off x="394407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9" name="Straight Connector 38"/>
              <p:cNvCxnSpPr/>
              <p:nvPr userDrawn="1"/>
            </p:nvCxnSpPr>
            <p:spPr>
              <a:xfrm>
                <a:off x="4493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0" name="Straight Connector 39"/>
              <p:cNvCxnSpPr/>
              <p:nvPr userDrawn="1"/>
            </p:nvCxnSpPr>
            <p:spPr>
              <a:xfrm>
                <a:off x="464144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Straight Connector 40"/>
              <p:cNvCxnSpPr/>
              <p:nvPr userDrawn="1"/>
            </p:nvCxnSpPr>
            <p:spPr>
              <a:xfrm>
                <a:off x="519177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2" name="Straight Connector 41"/>
              <p:cNvCxnSpPr/>
              <p:nvPr userDrawn="1"/>
            </p:nvCxnSpPr>
            <p:spPr>
              <a:xfrm>
                <a:off x="813742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3" name="Straight Connector 42"/>
              <p:cNvCxnSpPr/>
              <p:nvPr userDrawn="1"/>
            </p:nvCxnSpPr>
            <p:spPr>
              <a:xfrm>
                <a:off x="5885138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Straight Connector 43"/>
              <p:cNvCxnSpPr/>
              <p:nvPr userDrawn="1"/>
            </p:nvCxnSpPr>
            <p:spPr>
              <a:xfrm>
                <a:off x="604398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Straight Connector 44"/>
              <p:cNvCxnSpPr/>
              <p:nvPr userDrawn="1"/>
            </p:nvCxnSpPr>
            <p:spPr>
              <a:xfrm>
                <a:off x="6589602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Straight Connector 45"/>
              <p:cNvCxnSpPr/>
              <p:nvPr userDrawn="1"/>
            </p:nvCxnSpPr>
            <p:spPr>
              <a:xfrm>
                <a:off x="6738076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7" name="Straight Connector 46"/>
              <p:cNvCxnSpPr/>
              <p:nvPr userDrawn="1"/>
            </p:nvCxnSpPr>
            <p:spPr>
              <a:xfrm>
                <a:off x="728768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8" name="Straight Connector 47"/>
              <p:cNvCxnSpPr/>
              <p:nvPr userDrawn="1"/>
            </p:nvCxnSpPr>
            <p:spPr>
              <a:xfrm>
                <a:off x="7435440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Straight Connector 48"/>
              <p:cNvCxnSpPr/>
              <p:nvPr userDrawn="1"/>
            </p:nvCxnSpPr>
            <p:spPr>
              <a:xfrm>
                <a:off x="7985773" y="0"/>
                <a:ext cx="0" cy="6858000"/>
              </a:xfrm>
              <a:prstGeom prst="line">
                <a:avLst/>
              </a:prstGeom>
              <a:noFill/>
              <a:ln w="6350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199" y="320039"/>
            <a:ext cx="8229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600200"/>
            <a:ext cx="8229600" cy="1286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 r:embed="rId46" cstate="print"/>
          <a:srcRect/>
          <a:stretch>
            <a:fillRect/>
          </a:stretch>
        </p:blipFill>
        <p:spPr bwMode="auto">
          <a:xfrm>
            <a:off x="-27296" y="0"/>
            <a:ext cx="3409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2500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59" r:id="rId2"/>
    <p:sldLayoutId id="2147483960" r:id="rId3"/>
    <p:sldLayoutId id="2147483936" r:id="rId4"/>
    <p:sldLayoutId id="2147483934" r:id="rId5"/>
    <p:sldLayoutId id="2147483937" r:id="rId6"/>
    <p:sldLayoutId id="2147483919" r:id="rId7"/>
    <p:sldLayoutId id="2147483938" r:id="rId8"/>
    <p:sldLayoutId id="2147483935" r:id="rId9"/>
    <p:sldLayoutId id="2147483939" r:id="rId10"/>
    <p:sldLayoutId id="2147483921" r:id="rId11"/>
    <p:sldLayoutId id="2147483951" r:id="rId12"/>
    <p:sldLayoutId id="2147483943" r:id="rId13"/>
    <p:sldLayoutId id="2147483952" r:id="rId14"/>
    <p:sldLayoutId id="2147483922" r:id="rId15"/>
    <p:sldLayoutId id="2147483953" r:id="rId16"/>
    <p:sldLayoutId id="2147483944" r:id="rId17"/>
    <p:sldLayoutId id="2147483954" r:id="rId18"/>
    <p:sldLayoutId id="2147483923" r:id="rId19"/>
    <p:sldLayoutId id="2147483940" r:id="rId20"/>
    <p:sldLayoutId id="2147483945" r:id="rId21"/>
    <p:sldLayoutId id="2147483946" r:id="rId22"/>
    <p:sldLayoutId id="2147483924" r:id="rId23"/>
    <p:sldLayoutId id="2147483955" r:id="rId24"/>
    <p:sldLayoutId id="2147483947" r:id="rId25"/>
    <p:sldLayoutId id="2147483956" r:id="rId26"/>
    <p:sldLayoutId id="2147483925" r:id="rId27"/>
    <p:sldLayoutId id="2147483941" r:id="rId28"/>
    <p:sldLayoutId id="2147483948" r:id="rId29"/>
    <p:sldLayoutId id="2147483949" r:id="rId30"/>
    <p:sldLayoutId id="2147483926" r:id="rId31"/>
    <p:sldLayoutId id="2147483957" r:id="rId32"/>
    <p:sldLayoutId id="2147483950" r:id="rId33"/>
    <p:sldLayoutId id="2147483958" r:id="rId34"/>
    <p:sldLayoutId id="2147483961" r:id="rId35"/>
    <p:sldLayoutId id="2147483965" r:id="rId36"/>
    <p:sldLayoutId id="2147483962" r:id="rId37"/>
    <p:sldLayoutId id="2147483966" r:id="rId38"/>
    <p:sldLayoutId id="2147483963" r:id="rId39"/>
    <p:sldLayoutId id="2147483967" r:id="rId40"/>
    <p:sldLayoutId id="2147483964" r:id="rId41"/>
    <p:sldLayoutId id="2147483968" r:id="rId42"/>
    <p:sldLayoutId id="2147483973" r:id="rId43"/>
    <p:sldLayoutId id="2147483974" r:id="rId44"/>
  </p:sldLayoutIdLst>
  <p:transition spd="med"/>
  <p:hf hdr="0"/>
  <p:txStyles>
    <p:titleStyle>
      <a:lvl1pPr algn="l" defTabSz="1020763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 b="0" baseline="0">
          <a:solidFill>
            <a:schemeClr val="bg2">
              <a:lumMod val="75000"/>
            </a:schemeClr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0" indent="0" algn="l" defTabSz="820738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None/>
        <a:defRPr sz="2000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82880" indent="-182880" algn="l" defTabSz="820738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▪"/>
        <a:defRPr sz="2000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365760" indent="-185738" algn="l" defTabSz="820738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▪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548640" indent="-182880" algn="l" defTabSz="820738" rtl="0" eaLnBrk="1" fontAlgn="base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charset="0"/>
        <a:buChar char="–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822960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39493" y="6658305"/>
            <a:ext cx="2065337" cy="1107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2" tIns="9142" rIns="9142" bIns="9142" anchor="b">
            <a:spAutoFit/>
          </a:bodyPr>
          <a:lstStyle/>
          <a:p>
            <a:pPr defTabSz="820593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FFFFFF">
                    <a:lumMod val="50000"/>
                  </a:srgbClr>
                </a:solidFill>
                <a:latin typeface="Arial"/>
              </a:rPr>
              <a:t>Copyright © 2016 Boeing. All rights reserved.</a:t>
            </a:r>
          </a:p>
        </p:txBody>
      </p:sp>
      <p:grpSp>
        <p:nvGrpSpPr>
          <p:cNvPr id="13" name="Group 15"/>
          <p:cNvGrpSpPr>
            <a:grpSpLocks noChangeAspect="1"/>
          </p:cNvGrpSpPr>
          <p:nvPr/>
        </p:nvGrpSpPr>
        <p:grpSpPr bwMode="auto">
          <a:xfrm>
            <a:off x="2765507" y="3024934"/>
            <a:ext cx="3644819" cy="863478"/>
            <a:chOff x="318" y="626"/>
            <a:chExt cx="1241" cy="294"/>
          </a:xfrm>
          <a:solidFill>
            <a:schemeClr val="tx2"/>
          </a:solidFill>
        </p:grpSpPr>
        <p:sp>
          <p:nvSpPr>
            <p:cNvPr id="14" name="Freeform 16"/>
            <p:cNvSpPr>
              <a:spLocks noEditPoints="1"/>
            </p:cNvSpPr>
            <p:nvPr userDrawn="1"/>
          </p:nvSpPr>
          <p:spPr bwMode="auto">
            <a:xfrm>
              <a:off x="318" y="626"/>
              <a:ext cx="344" cy="294"/>
            </a:xfrm>
            <a:custGeom>
              <a:avLst/>
              <a:gdLst/>
              <a:ahLst/>
              <a:cxnLst>
                <a:cxn ang="0">
                  <a:pos x="430" y="393"/>
                </a:cxn>
                <a:cxn ang="0">
                  <a:pos x="452" y="297"/>
                </a:cxn>
                <a:cxn ang="0">
                  <a:pos x="351" y="109"/>
                </a:cxn>
                <a:cxn ang="0">
                  <a:pos x="468" y="0"/>
                </a:cxn>
                <a:cxn ang="0">
                  <a:pos x="330" y="97"/>
                </a:cxn>
                <a:cxn ang="0">
                  <a:pos x="226" y="72"/>
                </a:cxn>
                <a:cxn ang="0">
                  <a:pos x="0" y="297"/>
                </a:cxn>
                <a:cxn ang="0">
                  <a:pos x="55" y="445"/>
                </a:cxn>
                <a:cxn ang="0">
                  <a:pos x="42" y="639"/>
                </a:cxn>
                <a:cxn ang="0">
                  <a:pos x="225" y="536"/>
                </a:cxn>
                <a:cxn ang="0">
                  <a:pos x="97" y="594"/>
                </a:cxn>
                <a:cxn ang="0">
                  <a:pos x="92" y="479"/>
                </a:cxn>
                <a:cxn ang="0">
                  <a:pos x="226" y="523"/>
                </a:cxn>
                <a:cxn ang="0">
                  <a:pos x="384" y="458"/>
                </a:cxn>
                <a:cxn ang="0">
                  <a:pos x="392" y="473"/>
                </a:cxn>
                <a:cxn ang="0">
                  <a:pos x="785" y="457"/>
                </a:cxn>
                <a:cxn ang="0">
                  <a:pos x="430" y="393"/>
                </a:cxn>
                <a:cxn ang="0">
                  <a:pos x="27" y="297"/>
                </a:cxn>
                <a:cxn ang="0">
                  <a:pos x="226" y="99"/>
                </a:cxn>
                <a:cxn ang="0">
                  <a:pos x="308" y="117"/>
                </a:cxn>
                <a:cxn ang="0">
                  <a:pos x="68" y="418"/>
                </a:cxn>
                <a:cxn ang="0">
                  <a:pos x="27" y="297"/>
                </a:cxn>
                <a:cxn ang="0">
                  <a:pos x="226" y="496"/>
                </a:cxn>
                <a:cxn ang="0">
                  <a:pos x="103" y="453"/>
                </a:cxn>
                <a:cxn ang="0">
                  <a:pos x="332" y="129"/>
                </a:cxn>
                <a:cxn ang="0">
                  <a:pos x="424" y="297"/>
                </a:cxn>
                <a:cxn ang="0">
                  <a:pos x="406" y="382"/>
                </a:cxn>
                <a:cxn ang="0">
                  <a:pos x="311" y="321"/>
                </a:cxn>
                <a:cxn ang="0">
                  <a:pos x="371" y="433"/>
                </a:cxn>
                <a:cxn ang="0">
                  <a:pos x="226" y="496"/>
                </a:cxn>
              </a:cxnLst>
              <a:rect l="0" t="0" r="r" b="b"/>
              <a:pathLst>
                <a:path w="785" h="666">
                  <a:moveTo>
                    <a:pt x="430" y="393"/>
                  </a:moveTo>
                  <a:cubicBezTo>
                    <a:pt x="444" y="364"/>
                    <a:pt x="452" y="331"/>
                    <a:pt x="452" y="297"/>
                  </a:cubicBezTo>
                  <a:cubicBezTo>
                    <a:pt x="452" y="219"/>
                    <a:pt x="411" y="150"/>
                    <a:pt x="351" y="109"/>
                  </a:cubicBezTo>
                  <a:cubicBezTo>
                    <a:pt x="387" y="72"/>
                    <a:pt x="426" y="35"/>
                    <a:pt x="468" y="0"/>
                  </a:cubicBezTo>
                  <a:cubicBezTo>
                    <a:pt x="419" y="29"/>
                    <a:pt x="373" y="62"/>
                    <a:pt x="330" y="97"/>
                  </a:cubicBezTo>
                  <a:cubicBezTo>
                    <a:pt x="299" y="81"/>
                    <a:pt x="264" y="72"/>
                    <a:pt x="226" y="72"/>
                  </a:cubicBezTo>
                  <a:cubicBezTo>
                    <a:pt x="101" y="72"/>
                    <a:pt x="0" y="173"/>
                    <a:pt x="0" y="297"/>
                  </a:cubicBezTo>
                  <a:cubicBezTo>
                    <a:pt x="0" y="354"/>
                    <a:pt x="21" y="405"/>
                    <a:pt x="55" y="445"/>
                  </a:cubicBezTo>
                  <a:cubicBezTo>
                    <a:pt x="11" y="538"/>
                    <a:pt x="4" y="613"/>
                    <a:pt x="42" y="639"/>
                  </a:cubicBezTo>
                  <a:cubicBezTo>
                    <a:pt x="83" y="666"/>
                    <a:pt x="171" y="617"/>
                    <a:pt x="225" y="536"/>
                  </a:cubicBezTo>
                  <a:cubicBezTo>
                    <a:pt x="225" y="536"/>
                    <a:pt x="142" y="611"/>
                    <a:pt x="97" y="594"/>
                  </a:cubicBezTo>
                  <a:cubicBezTo>
                    <a:pt x="69" y="583"/>
                    <a:pt x="69" y="541"/>
                    <a:pt x="92" y="479"/>
                  </a:cubicBezTo>
                  <a:cubicBezTo>
                    <a:pt x="130" y="507"/>
                    <a:pt x="176" y="523"/>
                    <a:pt x="226" y="523"/>
                  </a:cubicBezTo>
                  <a:cubicBezTo>
                    <a:pt x="288" y="523"/>
                    <a:pt x="344" y="498"/>
                    <a:pt x="384" y="458"/>
                  </a:cubicBezTo>
                  <a:cubicBezTo>
                    <a:pt x="392" y="473"/>
                    <a:pt x="392" y="473"/>
                    <a:pt x="392" y="473"/>
                  </a:cubicBezTo>
                  <a:cubicBezTo>
                    <a:pt x="491" y="465"/>
                    <a:pt x="785" y="457"/>
                    <a:pt x="785" y="457"/>
                  </a:cubicBezTo>
                  <a:cubicBezTo>
                    <a:pt x="785" y="443"/>
                    <a:pt x="590" y="456"/>
                    <a:pt x="430" y="393"/>
                  </a:cubicBezTo>
                  <a:close/>
                  <a:moveTo>
                    <a:pt x="27" y="297"/>
                  </a:moveTo>
                  <a:cubicBezTo>
                    <a:pt x="27" y="188"/>
                    <a:pt x="116" y="99"/>
                    <a:pt x="226" y="99"/>
                  </a:cubicBezTo>
                  <a:cubicBezTo>
                    <a:pt x="255" y="99"/>
                    <a:pt x="283" y="105"/>
                    <a:pt x="308" y="117"/>
                  </a:cubicBezTo>
                  <a:cubicBezTo>
                    <a:pt x="200" y="212"/>
                    <a:pt x="117" y="322"/>
                    <a:pt x="68" y="418"/>
                  </a:cubicBezTo>
                  <a:cubicBezTo>
                    <a:pt x="42" y="384"/>
                    <a:pt x="27" y="343"/>
                    <a:pt x="27" y="297"/>
                  </a:cubicBezTo>
                  <a:close/>
                  <a:moveTo>
                    <a:pt x="226" y="496"/>
                  </a:moveTo>
                  <a:cubicBezTo>
                    <a:pt x="179" y="496"/>
                    <a:pt x="137" y="480"/>
                    <a:pt x="103" y="453"/>
                  </a:cubicBezTo>
                  <a:cubicBezTo>
                    <a:pt x="142" y="365"/>
                    <a:pt x="222" y="246"/>
                    <a:pt x="332" y="129"/>
                  </a:cubicBezTo>
                  <a:cubicBezTo>
                    <a:pt x="387" y="165"/>
                    <a:pt x="424" y="227"/>
                    <a:pt x="424" y="297"/>
                  </a:cubicBezTo>
                  <a:cubicBezTo>
                    <a:pt x="424" y="328"/>
                    <a:pt x="418" y="356"/>
                    <a:pt x="406" y="382"/>
                  </a:cubicBezTo>
                  <a:cubicBezTo>
                    <a:pt x="371" y="366"/>
                    <a:pt x="338" y="346"/>
                    <a:pt x="311" y="321"/>
                  </a:cubicBezTo>
                  <a:cubicBezTo>
                    <a:pt x="371" y="433"/>
                    <a:pt x="371" y="433"/>
                    <a:pt x="371" y="433"/>
                  </a:cubicBezTo>
                  <a:cubicBezTo>
                    <a:pt x="335" y="472"/>
                    <a:pt x="283" y="496"/>
                    <a:pt x="226" y="4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17"/>
            <p:cNvSpPr>
              <a:spLocks/>
            </p:cNvSpPr>
            <p:nvPr userDrawn="1"/>
          </p:nvSpPr>
          <p:spPr bwMode="auto">
            <a:xfrm>
              <a:off x="954" y="687"/>
              <a:ext cx="190" cy="103"/>
            </a:xfrm>
            <a:custGeom>
              <a:avLst/>
              <a:gdLst/>
              <a:ahLst/>
              <a:cxnLst>
                <a:cxn ang="0">
                  <a:pos x="144" y="62"/>
                </a:cxn>
                <a:cxn ang="0">
                  <a:pos x="160" y="40"/>
                </a:cxn>
                <a:cxn ang="0">
                  <a:pos x="104" y="40"/>
                </a:cxn>
                <a:cxn ang="0">
                  <a:pos x="118" y="22"/>
                </a:cxn>
                <a:cxn ang="0">
                  <a:pos x="174" y="22"/>
                </a:cxn>
                <a:cxn ang="0">
                  <a:pos x="190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113" y="103"/>
                </a:cxn>
                <a:cxn ang="0">
                  <a:pos x="129" y="82"/>
                </a:cxn>
                <a:cxn ang="0">
                  <a:pos x="72" y="82"/>
                </a:cxn>
                <a:cxn ang="0">
                  <a:pos x="87" y="62"/>
                </a:cxn>
                <a:cxn ang="0">
                  <a:pos x="144" y="62"/>
                </a:cxn>
                <a:cxn ang="0">
                  <a:pos x="144" y="62"/>
                </a:cxn>
              </a:cxnLst>
              <a:rect l="0" t="0" r="r" b="b"/>
              <a:pathLst>
                <a:path w="190" h="103">
                  <a:moveTo>
                    <a:pt x="144" y="62"/>
                  </a:moveTo>
                  <a:lnTo>
                    <a:pt x="160" y="40"/>
                  </a:lnTo>
                  <a:lnTo>
                    <a:pt x="104" y="40"/>
                  </a:lnTo>
                  <a:lnTo>
                    <a:pt x="118" y="22"/>
                  </a:lnTo>
                  <a:lnTo>
                    <a:pt x="174" y="22"/>
                  </a:lnTo>
                  <a:lnTo>
                    <a:pt x="190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113" y="103"/>
                  </a:lnTo>
                  <a:lnTo>
                    <a:pt x="129" y="82"/>
                  </a:lnTo>
                  <a:lnTo>
                    <a:pt x="72" y="82"/>
                  </a:lnTo>
                  <a:lnTo>
                    <a:pt x="87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18"/>
            <p:cNvSpPr>
              <a:spLocks/>
            </p:cNvSpPr>
            <p:nvPr userDrawn="1"/>
          </p:nvSpPr>
          <p:spPr bwMode="auto">
            <a:xfrm>
              <a:off x="1098" y="687"/>
              <a:ext cx="134" cy="103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0" y="103"/>
                </a:cxn>
                <a:cxn ang="0">
                  <a:pos x="57" y="103"/>
                </a:cxn>
                <a:cxn ang="0">
                  <a:pos x="134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134" h="103">
                  <a:moveTo>
                    <a:pt x="78" y="0"/>
                  </a:moveTo>
                  <a:lnTo>
                    <a:pt x="0" y="103"/>
                  </a:lnTo>
                  <a:lnTo>
                    <a:pt x="57" y="103"/>
                  </a:lnTo>
                  <a:lnTo>
                    <a:pt x="13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19"/>
            <p:cNvSpPr>
              <a:spLocks/>
            </p:cNvSpPr>
            <p:nvPr userDrawn="1"/>
          </p:nvSpPr>
          <p:spPr bwMode="auto">
            <a:xfrm>
              <a:off x="1190" y="687"/>
              <a:ext cx="210" cy="103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133" y="52"/>
                </a:cxn>
                <a:cxn ang="0">
                  <a:pos x="121" y="0"/>
                </a:cxn>
                <a:cxn ang="0">
                  <a:pos x="78" y="0"/>
                </a:cxn>
                <a:cxn ang="0">
                  <a:pos x="0" y="103"/>
                </a:cxn>
                <a:cxn ang="0">
                  <a:pos x="38" y="103"/>
                </a:cxn>
                <a:cxn ang="0">
                  <a:pos x="76" y="51"/>
                </a:cxn>
                <a:cxn ang="0">
                  <a:pos x="88" y="103"/>
                </a:cxn>
                <a:cxn ang="0">
                  <a:pos x="132" y="103"/>
                </a:cxn>
                <a:cxn ang="0">
                  <a:pos x="210" y="0"/>
                </a:cxn>
                <a:cxn ang="0">
                  <a:pos x="172" y="0"/>
                </a:cxn>
                <a:cxn ang="0">
                  <a:pos x="172" y="0"/>
                </a:cxn>
              </a:cxnLst>
              <a:rect l="0" t="0" r="r" b="b"/>
              <a:pathLst>
                <a:path w="210" h="103">
                  <a:moveTo>
                    <a:pt x="172" y="0"/>
                  </a:moveTo>
                  <a:lnTo>
                    <a:pt x="133" y="52"/>
                  </a:lnTo>
                  <a:lnTo>
                    <a:pt x="121" y="0"/>
                  </a:lnTo>
                  <a:lnTo>
                    <a:pt x="78" y="0"/>
                  </a:lnTo>
                  <a:lnTo>
                    <a:pt x="0" y="103"/>
                  </a:lnTo>
                  <a:lnTo>
                    <a:pt x="38" y="103"/>
                  </a:lnTo>
                  <a:lnTo>
                    <a:pt x="76" y="51"/>
                  </a:lnTo>
                  <a:lnTo>
                    <a:pt x="88" y="103"/>
                  </a:lnTo>
                  <a:lnTo>
                    <a:pt x="132" y="103"/>
                  </a:lnTo>
                  <a:lnTo>
                    <a:pt x="210" y="0"/>
                  </a:lnTo>
                  <a:lnTo>
                    <a:pt x="172" y="0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0"/>
            <p:cNvSpPr>
              <a:spLocks/>
            </p:cNvSpPr>
            <p:nvPr userDrawn="1"/>
          </p:nvSpPr>
          <p:spPr bwMode="auto">
            <a:xfrm>
              <a:off x="1368" y="687"/>
              <a:ext cx="191" cy="103"/>
            </a:xfrm>
            <a:custGeom>
              <a:avLst/>
              <a:gdLst/>
              <a:ahLst/>
              <a:cxnLst>
                <a:cxn ang="0">
                  <a:pos x="404" y="0"/>
                </a:cxn>
                <a:cxn ang="0">
                  <a:pos x="199" y="0"/>
                </a:cxn>
                <a:cxn ang="0">
                  <a:pos x="113" y="43"/>
                </a:cxn>
                <a:cxn ang="0">
                  <a:pos x="7" y="184"/>
                </a:cxn>
                <a:cxn ang="0">
                  <a:pos x="0" y="202"/>
                </a:cxn>
                <a:cxn ang="0">
                  <a:pos x="32" y="234"/>
                </a:cxn>
                <a:cxn ang="0">
                  <a:pos x="237" y="234"/>
                </a:cxn>
                <a:cxn ang="0">
                  <a:pos x="323" y="191"/>
                </a:cxn>
                <a:cxn ang="0">
                  <a:pos x="348" y="157"/>
                </a:cxn>
                <a:cxn ang="0">
                  <a:pos x="378" y="157"/>
                </a:cxn>
                <a:cxn ang="0">
                  <a:pos x="415" y="108"/>
                </a:cxn>
                <a:cxn ang="0">
                  <a:pos x="258" y="108"/>
                </a:cxn>
                <a:cxn ang="0">
                  <a:pos x="208" y="174"/>
                </a:cxn>
                <a:cxn ang="0">
                  <a:pos x="186" y="185"/>
                </a:cxn>
                <a:cxn ang="0">
                  <a:pos x="150" y="185"/>
                </a:cxn>
                <a:cxn ang="0">
                  <a:pos x="142" y="177"/>
                </a:cxn>
                <a:cxn ang="0">
                  <a:pos x="143" y="172"/>
                </a:cxn>
                <a:cxn ang="0">
                  <a:pos x="228" y="60"/>
                </a:cxn>
                <a:cxn ang="0">
                  <a:pos x="250" y="49"/>
                </a:cxn>
                <a:cxn ang="0">
                  <a:pos x="286" y="49"/>
                </a:cxn>
                <a:cxn ang="0">
                  <a:pos x="294" y="57"/>
                </a:cxn>
                <a:cxn ang="0">
                  <a:pos x="292" y="62"/>
                </a:cxn>
                <a:cxn ang="0">
                  <a:pos x="279" y="80"/>
                </a:cxn>
                <a:cxn ang="0">
                  <a:pos x="406" y="80"/>
                </a:cxn>
                <a:cxn ang="0">
                  <a:pos x="429" y="50"/>
                </a:cxn>
                <a:cxn ang="0">
                  <a:pos x="435" y="31"/>
                </a:cxn>
                <a:cxn ang="0">
                  <a:pos x="404" y="0"/>
                </a:cxn>
              </a:cxnLst>
              <a:rect l="0" t="0" r="r" b="b"/>
              <a:pathLst>
                <a:path w="435" h="234">
                  <a:moveTo>
                    <a:pt x="404" y="0"/>
                  </a:moveTo>
                  <a:cubicBezTo>
                    <a:pt x="199" y="0"/>
                    <a:pt x="199" y="0"/>
                    <a:pt x="199" y="0"/>
                  </a:cubicBezTo>
                  <a:cubicBezTo>
                    <a:pt x="163" y="0"/>
                    <a:pt x="132" y="17"/>
                    <a:pt x="113" y="43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3" y="189"/>
                    <a:pt x="0" y="195"/>
                    <a:pt x="0" y="202"/>
                  </a:cubicBezTo>
                  <a:cubicBezTo>
                    <a:pt x="0" y="220"/>
                    <a:pt x="14" y="234"/>
                    <a:pt x="32" y="234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72" y="234"/>
                    <a:pt x="303" y="217"/>
                    <a:pt x="323" y="191"/>
                  </a:cubicBezTo>
                  <a:cubicBezTo>
                    <a:pt x="348" y="157"/>
                    <a:pt x="348" y="157"/>
                    <a:pt x="348" y="157"/>
                  </a:cubicBezTo>
                  <a:cubicBezTo>
                    <a:pt x="378" y="157"/>
                    <a:pt x="378" y="157"/>
                    <a:pt x="378" y="157"/>
                  </a:cubicBezTo>
                  <a:cubicBezTo>
                    <a:pt x="415" y="108"/>
                    <a:pt x="415" y="108"/>
                    <a:pt x="415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08" y="174"/>
                    <a:pt x="208" y="174"/>
                    <a:pt x="208" y="174"/>
                  </a:cubicBezTo>
                  <a:cubicBezTo>
                    <a:pt x="203" y="180"/>
                    <a:pt x="195" y="185"/>
                    <a:pt x="186" y="185"/>
                  </a:cubicBezTo>
                  <a:cubicBezTo>
                    <a:pt x="150" y="185"/>
                    <a:pt x="150" y="185"/>
                    <a:pt x="150" y="185"/>
                  </a:cubicBezTo>
                  <a:cubicBezTo>
                    <a:pt x="145" y="185"/>
                    <a:pt x="142" y="181"/>
                    <a:pt x="142" y="177"/>
                  </a:cubicBezTo>
                  <a:cubicBezTo>
                    <a:pt x="142" y="175"/>
                    <a:pt x="142" y="173"/>
                    <a:pt x="143" y="172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33" y="53"/>
                    <a:pt x="241" y="49"/>
                    <a:pt x="250" y="49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90" y="49"/>
                    <a:pt x="294" y="53"/>
                    <a:pt x="294" y="57"/>
                  </a:cubicBezTo>
                  <a:cubicBezTo>
                    <a:pt x="294" y="59"/>
                    <a:pt x="293" y="61"/>
                    <a:pt x="292" y="62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406" y="80"/>
                    <a:pt x="406" y="80"/>
                    <a:pt x="406" y="80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33" y="45"/>
                    <a:pt x="435" y="38"/>
                    <a:pt x="435" y="31"/>
                  </a:cubicBezTo>
                  <a:cubicBezTo>
                    <a:pt x="435" y="14"/>
                    <a:pt x="421" y="0"/>
                    <a:pt x="40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1"/>
            <p:cNvSpPr>
              <a:spLocks noEditPoints="1"/>
            </p:cNvSpPr>
            <p:nvPr userDrawn="1"/>
          </p:nvSpPr>
          <p:spPr bwMode="auto">
            <a:xfrm>
              <a:off x="795" y="687"/>
              <a:ext cx="191" cy="103"/>
            </a:xfrm>
            <a:custGeom>
              <a:avLst/>
              <a:gdLst/>
              <a:ahLst/>
              <a:cxnLst>
                <a:cxn ang="0">
                  <a:pos x="434" y="31"/>
                </a:cxn>
                <a:cxn ang="0">
                  <a:pos x="403" y="0"/>
                </a:cxn>
                <a:cxn ang="0">
                  <a:pos x="198" y="0"/>
                </a:cxn>
                <a:cxn ang="0">
                  <a:pos x="112" y="43"/>
                </a:cxn>
                <a:cxn ang="0">
                  <a:pos x="6" y="184"/>
                </a:cxn>
                <a:cxn ang="0">
                  <a:pos x="0" y="202"/>
                </a:cxn>
                <a:cxn ang="0">
                  <a:pos x="31" y="234"/>
                </a:cxn>
                <a:cxn ang="0">
                  <a:pos x="236" y="234"/>
                </a:cxn>
                <a:cxn ang="0">
                  <a:pos x="322" y="191"/>
                </a:cxn>
                <a:cxn ang="0">
                  <a:pos x="428" y="50"/>
                </a:cxn>
                <a:cxn ang="0">
                  <a:pos x="434" y="31"/>
                </a:cxn>
                <a:cxn ang="0">
                  <a:pos x="291" y="62"/>
                </a:cxn>
                <a:cxn ang="0">
                  <a:pos x="207" y="174"/>
                </a:cxn>
                <a:cxn ang="0">
                  <a:pos x="185" y="185"/>
                </a:cxn>
                <a:cxn ang="0">
                  <a:pos x="149" y="185"/>
                </a:cxn>
                <a:cxn ang="0">
                  <a:pos x="141" y="177"/>
                </a:cxn>
                <a:cxn ang="0">
                  <a:pos x="142" y="172"/>
                </a:cxn>
                <a:cxn ang="0">
                  <a:pos x="227" y="60"/>
                </a:cxn>
                <a:cxn ang="0">
                  <a:pos x="249" y="49"/>
                </a:cxn>
                <a:cxn ang="0">
                  <a:pos x="285" y="49"/>
                </a:cxn>
                <a:cxn ang="0">
                  <a:pos x="293" y="57"/>
                </a:cxn>
                <a:cxn ang="0">
                  <a:pos x="291" y="62"/>
                </a:cxn>
              </a:cxnLst>
              <a:rect l="0" t="0" r="r" b="b"/>
              <a:pathLst>
                <a:path w="434" h="234">
                  <a:moveTo>
                    <a:pt x="434" y="31"/>
                  </a:moveTo>
                  <a:cubicBezTo>
                    <a:pt x="434" y="14"/>
                    <a:pt x="420" y="0"/>
                    <a:pt x="40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3" y="0"/>
                    <a:pt x="131" y="17"/>
                    <a:pt x="112" y="43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2" y="189"/>
                    <a:pt x="0" y="195"/>
                    <a:pt x="0" y="202"/>
                  </a:cubicBezTo>
                  <a:cubicBezTo>
                    <a:pt x="0" y="220"/>
                    <a:pt x="14" y="234"/>
                    <a:pt x="31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71" y="234"/>
                    <a:pt x="302" y="217"/>
                    <a:pt x="322" y="191"/>
                  </a:cubicBezTo>
                  <a:cubicBezTo>
                    <a:pt x="428" y="50"/>
                    <a:pt x="428" y="50"/>
                    <a:pt x="428" y="50"/>
                  </a:cubicBezTo>
                  <a:cubicBezTo>
                    <a:pt x="432" y="45"/>
                    <a:pt x="434" y="38"/>
                    <a:pt x="434" y="31"/>
                  </a:cubicBezTo>
                  <a:close/>
                  <a:moveTo>
                    <a:pt x="291" y="62"/>
                  </a:moveTo>
                  <a:cubicBezTo>
                    <a:pt x="207" y="174"/>
                    <a:pt x="207" y="174"/>
                    <a:pt x="207" y="174"/>
                  </a:cubicBezTo>
                  <a:cubicBezTo>
                    <a:pt x="202" y="180"/>
                    <a:pt x="194" y="185"/>
                    <a:pt x="185" y="185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44" y="185"/>
                    <a:pt x="141" y="181"/>
                    <a:pt x="141" y="177"/>
                  </a:cubicBezTo>
                  <a:cubicBezTo>
                    <a:pt x="141" y="175"/>
                    <a:pt x="141" y="173"/>
                    <a:pt x="142" y="172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32" y="53"/>
                    <a:pt x="240" y="49"/>
                    <a:pt x="249" y="49"/>
                  </a:cubicBezTo>
                  <a:cubicBezTo>
                    <a:pt x="285" y="49"/>
                    <a:pt x="285" y="49"/>
                    <a:pt x="285" y="49"/>
                  </a:cubicBezTo>
                  <a:cubicBezTo>
                    <a:pt x="289" y="49"/>
                    <a:pt x="293" y="53"/>
                    <a:pt x="293" y="57"/>
                  </a:cubicBezTo>
                  <a:cubicBezTo>
                    <a:pt x="293" y="59"/>
                    <a:pt x="293" y="61"/>
                    <a:pt x="291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22"/>
            <p:cNvSpPr>
              <a:spLocks noEditPoints="1"/>
            </p:cNvSpPr>
            <p:nvPr userDrawn="1"/>
          </p:nvSpPr>
          <p:spPr bwMode="auto">
            <a:xfrm>
              <a:off x="610" y="687"/>
              <a:ext cx="204" cy="103"/>
            </a:xfrm>
            <a:custGeom>
              <a:avLst/>
              <a:gdLst/>
              <a:ahLst/>
              <a:cxnLst>
                <a:cxn ang="0">
                  <a:pos x="374" y="123"/>
                </a:cxn>
                <a:cxn ang="0">
                  <a:pos x="436" y="82"/>
                </a:cxn>
                <a:cxn ang="0">
                  <a:pos x="460" y="50"/>
                </a:cxn>
                <a:cxn ang="0">
                  <a:pos x="466" y="31"/>
                </a:cxn>
                <a:cxn ang="0">
                  <a:pos x="435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176" y="0"/>
                </a:cxn>
                <a:cxn ang="0">
                  <a:pos x="0" y="234"/>
                </a:cxn>
                <a:cxn ang="0">
                  <a:pos x="126" y="234"/>
                </a:cxn>
                <a:cxn ang="0">
                  <a:pos x="268" y="234"/>
                </a:cxn>
                <a:cxn ang="0">
                  <a:pos x="354" y="191"/>
                </a:cxn>
                <a:cxn ang="0">
                  <a:pos x="379" y="158"/>
                </a:cxn>
                <a:cxn ang="0">
                  <a:pos x="384" y="143"/>
                </a:cxn>
                <a:cxn ang="0">
                  <a:pos x="374" y="123"/>
                </a:cxn>
                <a:cxn ang="0">
                  <a:pos x="255" y="153"/>
                </a:cxn>
                <a:cxn ang="0">
                  <a:pos x="239" y="174"/>
                </a:cxn>
                <a:cxn ang="0">
                  <a:pos x="217" y="185"/>
                </a:cxn>
                <a:cxn ang="0">
                  <a:pos x="165" y="185"/>
                </a:cxn>
                <a:cxn ang="0">
                  <a:pos x="199" y="140"/>
                </a:cxn>
                <a:cxn ang="0">
                  <a:pos x="249" y="140"/>
                </a:cxn>
                <a:cxn ang="0">
                  <a:pos x="257" y="148"/>
                </a:cxn>
                <a:cxn ang="0">
                  <a:pos x="255" y="153"/>
                </a:cxn>
                <a:cxn ang="0">
                  <a:pos x="324" y="62"/>
                </a:cxn>
                <a:cxn ang="0">
                  <a:pos x="310" y="80"/>
                </a:cxn>
                <a:cxn ang="0">
                  <a:pos x="288" y="91"/>
                </a:cxn>
                <a:cxn ang="0">
                  <a:pos x="235" y="91"/>
                </a:cxn>
                <a:cxn ang="0">
                  <a:pos x="267" y="49"/>
                </a:cxn>
                <a:cxn ang="0">
                  <a:pos x="317" y="49"/>
                </a:cxn>
                <a:cxn ang="0">
                  <a:pos x="325" y="57"/>
                </a:cxn>
                <a:cxn ang="0">
                  <a:pos x="324" y="62"/>
                </a:cxn>
              </a:cxnLst>
              <a:rect l="0" t="0" r="r" b="b"/>
              <a:pathLst>
                <a:path w="466" h="234">
                  <a:moveTo>
                    <a:pt x="374" y="123"/>
                  </a:moveTo>
                  <a:cubicBezTo>
                    <a:pt x="399" y="117"/>
                    <a:pt x="421" y="102"/>
                    <a:pt x="436" y="82"/>
                  </a:cubicBezTo>
                  <a:cubicBezTo>
                    <a:pt x="460" y="50"/>
                    <a:pt x="460" y="50"/>
                    <a:pt x="460" y="50"/>
                  </a:cubicBezTo>
                  <a:cubicBezTo>
                    <a:pt x="464" y="45"/>
                    <a:pt x="466" y="38"/>
                    <a:pt x="466" y="31"/>
                  </a:cubicBezTo>
                  <a:cubicBezTo>
                    <a:pt x="466" y="14"/>
                    <a:pt x="452" y="0"/>
                    <a:pt x="435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126" y="234"/>
                    <a:pt x="126" y="234"/>
                    <a:pt x="126" y="2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303" y="234"/>
                    <a:pt x="334" y="217"/>
                    <a:pt x="354" y="191"/>
                  </a:cubicBezTo>
                  <a:cubicBezTo>
                    <a:pt x="379" y="158"/>
                    <a:pt x="379" y="158"/>
                    <a:pt x="379" y="158"/>
                  </a:cubicBezTo>
                  <a:cubicBezTo>
                    <a:pt x="382" y="154"/>
                    <a:pt x="384" y="148"/>
                    <a:pt x="384" y="143"/>
                  </a:cubicBezTo>
                  <a:cubicBezTo>
                    <a:pt x="384" y="134"/>
                    <a:pt x="380" y="127"/>
                    <a:pt x="374" y="123"/>
                  </a:cubicBezTo>
                  <a:close/>
                  <a:moveTo>
                    <a:pt x="255" y="153"/>
                  </a:moveTo>
                  <a:cubicBezTo>
                    <a:pt x="239" y="174"/>
                    <a:pt x="239" y="174"/>
                    <a:pt x="239" y="174"/>
                  </a:cubicBezTo>
                  <a:cubicBezTo>
                    <a:pt x="234" y="180"/>
                    <a:pt x="226" y="185"/>
                    <a:pt x="217" y="185"/>
                  </a:cubicBezTo>
                  <a:cubicBezTo>
                    <a:pt x="165" y="185"/>
                    <a:pt x="165" y="185"/>
                    <a:pt x="165" y="185"/>
                  </a:cubicBezTo>
                  <a:cubicBezTo>
                    <a:pt x="199" y="140"/>
                    <a:pt x="199" y="140"/>
                    <a:pt x="199" y="140"/>
                  </a:cubicBezTo>
                  <a:cubicBezTo>
                    <a:pt x="249" y="140"/>
                    <a:pt x="249" y="140"/>
                    <a:pt x="249" y="140"/>
                  </a:cubicBezTo>
                  <a:cubicBezTo>
                    <a:pt x="253" y="140"/>
                    <a:pt x="257" y="143"/>
                    <a:pt x="257" y="148"/>
                  </a:cubicBezTo>
                  <a:cubicBezTo>
                    <a:pt x="257" y="150"/>
                    <a:pt x="256" y="151"/>
                    <a:pt x="255" y="153"/>
                  </a:cubicBezTo>
                  <a:close/>
                  <a:moveTo>
                    <a:pt x="324" y="62"/>
                  </a:moveTo>
                  <a:cubicBezTo>
                    <a:pt x="310" y="80"/>
                    <a:pt x="310" y="80"/>
                    <a:pt x="310" y="80"/>
                  </a:cubicBezTo>
                  <a:cubicBezTo>
                    <a:pt x="305" y="86"/>
                    <a:pt x="297" y="91"/>
                    <a:pt x="288" y="91"/>
                  </a:cubicBezTo>
                  <a:cubicBezTo>
                    <a:pt x="235" y="91"/>
                    <a:pt x="235" y="91"/>
                    <a:pt x="235" y="91"/>
                  </a:cubicBezTo>
                  <a:cubicBezTo>
                    <a:pt x="267" y="49"/>
                    <a:pt x="267" y="49"/>
                    <a:pt x="267" y="49"/>
                  </a:cubicBezTo>
                  <a:cubicBezTo>
                    <a:pt x="317" y="49"/>
                    <a:pt x="317" y="49"/>
                    <a:pt x="317" y="49"/>
                  </a:cubicBezTo>
                  <a:cubicBezTo>
                    <a:pt x="322" y="49"/>
                    <a:pt x="325" y="53"/>
                    <a:pt x="325" y="57"/>
                  </a:cubicBezTo>
                  <a:cubicBezTo>
                    <a:pt x="325" y="59"/>
                    <a:pt x="325" y="61"/>
                    <a:pt x="324" y="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72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 spd="med"/>
  <p:hf hdr="0"/>
  <p:txStyles>
    <p:titleStyle>
      <a:lvl1pPr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120"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239"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359"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478" algn="l" defTabSz="102058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169833" indent="-169833" algn="l" defTabSz="82059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38A8"/>
        </a:buClr>
        <a:buFont typeface="Wingdings" pitchFamily="2" charset="2"/>
        <a:buChar char="§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385695" indent="-214275" algn="l" defTabSz="82059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38A8"/>
        </a:buClr>
        <a:buFont typeface="Arial" pitchFamily="34" charset="0"/>
        <a:buChar char="–"/>
        <a:defRPr sz="2000">
          <a:solidFill>
            <a:srgbClr val="000000"/>
          </a:solidFill>
          <a:latin typeface="+mn-lt"/>
        </a:defRPr>
      </a:lvl2pPr>
      <a:lvl3pPr marL="576162" indent="-174594" algn="l" defTabSz="820593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38A8"/>
        </a:buClr>
        <a:buFont typeface="Wingdings" pitchFamily="2" charset="2"/>
        <a:buChar char="§"/>
        <a:defRPr>
          <a:solidFill>
            <a:srgbClr val="000000"/>
          </a:solidFill>
          <a:latin typeface="+mn-lt"/>
        </a:defRPr>
      </a:lvl3pPr>
      <a:lvl4pPr marL="792023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>
          <a:solidFill>
            <a:schemeClr val="tx1"/>
          </a:solidFill>
          <a:latin typeface="+mn-lt"/>
        </a:defRPr>
      </a:lvl4pPr>
      <a:lvl5pPr marL="957094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5pPr>
      <a:lvl6pPr marL="1414214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6pPr>
      <a:lvl7pPr marL="1871333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7pPr>
      <a:lvl8pPr marL="2328453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8pPr>
      <a:lvl9pPr marL="2785573" indent="-163484" algn="l" defTabSz="820593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elections.nytimes.com/2008/results/president/map.html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6644" y="4858315"/>
            <a:ext cx="7951787" cy="332399"/>
          </a:xfrm>
        </p:spPr>
        <p:txBody>
          <a:bodyPr/>
          <a:lstStyle/>
          <a:p>
            <a:r>
              <a:rPr lang="en-US" sz="2400" dirty="0"/>
              <a:t>Deepak Kumar (Data Scientist, BT&amp;E)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462152" y="2243898"/>
            <a:ext cx="8251825" cy="1329595"/>
          </a:xfrm>
        </p:spPr>
        <p:txBody>
          <a:bodyPr/>
          <a:lstStyle/>
          <a:p>
            <a:r>
              <a:rPr lang="en-US" altLang="he-IL" sz="4800" dirty="0"/>
              <a:t>Exploratory Data Analysis and Data Visualization</a:t>
            </a:r>
            <a:endParaRPr lang="en-US" sz="48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8FD4BA5-6B39-4877-AFA7-D2F294C13700}"/>
              </a:ext>
            </a:extLst>
          </p:cNvPr>
          <p:cNvSpPr txBox="1">
            <a:spLocks/>
          </p:cNvSpPr>
          <p:nvPr/>
        </p:nvSpPr>
        <p:spPr bwMode="auto">
          <a:xfrm>
            <a:off x="396645" y="5267233"/>
            <a:ext cx="795178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5400" b="0">
                <a:solidFill>
                  <a:srgbClr val="788288"/>
                </a:solidFill>
                <a:latin typeface="+mn-lt"/>
                <a:ea typeface="+mn-ea"/>
                <a:cs typeface="+mn-cs"/>
              </a:defRPr>
            </a:lvl1pPr>
            <a:lvl2pPr marL="365760" indent="-274320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627063" indent="-185738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7921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9572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  <a:lvl6pPr marL="14144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8716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3288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786063" indent="-163513" algn="l" defTabSz="820738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Anusha Pai </a:t>
            </a:r>
            <a:r>
              <a:rPr lang="en-US" sz="2400" dirty="0"/>
              <a:t>(Data Scientist, Boeing AI)</a:t>
            </a: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5153671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5DD509B-8451-4898-91B7-D8F8009AD1A3}"/>
              </a:ext>
            </a:extLst>
          </p:cNvPr>
          <p:cNvSpPr txBox="1"/>
          <p:nvPr/>
        </p:nvSpPr>
        <p:spPr>
          <a:xfrm>
            <a:off x="253546" y="6211917"/>
            <a:ext cx="40639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source: https://www.sketchbubble.com/en/presentation-crisp-dm.html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463B7-C3A0-727D-562A-FD0B58496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74" y="968196"/>
            <a:ext cx="6858957" cy="4953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7AD702-EA92-781E-12DB-FCC92D0E8639}"/>
              </a:ext>
            </a:extLst>
          </p:cNvPr>
          <p:cNvSpPr txBox="1"/>
          <p:nvPr/>
        </p:nvSpPr>
        <p:spPr>
          <a:xfrm>
            <a:off x="397924" y="337453"/>
            <a:ext cx="597881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20763">
              <a:lnSpc>
                <a:spcPct val="90000"/>
              </a:lnSpc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ML Use case Lifecycle</a:t>
            </a:r>
          </a:p>
        </p:txBody>
      </p:sp>
    </p:spTree>
    <p:extLst>
      <p:ext uri="{BB962C8B-B14F-4D97-AF65-F5344CB8AC3E}">
        <p14:creationId xmlns:p14="http://schemas.microsoft.com/office/powerpoint/2010/main" val="20559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Outline</a:t>
            </a:r>
            <a:endParaRPr lang="en-GB" altLang="he-IL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1152144" y="1298448"/>
            <a:ext cx="7772400" cy="2049792"/>
          </a:xfrm>
        </p:spPr>
        <p:txBody>
          <a:bodyPr/>
          <a:lstStyle/>
          <a:p>
            <a:pPr eaLnBrk="1" hangingPunct="1"/>
            <a:r>
              <a:rPr lang="en-US" altLang="he-IL" dirty="0"/>
              <a:t>EDA Visualization</a:t>
            </a:r>
          </a:p>
          <a:p>
            <a:pPr lvl="1"/>
            <a:r>
              <a:rPr lang="en-US" dirty="0"/>
              <a:t>Univariate Analysis (</a:t>
            </a:r>
            <a:r>
              <a:rPr lang="en-US" altLang="he-IL" dirty="0"/>
              <a:t>One variable)</a:t>
            </a:r>
          </a:p>
          <a:p>
            <a:pPr lvl="1"/>
            <a:r>
              <a:rPr lang="en-US" dirty="0"/>
              <a:t>Bivariate Analysis (</a:t>
            </a:r>
            <a:r>
              <a:rPr lang="en-US" altLang="he-IL" dirty="0"/>
              <a:t>Two variables)</a:t>
            </a:r>
          </a:p>
          <a:p>
            <a:pPr lvl="1"/>
            <a:r>
              <a:rPr lang="en-US" dirty="0"/>
              <a:t>Multivariate Analysis (</a:t>
            </a:r>
            <a:r>
              <a:rPr lang="en-US" altLang="he-IL" dirty="0"/>
              <a:t>More than two variables)</a:t>
            </a:r>
          </a:p>
          <a:p>
            <a:pPr lvl="2"/>
            <a:r>
              <a:rPr lang="en-US" altLang="he-IL" dirty="0"/>
              <a:t>Dimensionality Reduction</a:t>
            </a:r>
            <a:endParaRPr lang="en-GB" altLang="he-IL" dirty="0"/>
          </a:p>
          <a:p>
            <a:pPr lvl="2"/>
            <a:r>
              <a:rPr lang="en-US" altLang="he-IL" dirty="0"/>
              <a:t>Clustering Analysis </a:t>
            </a:r>
          </a:p>
        </p:txBody>
      </p:sp>
    </p:spTree>
    <p:extLst>
      <p:ext uri="{BB962C8B-B14F-4D97-AF65-F5344CB8AC3E}">
        <p14:creationId xmlns:p14="http://schemas.microsoft.com/office/powerpoint/2010/main" val="248880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EDA and Visualization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772400" cy="47643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dirty="0"/>
              <a:t>Exploratory Data Analysis (EDA) and Visualization are very important steps in any analysis task. </a:t>
            </a:r>
          </a:p>
          <a:p>
            <a:pPr eaLnBrk="1" hangingPunct="1">
              <a:lnSpc>
                <a:spcPct val="90000"/>
              </a:lnSpc>
            </a:pPr>
            <a:endParaRPr lang="en-US" altLang="he-IL" sz="2400" dirty="0"/>
          </a:p>
          <a:p>
            <a:pPr eaLnBrk="1" hangingPunct="1">
              <a:lnSpc>
                <a:spcPct val="90000"/>
              </a:lnSpc>
            </a:pPr>
            <a:r>
              <a:rPr lang="en-US" altLang="he-IL" dirty="0"/>
              <a:t>get to know your data!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distributions (symmetric, normal, skewed)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data quality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outliers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correlations and inter-relationships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subsets of interest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2000" dirty="0"/>
              <a:t>suggest functional relationships</a:t>
            </a:r>
          </a:p>
          <a:p>
            <a:pPr lvl="1" eaLnBrk="1" hangingPunct="1">
              <a:lnSpc>
                <a:spcPct val="90000"/>
              </a:lnSpc>
            </a:pPr>
            <a:endParaRPr lang="en-US" altLang="he-IL" sz="2400" dirty="0"/>
          </a:p>
          <a:p>
            <a:pPr eaLnBrk="1" hangingPunct="1">
              <a:lnSpc>
                <a:spcPct val="90000"/>
              </a:lnSpc>
            </a:pPr>
            <a:r>
              <a:rPr lang="en-US" altLang="he-IL" dirty="0"/>
              <a:t>Sometimes EDA might be the goal!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80743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9236"/>
            <a:ext cx="7763347" cy="332399"/>
          </a:xfrm>
        </p:spPr>
        <p:txBody>
          <a:bodyPr/>
          <a:lstStyle/>
          <a:p>
            <a:pPr eaLnBrk="1" hangingPunct="1"/>
            <a:r>
              <a:rPr lang="en-US" altLang="he-IL" b="1" dirty="0"/>
              <a:t>Exploratory Data Analysis (EDA)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9200"/>
            <a:ext cx="7772400" cy="51891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Goal:  get a general sense of the data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means, medians, quantiles, histograms, boxplots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US" altLang="he-IL" sz="1600" dirty="0"/>
              <a:t>You should always look at every variable - you will learn something!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data-driven (model-free)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Think interactive and visual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Humans are the best pattern recognizers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 You can use more than 2 dimensions!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he-IL" sz="1600" dirty="0" err="1"/>
              <a:t>x,y,z</a:t>
            </a:r>
            <a:r>
              <a:rPr lang="en-US" altLang="he-IL" sz="1600" dirty="0"/>
              <a:t>, space, color, time….</a:t>
            </a:r>
          </a:p>
          <a:p>
            <a:pPr lvl="2" eaLnBrk="1" hangingPunct="1">
              <a:lnSpc>
                <a:spcPct val="90000"/>
              </a:lnSpc>
            </a:pPr>
            <a:endParaRPr lang="en-US" altLang="he-IL" sz="1800" dirty="0"/>
          </a:p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Especially useful in early stages of data mining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detect outliers     (e.g. assess data quality)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test assumptions (e.g. normal distributions or skewed?)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identify useful raw data &amp; transforms (e.g. log(x))</a:t>
            </a:r>
          </a:p>
          <a:p>
            <a:pPr lvl="1" eaLnBrk="1" hangingPunct="1">
              <a:lnSpc>
                <a:spcPct val="90000"/>
              </a:lnSpc>
            </a:pPr>
            <a:endParaRPr lang="en-US" altLang="he-IL" sz="1600" dirty="0"/>
          </a:p>
          <a:p>
            <a:r>
              <a:rPr lang="en-US" altLang="he-IL" dirty="0"/>
              <a:t>Bottom line: it is always well worth looking at your data!</a:t>
            </a:r>
          </a:p>
          <a:p>
            <a:pPr eaLnBrk="1" hangingPunct="1">
              <a:lnSpc>
                <a:spcPct val="90000"/>
              </a:lnSpc>
            </a:pPr>
            <a:endParaRPr lang="en-US" altLang="he-IL" sz="2400" i="1" dirty="0"/>
          </a:p>
        </p:txBody>
      </p:sp>
    </p:spTree>
    <p:extLst>
      <p:ext uri="{BB962C8B-B14F-4D97-AF65-F5344CB8AC3E}">
        <p14:creationId xmlns:p14="http://schemas.microsoft.com/office/powerpoint/2010/main" val="256027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43A57B-E4DC-45AE-A59E-15B27AEB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097456"/>
            <a:ext cx="47815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293C-9F31-FED2-B47B-F5EE85FD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AE4246-12FE-20B6-C086-BEF09AEE2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539" y="525854"/>
            <a:ext cx="7763347" cy="332399"/>
          </a:xfrm>
        </p:spPr>
        <p:txBody>
          <a:bodyPr/>
          <a:lstStyle/>
          <a:p>
            <a:r>
              <a:rPr lang="en-US" altLang="he-IL" b="1" dirty="0"/>
              <a:t>Univariate Analysis 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C842365-1210-4309-6678-375572223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58253"/>
            <a:ext cx="7772400" cy="4404283"/>
          </a:xfrm>
        </p:spPr>
        <p:txBody>
          <a:bodyPr/>
          <a:lstStyle/>
          <a:p>
            <a:endParaRPr lang="en-US" altLang="he-IL" sz="2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800" b="0" dirty="0"/>
              <a:t>Focuses on analyzing a single variable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800" b="0" dirty="0"/>
              <a:t>Helps understanding the variable's distribution, central tendency, and spread.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800" b="0" dirty="0"/>
              <a:t>Techniques: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marL="708660" lvl="1" indent="-342900">
              <a:buFont typeface="+mj-lt"/>
              <a:buAutoNum type="arabicPeriod"/>
            </a:pPr>
            <a:r>
              <a:rPr lang="en-US" altLang="he-IL" sz="1800" b="0" dirty="0"/>
              <a:t>Descriptive statistics (mean, median, mode, variance, standard deviation, skewness).</a:t>
            </a:r>
          </a:p>
          <a:p>
            <a:pPr marL="708660" lvl="1" indent="-342900">
              <a:buFont typeface="+mj-lt"/>
              <a:buAutoNum type="arabicPeriod"/>
            </a:pPr>
            <a:endParaRPr lang="en-US" altLang="he-IL" sz="1800" b="0" dirty="0"/>
          </a:p>
          <a:p>
            <a:pPr marL="708660" lvl="1" indent="-342900">
              <a:buFont typeface="+mj-lt"/>
              <a:buAutoNum type="arabicPeriod"/>
            </a:pPr>
            <a:r>
              <a:rPr lang="en-US" altLang="he-IL" sz="1800" b="0" dirty="0"/>
              <a:t>Visualizations (histograms, box plots, frequency </a:t>
            </a:r>
            <a:r>
              <a:rPr lang="en-US" altLang="he-IL" sz="1800" dirty="0"/>
              <a:t>t</a:t>
            </a:r>
            <a:r>
              <a:rPr lang="en-US" altLang="he-IL" sz="1800" b="0" dirty="0"/>
              <a:t>able, bar charts, pie charts).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he-IL" sz="1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370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D41F-E5F0-3553-38ED-5BF48063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6BCF8851-61F3-ECCA-BEB5-56AEEAAE54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9721" y="577517"/>
            <a:ext cx="7772400" cy="5235279"/>
          </a:xfrm>
        </p:spPr>
        <p:txBody>
          <a:bodyPr/>
          <a:lstStyle/>
          <a:p>
            <a:endParaRPr lang="en-US" altLang="he-IL" sz="2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800" b="0" dirty="0"/>
              <a:t>Central tendency measures (mean, median, mode)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lvl="2"/>
            <a:r>
              <a:rPr lang="en-US" altLang="he-IL" dirty="0"/>
              <a:t>mean:   </a:t>
            </a:r>
            <a:r>
              <a:rPr lang="en-US" altLang="he-IL" dirty="0">
                <a:sym typeface="Symbol" panose="05050102010706020507" pitchFamily="18" charset="2"/>
              </a:rPr>
              <a:t> = </a:t>
            </a:r>
            <a:r>
              <a:rPr lang="en-US" altLang="he-IL" baseline="-25000" dirty="0" err="1">
                <a:sym typeface="Symbol" panose="05050102010706020507" pitchFamily="18" charset="2"/>
              </a:rPr>
              <a:t>i</a:t>
            </a:r>
            <a:r>
              <a:rPr lang="en-US" altLang="he-IL" dirty="0">
                <a:sym typeface="Symbol" panose="05050102010706020507" pitchFamily="18" charset="2"/>
              </a:rPr>
              <a:t> X</a:t>
            </a:r>
            <a:r>
              <a:rPr lang="en-US" altLang="he-IL" baseline="-25000" dirty="0">
                <a:sym typeface="Symbol" panose="05050102010706020507" pitchFamily="18" charset="2"/>
              </a:rPr>
              <a:t>i </a:t>
            </a:r>
            <a:r>
              <a:rPr lang="en-US" altLang="he-IL" dirty="0">
                <a:sym typeface="Symbol" panose="05050102010706020507" pitchFamily="18" charset="2"/>
              </a:rPr>
              <a:t>/ n                    </a:t>
            </a:r>
          </a:p>
          <a:p>
            <a:pPr lvl="2"/>
            <a:r>
              <a:rPr lang="en-US" altLang="he-IL" dirty="0">
                <a:sym typeface="Symbol" panose="05050102010706020507" pitchFamily="18" charset="2"/>
              </a:rPr>
              <a:t>mode: most common value in X</a:t>
            </a:r>
          </a:p>
          <a:p>
            <a:pPr lvl="2"/>
            <a:r>
              <a:rPr lang="en-US" altLang="he-IL" dirty="0">
                <a:sym typeface="Symbol" panose="05050102010706020507" pitchFamily="18" charset="2"/>
              </a:rPr>
              <a:t>median: </a:t>
            </a:r>
            <a:r>
              <a:rPr lang="en-US" altLang="he-IL" b="1" dirty="0">
                <a:sym typeface="Symbol" panose="05050102010706020507" pitchFamily="18" charset="2"/>
              </a:rPr>
              <a:t>X</a:t>
            </a:r>
            <a:r>
              <a:rPr lang="en-US" altLang="he-IL" dirty="0">
                <a:sym typeface="Symbol" panose="05050102010706020507" pitchFamily="18" charset="2"/>
              </a:rPr>
              <a:t>=sort(X), median = </a:t>
            </a:r>
            <a:r>
              <a:rPr lang="en-US" altLang="he-IL" b="1" dirty="0" err="1">
                <a:sym typeface="Symbol" panose="05050102010706020507" pitchFamily="18" charset="2"/>
              </a:rPr>
              <a:t>X</a:t>
            </a:r>
            <a:r>
              <a:rPr lang="en-US" altLang="he-IL" baseline="-25000" dirty="0" err="1">
                <a:sym typeface="Symbol" panose="05050102010706020507" pitchFamily="18" charset="2"/>
              </a:rPr>
              <a:t>n</a:t>
            </a:r>
            <a:r>
              <a:rPr lang="en-US" altLang="he-IL" baseline="-25000" dirty="0">
                <a:sym typeface="Symbol" panose="05050102010706020507" pitchFamily="18" charset="2"/>
              </a:rPr>
              <a:t>/2</a:t>
            </a:r>
            <a:r>
              <a:rPr lang="en-US" altLang="he-IL" dirty="0">
                <a:sym typeface="Symbol" panose="05050102010706020507" pitchFamily="18" charset="2"/>
              </a:rPr>
              <a:t> (half below, half above)</a:t>
            </a:r>
            <a:endParaRPr lang="en-US" altLang="he-IL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800" b="0" dirty="0"/>
              <a:t>Dispersion measures (range, variance, standard deviation)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lvl="2"/>
            <a:r>
              <a:rPr lang="en-US" altLang="he-IL" dirty="0">
                <a:sym typeface="Symbol" panose="05050102010706020507" pitchFamily="18" charset="2"/>
              </a:rPr>
              <a:t>variance: </a:t>
            </a:r>
            <a:r>
              <a:rPr lang="en-US" altLang="he-IL" baseline="30000" dirty="0">
                <a:sym typeface="Symbol" panose="05050102010706020507" pitchFamily="18" charset="2"/>
              </a:rPr>
              <a:t>2  </a:t>
            </a:r>
            <a:r>
              <a:rPr lang="en-US" altLang="he-IL" dirty="0">
                <a:sym typeface="Symbol" panose="05050102010706020507" pitchFamily="18" charset="2"/>
              </a:rPr>
              <a:t>= </a:t>
            </a:r>
            <a:r>
              <a:rPr lang="en-US" altLang="he-IL" baseline="-25000" dirty="0" err="1">
                <a:sym typeface="Symbol" panose="05050102010706020507" pitchFamily="18" charset="2"/>
              </a:rPr>
              <a:t>i</a:t>
            </a:r>
            <a:r>
              <a:rPr lang="en-US" altLang="he-IL" dirty="0">
                <a:sym typeface="Symbol" panose="05050102010706020507" pitchFamily="18" charset="2"/>
              </a:rPr>
              <a:t> (X</a:t>
            </a:r>
            <a:r>
              <a:rPr lang="en-US" altLang="he-IL" baseline="-25000" dirty="0">
                <a:sym typeface="Symbol" panose="05050102010706020507" pitchFamily="18" charset="2"/>
              </a:rPr>
              <a:t>i </a:t>
            </a:r>
            <a:r>
              <a:rPr lang="en-US" altLang="he-IL" dirty="0">
                <a:sym typeface="Symbol" panose="05050102010706020507" pitchFamily="18" charset="2"/>
              </a:rPr>
              <a:t>- </a:t>
            </a:r>
            <a:r>
              <a:rPr lang="en-US" altLang="he-IL" u="sng" dirty="0">
                <a:sym typeface="Symbol" panose="05050102010706020507" pitchFamily="18" charset="2"/>
              </a:rPr>
              <a:t></a:t>
            </a:r>
            <a:r>
              <a:rPr lang="en-US" altLang="he-IL" dirty="0">
                <a:sym typeface="Symbol" panose="05050102010706020507" pitchFamily="18" charset="2"/>
              </a:rPr>
              <a:t>)</a:t>
            </a:r>
            <a:r>
              <a:rPr lang="en-US" altLang="he-IL" baseline="30000" dirty="0">
                <a:sym typeface="Symbol" panose="05050102010706020507" pitchFamily="18" charset="2"/>
              </a:rPr>
              <a:t>2 </a:t>
            </a:r>
            <a:r>
              <a:rPr lang="en-US" altLang="he-IL" dirty="0">
                <a:sym typeface="Symbol" panose="05050102010706020507" pitchFamily="18" charset="2"/>
              </a:rPr>
              <a:t>/ n  </a:t>
            </a:r>
          </a:p>
          <a:p>
            <a:pPr lvl="2"/>
            <a:r>
              <a:rPr lang="en-US" altLang="he-IL" dirty="0">
                <a:sym typeface="Symbol" panose="05050102010706020507" pitchFamily="18" charset="2"/>
              </a:rPr>
              <a:t>skewness: </a:t>
            </a:r>
            <a:r>
              <a:rPr lang="en-US" altLang="he-IL" baseline="-25000" dirty="0" err="1">
                <a:sym typeface="Symbol" panose="05050102010706020507" pitchFamily="18" charset="2"/>
              </a:rPr>
              <a:t>i</a:t>
            </a:r>
            <a:r>
              <a:rPr lang="en-US" altLang="he-IL" dirty="0">
                <a:sym typeface="Symbol" panose="05050102010706020507" pitchFamily="18" charset="2"/>
              </a:rPr>
              <a:t> (X</a:t>
            </a:r>
            <a:r>
              <a:rPr lang="en-US" altLang="he-IL" baseline="-25000" dirty="0">
                <a:sym typeface="Symbol" panose="05050102010706020507" pitchFamily="18" charset="2"/>
              </a:rPr>
              <a:t>i </a:t>
            </a:r>
            <a:r>
              <a:rPr lang="en-US" altLang="he-IL" dirty="0">
                <a:sym typeface="Symbol" panose="05050102010706020507" pitchFamily="18" charset="2"/>
              </a:rPr>
              <a:t>- )</a:t>
            </a:r>
            <a:r>
              <a:rPr lang="en-US" altLang="he-IL" baseline="30000" dirty="0">
                <a:sym typeface="Symbol" panose="05050102010706020507" pitchFamily="18" charset="2"/>
              </a:rPr>
              <a:t>3</a:t>
            </a:r>
            <a:r>
              <a:rPr lang="en-US" altLang="he-IL" dirty="0">
                <a:sym typeface="Symbol" panose="05050102010706020507" pitchFamily="18" charset="2"/>
              </a:rPr>
              <a:t>  /  [ (</a:t>
            </a:r>
            <a:r>
              <a:rPr lang="en-US" altLang="he-IL" baseline="-25000" dirty="0" err="1">
                <a:sym typeface="Symbol" panose="05050102010706020507" pitchFamily="18" charset="2"/>
              </a:rPr>
              <a:t>i</a:t>
            </a:r>
            <a:r>
              <a:rPr lang="en-US" altLang="he-IL" dirty="0">
                <a:sym typeface="Symbol" panose="05050102010706020507" pitchFamily="18" charset="2"/>
              </a:rPr>
              <a:t> (X</a:t>
            </a:r>
            <a:r>
              <a:rPr lang="en-US" altLang="he-IL" baseline="-25000" dirty="0">
                <a:sym typeface="Symbol" panose="05050102010706020507" pitchFamily="18" charset="2"/>
              </a:rPr>
              <a:t>i </a:t>
            </a:r>
            <a:r>
              <a:rPr lang="en-US" altLang="he-IL" dirty="0">
                <a:sym typeface="Symbol" panose="05050102010706020507" pitchFamily="18" charset="2"/>
              </a:rPr>
              <a:t>- )</a:t>
            </a:r>
            <a:r>
              <a:rPr lang="en-US" altLang="he-IL" baseline="30000" dirty="0">
                <a:sym typeface="Symbol" panose="05050102010706020507" pitchFamily="18" charset="2"/>
              </a:rPr>
              <a:t>2</a:t>
            </a:r>
            <a:r>
              <a:rPr lang="en-US" altLang="he-IL" dirty="0">
                <a:sym typeface="Symbol" panose="05050102010706020507" pitchFamily="18" charset="2"/>
              </a:rPr>
              <a:t>)</a:t>
            </a:r>
            <a:r>
              <a:rPr lang="en-US" altLang="he-IL" baseline="30000" dirty="0">
                <a:sym typeface="Symbol" panose="05050102010706020507" pitchFamily="18" charset="2"/>
              </a:rPr>
              <a:t>3/2 </a:t>
            </a:r>
            <a:r>
              <a:rPr lang="en-US" altLang="he-IL" dirty="0">
                <a:sym typeface="Symbol" panose="05050102010706020507" pitchFamily="18" charset="2"/>
              </a:rPr>
              <a:t>] </a:t>
            </a:r>
          </a:p>
          <a:p>
            <a:pPr marL="441325" lvl="2" indent="0">
              <a:buNone/>
            </a:pPr>
            <a:r>
              <a:rPr lang="en-US" altLang="he-IL" dirty="0">
                <a:sym typeface="Symbol" panose="05050102010706020507" pitchFamily="18" charset="2"/>
              </a:rPr>
              <a:t>zero if symmetric; right-skewed more common (what kind of data is right skewed?)</a:t>
            </a:r>
          </a:p>
          <a:p>
            <a:pPr lvl="2"/>
            <a:endParaRPr lang="en-US" altLang="he-IL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800" b="0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E21A5E9E-16E9-8699-511F-ED1D9209E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374" y="4741280"/>
            <a:ext cx="3370263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5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b="1" dirty="0"/>
              <a:t>Single Variable Visualization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20742"/>
            <a:ext cx="7772400" cy="160659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dirty="0"/>
              <a:t>Histogram: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 dirty="0"/>
              <a:t>Shows center, variability, skewness, modality,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 dirty="0"/>
              <a:t>outliers, or strange patterns.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 dirty="0"/>
              <a:t>Bin width and position matter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 dirty="0"/>
              <a:t>Beware of real zeros</a:t>
            </a:r>
          </a:p>
        </p:txBody>
      </p:sp>
      <p:pic>
        <p:nvPicPr>
          <p:cNvPr id="819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33528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276600"/>
            <a:ext cx="34036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3352800"/>
            <a:ext cx="3219450" cy="257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4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87468"/>
            <a:ext cx="7763347" cy="332399"/>
          </a:xfrm>
        </p:spPr>
        <p:txBody>
          <a:bodyPr/>
          <a:lstStyle/>
          <a:p>
            <a:pPr eaLnBrk="1" hangingPunct="1"/>
            <a:r>
              <a:rPr lang="en-US" altLang="he-IL" b="1" dirty="0"/>
              <a:t>Limitation with Histograms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2511457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he-IL" b="0" dirty="0"/>
              <a:t>For small data sets, histograms can be misleading.  </a:t>
            </a:r>
          </a:p>
          <a:p>
            <a:pPr lvl="2"/>
            <a:r>
              <a:rPr lang="en-US" altLang="he-IL" dirty="0"/>
              <a:t>Small changes in the data, bins, or anchor can deceive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altLang="he-I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Histograms do not directly show </a:t>
            </a:r>
            <a:r>
              <a:rPr lang="en-US" dirty="0"/>
              <a:t>mean, median, quartiles, or outliers</a:t>
            </a:r>
            <a:r>
              <a:rPr lang="en-US" b="0" dirty="0"/>
              <a:t>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altLang="he-IL" sz="24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he-IL" b="0" dirty="0"/>
              <a:t>Histograms effectively only work with 1 variable at a time</a:t>
            </a:r>
          </a:p>
        </p:txBody>
      </p:sp>
    </p:spTree>
    <p:extLst>
      <p:ext uri="{BB962C8B-B14F-4D97-AF65-F5344CB8AC3E}">
        <p14:creationId xmlns:p14="http://schemas.microsoft.com/office/powerpoint/2010/main" val="128996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96" y="1675041"/>
            <a:ext cx="4170363" cy="305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F9820CA-E70D-4F27-86F6-EAA232921B3C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52400"/>
            <a:ext cx="7772400" cy="1143000"/>
          </a:xfrm>
          <a:prstGeom prst="rect">
            <a:avLst/>
          </a:prstGeom>
        </p:spPr>
        <p:txBody>
          <a:bodyPr/>
          <a:lstStyle>
            <a:lvl1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0" baseline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defTabSz="102076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he-IL" kern="0" dirty="0"/>
              <a:t>Smoothed Histograms - Density Estimates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A0187-1534-AF01-2652-8284588C62D3}"/>
              </a:ext>
            </a:extLst>
          </p:cNvPr>
          <p:cNvSpPr txBox="1"/>
          <p:nvPr/>
        </p:nvSpPr>
        <p:spPr>
          <a:xfrm>
            <a:off x="954504" y="907747"/>
            <a:ext cx="6440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94957"/>
                </a:solidFill>
                <a:latin typeface="+mj-lt"/>
              </a:rPr>
              <a:t>Showcases underlying probability density function rather than simply counting data points in bins.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852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Boxplots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3886200" cy="350865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Shows a lot of information about a variable in one plot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Median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IQR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Outliers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Range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600" dirty="0"/>
              <a:t>Skewness</a:t>
            </a:r>
          </a:p>
          <a:p>
            <a:pPr lvl="1" eaLnBrk="1" hangingPunct="1">
              <a:lnSpc>
                <a:spcPct val="90000"/>
              </a:lnSpc>
            </a:pPr>
            <a:endParaRPr lang="en-US" altLang="he-IL" sz="1600" dirty="0"/>
          </a:p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Negatives</a:t>
            </a:r>
          </a:p>
          <a:p>
            <a:pPr lvl="1"/>
            <a:r>
              <a:rPr lang="en-US" sz="1600" dirty="0"/>
              <a:t>Loss of distribution detail</a:t>
            </a:r>
          </a:p>
          <a:p>
            <a:pPr lvl="1"/>
            <a:r>
              <a:rPr lang="en-US" sz="1600" dirty="0"/>
              <a:t>May be misleading with few data points</a:t>
            </a:r>
            <a:endParaRPr lang="en-US" altLang="he-IL" sz="1600" dirty="0"/>
          </a:p>
        </p:txBody>
      </p:sp>
      <p:pic>
        <p:nvPicPr>
          <p:cNvPr id="1331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832" y="1391821"/>
            <a:ext cx="3986213" cy="346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161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0486E0-2EC2-4FB3-B4E7-ED8409FB5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59" y="3179201"/>
            <a:ext cx="3546560" cy="2959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D1ACE-8543-42AE-AC8B-8C961529E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19" y="361949"/>
            <a:ext cx="6467475" cy="2554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15BAD7-6239-4C36-BC5A-C5EC660AD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76" y="3017530"/>
            <a:ext cx="4478600" cy="309562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A877A0E-65DB-445D-ACAF-0EFB12D9C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6" y="6407274"/>
            <a:ext cx="3457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Source: https://towardsdatascience.com/ </a:t>
            </a:r>
          </a:p>
        </p:txBody>
      </p:sp>
    </p:spTree>
    <p:extLst>
      <p:ext uri="{BB962C8B-B14F-4D97-AF65-F5344CB8AC3E}">
        <p14:creationId xmlns:p14="http://schemas.microsoft.com/office/powerpoint/2010/main" val="36028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5D94-6DE4-FBDC-B248-029B02EB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83EE3CBF-6E02-3931-171B-AE8F2399A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8900" y="2205790"/>
            <a:ext cx="7772400" cy="1477328"/>
          </a:xfrm>
        </p:spPr>
        <p:txBody>
          <a:bodyPr/>
          <a:lstStyle/>
          <a:p>
            <a:endParaRPr lang="en-US" altLang="he-IL" sz="2400" i="1" dirty="0"/>
          </a:p>
          <a:p>
            <a:pPr lvl="1" indent="0">
              <a:buNone/>
            </a:pPr>
            <a:r>
              <a:rPr lang="en-US" altLang="he-IL" sz="2800" b="1" dirty="0"/>
              <a:t>        What If variable is categorical ??</a:t>
            </a:r>
          </a:p>
          <a:p>
            <a:pPr marL="651510" lvl="1" indent="-285750"/>
            <a:endParaRPr lang="en-US" altLang="he-IL" sz="1800" dirty="0"/>
          </a:p>
          <a:p>
            <a:pPr lvl="1" indent="0">
              <a:buNone/>
            </a:pPr>
            <a:endParaRPr lang="en-US" altLang="he-IL" sz="16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A1533-EC19-1958-B5DA-E2EAD2916640}"/>
              </a:ext>
            </a:extLst>
          </p:cNvPr>
          <p:cNvSpPr txBox="1"/>
          <p:nvPr/>
        </p:nvSpPr>
        <p:spPr>
          <a:xfrm>
            <a:off x="818900" y="498502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0">
              <a:buNone/>
            </a:pPr>
            <a:r>
              <a:rPr lang="en-US" sz="1200" dirty="0"/>
              <a:t>Examples of categorical variables </a:t>
            </a:r>
          </a:p>
          <a:p>
            <a:pPr marL="912813" lvl="2" indent="-285750">
              <a:buFont typeface="Arial" panose="020B0604020202020204" pitchFamily="34" charset="0"/>
              <a:buChar char="•"/>
            </a:pPr>
            <a:r>
              <a:rPr lang="en-US" altLang="he-IL" sz="1200" dirty="0"/>
              <a:t>Nationality</a:t>
            </a:r>
          </a:p>
          <a:p>
            <a:pPr marL="912813" lvl="2" indent="-285750">
              <a:buFont typeface="Arial" panose="020B0604020202020204" pitchFamily="34" charset="0"/>
              <a:buChar char="•"/>
            </a:pPr>
            <a:r>
              <a:rPr lang="en-US" altLang="he-IL" sz="1200" dirty="0"/>
              <a:t>customer's satisfaction</a:t>
            </a:r>
          </a:p>
          <a:p>
            <a:pPr marL="912813" lvl="2" indent="-285750">
              <a:buFont typeface="Arial" panose="020B0604020202020204" pitchFamily="34" charset="0"/>
              <a:buChar char="•"/>
            </a:pPr>
            <a:r>
              <a:rPr lang="en-US" altLang="he-IL" sz="1200" dirty="0"/>
              <a:t>Organization name</a:t>
            </a:r>
          </a:p>
          <a:p>
            <a:pPr marL="912813" lvl="2" indent="-285750">
              <a:buFont typeface="Arial" panose="020B0604020202020204" pitchFamily="34" charset="0"/>
              <a:buChar char="•"/>
            </a:pPr>
            <a:r>
              <a:rPr lang="en-US" altLang="he-IL" sz="1200" dirty="0"/>
              <a:t>job titles</a:t>
            </a:r>
          </a:p>
          <a:p>
            <a:pPr marL="912813" lvl="2" indent="-285750">
              <a:buFont typeface="Arial" panose="020B0604020202020204" pitchFamily="34" charset="0"/>
              <a:buChar char="•"/>
            </a:pPr>
            <a:r>
              <a:rPr lang="en-US" altLang="he-IL" sz="1200" dirty="0"/>
              <a:t>Blood type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5627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5B016-7C45-F98D-C264-F72EBD93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56783B8A-BF1D-5E83-1D1D-1D4376879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264695"/>
            <a:ext cx="7772400" cy="6260175"/>
          </a:xfrm>
        </p:spPr>
        <p:txBody>
          <a:bodyPr/>
          <a:lstStyle/>
          <a:p>
            <a:pPr lvl="1" indent="0">
              <a:buNone/>
            </a:pPr>
            <a:endParaRPr lang="en-US" dirty="0"/>
          </a:p>
          <a:p>
            <a:pPr marL="651510" lvl="1" indent="-285750"/>
            <a:r>
              <a:rPr lang="en-US" dirty="0"/>
              <a:t>Frequency Table</a:t>
            </a:r>
          </a:p>
          <a:p>
            <a:pPr marL="651510" lvl="1" indent="-285750"/>
            <a:endParaRPr lang="en-US" dirty="0"/>
          </a:p>
          <a:p>
            <a:pPr marL="651510" lvl="1" indent="-285750"/>
            <a:endParaRPr lang="en-US" dirty="0"/>
          </a:p>
          <a:p>
            <a:pPr marL="651510" lvl="1" indent="-285750"/>
            <a:endParaRPr lang="en-US" dirty="0"/>
          </a:p>
          <a:p>
            <a:pPr marL="651510" lvl="1" indent="-285750"/>
            <a:r>
              <a:rPr lang="en-US" dirty="0"/>
              <a:t>Bar charts </a:t>
            </a:r>
          </a:p>
          <a:p>
            <a:pPr marL="651510" lvl="1" indent="-285750"/>
            <a:endParaRPr lang="en-US" dirty="0"/>
          </a:p>
          <a:p>
            <a:pPr marL="651510" lvl="1" indent="-285750"/>
            <a:endParaRPr lang="en-US" dirty="0"/>
          </a:p>
          <a:p>
            <a:pPr marL="651510" lvl="1" indent="-285750"/>
            <a:endParaRPr lang="en-US" dirty="0"/>
          </a:p>
          <a:p>
            <a:pPr marL="651510" lvl="1" indent="-285750"/>
            <a:endParaRPr lang="en-US" dirty="0"/>
          </a:p>
          <a:p>
            <a:pPr lvl="1" indent="0">
              <a:buNone/>
            </a:pPr>
            <a:endParaRPr lang="en-US" dirty="0"/>
          </a:p>
          <a:p>
            <a:pPr marL="708660" lvl="1" indent="-342900"/>
            <a:r>
              <a:rPr lang="en-US" dirty="0"/>
              <a:t>Pie charts</a:t>
            </a:r>
          </a:p>
          <a:p>
            <a:pPr marL="651510" lvl="1" indent="-285750"/>
            <a:endParaRPr lang="en-US" altLang="he-IL" sz="1800" dirty="0"/>
          </a:p>
          <a:p>
            <a:pPr marL="651510" lvl="1" indent="-285750"/>
            <a:endParaRPr lang="en-US" altLang="he-IL" sz="1800" dirty="0"/>
          </a:p>
          <a:p>
            <a:pPr marL="651510" lvl="1" indent="-285750"/>
            <a:endParaRPr lang="en-US" altLang="he-IL" sz="1800" dirty="0"/>
          </a:p>
          <a:p>
            <a:pPr marL="651510" lvl="1" indent="-285750"/>
            <a:endParaRPr lang="en-US" altLang="he-IL" sz="1800" dirty="0"/>
          </a:p>
          <a:p>
            <a:pPr marL="651510" lvl="1" indent="-285750"/>
            <a:endParaRPr lang="en-US" altLang="he-IL" sz="1800" dirty="0"/>
          </a:p>
          <a:p>
            <a:pPr lvl="1" indent="0">
              <a:buNone/>
            </a:pPr>
            <a:endParaRPr lang="en-US" altLang="he-IL" sz="1400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D5C16-CCF7-C9E8-D3A5-DE747822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560" y="1001282"/>
            <a:ext cx="2956816" cy="762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6226DC-AABF-A1AA-85CD-A56FF29A2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231" y="2314368"/>
            <a:ext cx="3041752" cy="1912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3372F2-259B-C15C-85D4-E18F76C6A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065" y="4509778"/>
            <a:ext cx="2175117" cy="183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87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b="1" dirty="0"/>
              <a:t>Spatial Data</a:t>
            </a:r>
          </a:p>
        </p:txBody>
      </p:sp>
      <p:sp>
        <p:nvSpPr>
          <p:cNvPr id="16387" name="Content Placeholder 5"/>
          <p:cNvSpPr>
            <a:spLocks noGrp="1"/>
          </p:cNvSpPr>
          <p:nvPr>
            <p:ph idx="1"/>
          </p:nvPr>
        </p:nvSpPr>
        <p:spPr>
          <a:xfrm>
            <a:off x="457200" y="1515978"/>
            <a:ext cx="3200400" cy="1846659"/>
          </a:xfrm>
          <a:ln w="3175">
            <a:solidFill>
              <a:schemeClr val="tx1"/>
            </a:solidFill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600" b="0" dirty="0"/>
              <a:t>If your data has a geographic component, be sure to exploit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600" b="0" dirty="0"/>
              <a:t>Data from cities/states/zip codes – easy to get </a:t>
            </a:r>
            <a:r>
              <a:rPr lang="en-US" altLang="he-IL" sz="1600" b="0" dirty="0" err="1"/>
              <a:t>lat</a:t>
            </a:r>
            <a:r>
              <a:rPr lang="en-US" altLang="he-IL" sz="1600" b="0" dirty="0"/>
              <a:t>/long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sz="1600" b="0" dirty="0"/>
              <a:t>Can plot as scatterplot</a:t>
            </a:r>
          </a:p>
        </p:txBody>
      </p:sp>
      <p:pic>
        <p:nvPicPr>
          <p:cNvPr id="1638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338238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5905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Spatial data: choropleth Maps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5562600"/>
            <a:ext cx="7772400" cy="533400"/>
          </a:xfrm>
        </p:spPr>
        <p:txBody>
          <a:bodyPr/>
          <a:lstStyle/>
          <a:p>
            <a:r>
              <a:rPr lang="en-US" altLang="he-IL" sz="2000" dirty="0"/>
              <a:t>Maps using color shadings to represent numerical values are called </a:t>
            </a:r>
            <a:r>
              <a:rPr lang="en-US" altLang="he-IL" sz="2000" dirty="0" err="1"/>
              <a:t>chloropleth</a:t>
            </a:r>
            <a:r>
              <a:rPr lang="en-US" altLang="he-IL" sz="2000" dirty="0"/>
              <a:t> maps</a:t>
            </a:r>
            <a:endParaRPr lang="en-US" altLang="he-IL" sz="2000" dirty="0">
              <a:hlinkClick r:id="rId2"/>
            </a:endParaRPr>
          </a:p>
          <a:p>
            <a:r>
              <a:rPr lang="en-US" altLang="he-IL" sz="2000" dirty="0">
                <a:hlinkClick r:id="rId2"/>
              </a:rPr>
              <a:t>http://elections.nytimes.com/2008/results/president/map.html</a:t>
            </a:r>
            <a:endParaRPr lang="en-US" altLang="he-IL" sz="2000" dirty="0"/>
          </a:p>
          <a:p>
            <a:endParaRPr lang="en-US" altLang="he-IL" dirty="0"/>
          </a:p>
          <a:p>
            <a:endParaRPr lang="en-US" altLang="he-IL" dirty="0"/>
          </a:p>
        </p:txBody>
      </p:sp>
      <p:pic>
        <p:nvPicPr>
          <p:cNvPr id="1741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53" y="847677"/>
            <a:ext cx="5282705" cy="368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D0B005-39AE-4CE0-A5A6-5ED59CE4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3" y="4684067"/>
            <a:ext cx="7614733" cy="77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05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Two Continuous Variables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467600" cy="1371600"/>
          </a:xfrm>
        </p:spPr>
        <p:txBody>
          <a:bodyPr/>
          <a:lstStyle/>
          <a:p>
            <a:pPr eaLnBrk="1" hangingPunct="1"/>
            <a:r>
              <a:rPr lang="en-US" altLang="he-IL"/>
              <a:t>For two numeric variables, the scatterplot is the obvious choice</a:t>
            </a:r>
          </a:p>
        </p:txBody>
      </p:sp>
      <p:grpSp>
        <p:nvGrpSpPr>
          <p:cNvPr id="18437" name="Group 12"/>
          <p:cNvGrpSpPr>
            <a:grpSpLocks/>
          </p:cNvGrpSpPr>
          <p:nvPr/>
        </p:nvGrpSpPr>
        <p:grpSpPr bwMode="auto">
          <a:xfrm>
            <a:off x="533400" y="2438400"/>
            <a:ext cx="8208963" cy="3852863"/>
            <a:chOff x="609600" y="2362200"/>
            <a:chExt cx="8208963" cy="3852863"/>
          </a:xfrm>
        </p:grpSpPr>
        <p:pic>
          <p:nvPicPr>
            <p:cNvPr id="18438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000" y="2362200"/>
              <a:ext cx="4160838" cy="3852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9" name="AutoShape 6"/>
            <p:cNvSpPr>
              <a:spLocks noChangeArrowheads="1"/>
            </p:cNvSpPr>
            <p:nvPr/>
          </p:nvSpPr>
          <p:spPr bwMode="auto">
            <a:xfrm>
              <a:off x="5334000" y="4648200"/>
              <a:ext cx="1066800" cy="914400"/>
            </a:xfrm>
            <a:prstGeom prst="octagon">
              <a:avLst>
                <a:gd name="adj" fmla="val 292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he-IL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8440" name="Line 7"/>
            <p:cNvSpPr>
              <a:spLocks noChangeShapeType="1"/>
            </p:cNvSpPr>
            <p:nvPr/>
          </p:nvSpPr>
          <p:spPr bwMode="auto">
            <a:xfrm>
              <a:off x="6400800" y="51054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AutoShape 8"/>
            <p:cNvSpPr>
              <a:spLocks noChangeArrowheads="1"/>
            </p:cNvSpPr>
            <p:nvPr/>
          </p:nvSpPr>
          <p:spPr bwMode="auto">
            <a:xfrm>
              <a:off x="3124200" y="3886200"/>
              <a:ext cx="1066800" cy="914400"/>
            </a:xfrm>
            <a:prstGeom prst="octagon">
              <a:avLst>
                <a:gd name="adj" fmla="val 292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he-IL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2057400" y="43434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609600" y="4191000"/>
              <a:ext cx="11985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he-IL" sz="1400">
                  <a:latin typeface="Lucida Bright" panose="02040602050505020304" pitchFamily="18" charset="0"/>
                </a:rPr>
                <a:t>interesting?</a:t>
              </a:r>
              <a:endParaRPr lang="en-US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8444" name="Text Box 12"/>
            <p:cNvSpPr txBox="1">
              <a:spLocks noChangeArrowheads="1"/>
            </p:cNvSpPr>
            <p:nvPr/>
          </p:nvSpPr>
          <p:spPr bwMode="auto">
            <a:xfrm>
              <a:off x="7620000" y="5029200"/>
              <a:ext cx="11985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he-IL" sz="1400">
                  <a:latin typeface="Lucida Bright" panose="02040602050505020304" pitchFamily="18" charset="0"/>
                </a:rPr>
                <a:t>interesting?</a:t>
              </a:r>
              <a:endParaRPr lang="en-US" altLang="he-IL" sz="2400">
                <a:latin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5135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8"/>
          <p:cNvGrpSpPr>
            <a:grpSpLocks/>
          </p:cNvGrpSpPr>
          <p:nvPr/>
        </p:nvGrpSpPr>
        <p:grpSpPr bwMode="auto">
          <a:xfrm>
            <a:off x="533400" y="3352800"/>
            <a:ext cx="8208963" cy="3090863"/>
            <a:chOff x="609600" y="2362200"/>
            <a:chExt cx="8208963" cy="3852863"/>
          </a:xfrm>
        </p:grpSpPr>
        <p:pic>
          <p:nvPicPr>
            <p:cNvPr id="19464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000" y="2362200"/>
              <a:ext cx="4160838" cy="3852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5" name="AutoShape 6"/>
            <p:cNvSpPr>
              <a:spLocks noChangeArrowheads="1"/>
            </p:cNvSpPr>
            <p:nvPr/>
          </p:nvSpPr>
          <p:spPr bwMode="auto">
            <a:xfrm>
              <a:off x="5334000" y="4648200"/>
              <a:ext cx="1066800" cy="914400"/>
            </a:xfrm>
            <a:prstGeom prst="octagon">
              <a:avLst>
                <a:gd name="adj" fmla="val 292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he-IL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9466" name="Line 7"/>
            <p:cNvSpPr>
              <a:spLocks noChangeShapeType="1"/>
            </p:cNvSpPr>
            <p:nvPr/>
          </p:nvSpPr>
          <p:spPr bwMode="auto">
            <a:xfrm>
              <a:off x="6400800" y="51054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AutoShape 8"/>
            <p:cNvSpPr>
              <a:spLocks noChangeArrowheads="1"/>
            </p:cNvSpPr>
            <p:nvPr/>
          </p:nvSpPr>
          <p:spPr bwMode="auto">
            <a:xfrm>
              <a:off x="3124200" y="3886200"/>
              <a:ext cx="1066800" cy="914400"/>
            </a:xfrm>
            <a:prstGeom prst="octagon">
              <a:avLst>
                <a:gd name="adj" fmla="val 292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he-IL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9468" name="Line 10"/>
            <p:cNvSpPr>
              <a:spLocks noChangeShapeType="1"/>
            </p:cNvSpPr>
            <p:nvPr/>
          </p:nvSpPr>
          <p:spPr bwMode="auto">
            <a:xfrm flipH="1">
              <a:off x="2057400" y="43434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9" name="Text Box 11"/>
            <p:cNvSpPr txBox="1">
              <a:spLocks noChangeArrowheads="1"/>
            </p:cNvSpPr>
            <p:nvPr/>
          </p:nvSpPr>
          <p:spPr bwMode="auto">
            <a:xfrm>
              <a:off x="609600" y="4191000"/>
              <a:ext cx="1198563" cy="383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he-IL" sz="1400">
                  <a:latin typeface="Lucida Bright" panose="02040602050505020304" pitchFamily="18" charset="0"/>
                </a:rPr>
                <a:t>interesting?</a:t>
              </a:r>
              <a:endParaRPr lang="en-US" altLang="he-IL" sz="2400">
                <a:latin typeface="Times" panose="02020603050405020304" pitchFamily="18" charset="0"/>
              </a:endParaRPr>
            </a:p>
          </p:txBody>
        </p:sp>
        <p:sp>
          <p:nvSpPr>
            <p:cNvPr id="19470" name="Text Box 12"/>
            <p:cNvSpPr txBox="1">
              <a:spLocks noChangeArrowheads="1"/>
            </p:cNvSpPr>
            <p:nvPr/>
          </p:nvSpPr>
          <p:spPr bwMode="auto">
            <a:xfrm>
              <a:off x="7620000" y="5029200"/>
              <a:ext cx="1198563" cy="383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Garamond" panose="02020404030301010803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he-IL" sz="1400">
                  <a:latin typeface="Lucida Bright" panose="02040602050505020304" pitchFamily="18" charset="0"/>
                </a:rPr>
                <a:t>interesting?</a:t>
              </a:r>
              <a:endParaRPr lang="en-US" altLang="he-IL" sz="2400">
                <a:latin typeface="Times" panose="02020603050405020304" pitchFamily="18" charset="0"/>
              </a:endParaRPr>
            </a:p>
          </p:txBody>
        </p:sp>
      </p:grp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2D Scatterplots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371600"/>
            <a:ext cx="3810000" cy="125572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sz="2000" dirty="0"/>
              <a:t>standard tool to display relation between 2 variables</a:t>
            </a:r>
          </a:p>
          <a:p>
            <a:pPr marL="91440" lvl="1" indent="0" eaLnBrk="1" hangingPunct="1">
              <a:lnSpc>
                <a:spcPct val="90000"/>
              </a:lnSpc>
              <a:buNone/>
            </a:pPr>
            <a:endParaRPr lang="en-US" altLang="he-IL" sz="1800" dirty="0"/>
          </a:p>
          <a:p>
            <a:pPr eaLnBrk="1" hangingPunct="1">
              <a:lnSpc>
                <a:spcPct val="90000"/>
              </a:lnSpc>
            </a:pPr>
            <a:endParaRPr lang="en-US" altLang="he-IL" sz="2000" dirty="0"/>
          </a:p>
        </p:txBody>
      </p:sp>
      <p:sp>
        <p:nvSpPr>
          <p:cNvPr id="19461" name="Content Placeholder 16"/>
          <p:cNvSpPr>
            <a:spLocks noGrp="1"/>
          </p:cNvSpPr>
          <p:nvPr>
            <p:ph sz="half" idx="2"/>
          </p:nvPr>
        </p:nvSpPr>
        <p:spPr>
          <a:xfrm>
            <a:off x="4953000" y="1371600"/>
            <a:ext cx="38100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he-IL" sz="2000"/>
              <a:t>useful to answer: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/>
              <a:t>x,y related?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he-IL" sz="1600"/>
              <a:t>linear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he-IL" sz="1600"/>
              <a:t>quadratic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he-IL" sz="1600"/>
              <a:t>other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/>
              <a:t>variance(y) depend on x?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he-IL" sz="1800"/>
              <a:t>outliers present?</a:t>
            </a:r>
          </a:p>
          <a:p>
            <a:endParaRPr lang="en-US" altLang="he-IL"/>
          </a:p>
        </p:txBody>
      </p:sp>
      <p:sp>
        <p:nvSpPr>
          <p:cNvPr id="19463" name="Text Box 5"/>
          <p:cNvSpPr txBox="1">
            <a:spLocks noChangeArrowheads="1"/>
          </p:cNvSpPr>
          <p:nvPr/>
        </p:nvSpPr>
        <p:spPr bwMode="auto">
          <a:xfrm>
            <a:off x="5103813" y="2082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he-IL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784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Scatter Plot: No apparent relationship</a:t>
            </a:r>
          </a:p>
        </p:txBody>
      </p:sp>
      <p:pic>
        <p:nvPicPr>
          <p:cNvPr id="20484" name="Picture 3" descr="scatplo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371600"/>
            <a:ext cx="58293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89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Scatter Plot: Linear relationship</a:t>
            </a:r>
          </a:p>
        </p:txBody>
      </p:sp>
      <p:pic>
        <p:nvPicPr>
          <p:cNvPr id="21508" name="Picture 3" descr="scatplo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60960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231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Scatter Plot: Quadratic relationship</a:t>
            </a:r>
          </a:p>
        </p:txBody>
      </p:sp>
      <p:pic>
        <p:nvPicPr>
          <p:cNvPr id="22532" name="Picture 3" descr="scatplo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6248400" cy="447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00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Scatter plot: Homoscedastic </a:t>
            </a:r>
          </a:p>
        </p:txBody>
      </p:sp>
      <p:pic>
        <p:nvPicPr>
          <p:cNvPr id="23557" name="Picture 4" descr="scatplo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43000"/>
            <a:ext cx="4876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545C34B9-8106-CC35-F89C-7214CC135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811" y="5378617"/>
            <a:ext cx="76358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Tahoma" panose="020B0604030504040204" pitchFamily="34" charset="0"/>
                <a:cs typeface="Arial" panose="020B0604020202020204" pitchFamily="34" charset="0"/>
              </a:rPr>
              <a:t>variation in </a:t>
            </a:r>
            <a:r>
              <a:rPr lang="en-US" altLang="he-IL" sz="2000" i="1" dirty="0">
                <a:latin typeface="Tahoma" panose="020B0604030504040204" pitchFamily="34" charset="0"/>
                <a:cs typeface="Arial" panose="020B0604020202020204" pitchFamily="34" charset="0"/>
              </a:rPr>
              <a:t>Y</a:t>
            </a:r>
            <a:r>
              <a:rPr lang="en-US" altLang="he-IL" sz="2000" dirty="0">
                <a:latin typeface="Tahoma" panose="020B0604030504040204" pitchFamily="34" charset="0"/>
                <a:cs typeface="Arial" panose="020B0604020202020204" pitchFamily="34" charset="0"/>
              </a:rPr>
              <a:t> is constant with varying value of </a:t>
            </a:r>
            <a:r>
              <a:rPr lang="en-US" altLang="he-IL" sz="2000" i="1" dirty="0">
                <a:latin typeface="Tahoma" panose="020B0604030504040204" pitchFamily="34" charset="0"/>
                <a:cs typeface="Arial" panose="020B0604020202020204" pitchFamily="34" charset="0"/>
              </a:rPr>
              <a:t>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b="1" i="1" dirty="0">
                <a:latin typeface="Tahoma" panose="020B0604030504040204" pitchFamily="34" charset="0"/>
                <a:cs typeface="Arial" panose="020B0604020202020204" pitchFamily="34" charset="0"/>
              </a:rPr>
              <a:t>	</a:t>
            </a:r>
            <a:endParaRPr lang="en-US" altLang="he-IL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58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dirty="0"/>
              <a:t>Scatter plot: Heteroscedastic 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1131136" y="5400723"/>
            <a:ext cx="76358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Tahoma" panose="020B0604030504040204" pitchFamily="34" charset="0"/>
                <a:cs typeface="Arial" panose="020B0604020202020204" pitchFamily="34" charset="0"/>
              </a:rPr>
              <a:t>variation in </a:t>
            </a:r>
            <a:r>
              <a:rPr lang="en-US" altLang="he-IL" sz="2000" i="1" dirty="0">
                <a:latin typeface="Tahoma" panose="020B0604030504040204" pitchFamily="34" charset="0"/>
                <a:cs typeface="Arial" panose="020B0604020202020204" pitchFamily="34" charset="0"/>
              </a:rPr>
              <a:t>Y</a:t>
            </a:r>
            <a:r>
              <a:rPr lang="en-US" altLang="he-IL" sz="2000" dirty="0">
                <a:latin typeface="Tahoma" panose="020B0604030504040204" pitchFamily="34" charset="0"/>
                <a:cs typeface="Arial" panose="020B0604020202020204" pitchFamily="34" charset="0"/>
              </a:rPr>
              <a:t> differs depending on the value of </a:t>
            </a:r>
            <a:r>
              <a:rPr lang="en-US" altLang="he-IL" sz="2000" i="1" dirty="0">
                <a:latin typeface="Tahoma" panose="020B0604030504040204" pitchFamily="34" charset="0"/>
                <a:cs typeface="Arial" panose="020B0604020202020204" pitchFamily="34" charset="0"/>
              </a:rPr>
              <a:t>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b="1" i="1" dirty="0">
                <a:latin typeface="Tahoma" panose="020B0604030504040204" pitchFamily="34" charset="0"/>
                <a:cs typeface="Arial" panose="020B0604020202020204" pitchFamily="34" charset="0"/>
              </a:rPr>
              <a:t>	</a:t>
            </a:r>
            <a:endParaRPr lang="en-US" altLang="he-IL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4581" name="Picture 4" descr="scatplo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19200"/>
            <a:ext cx="54864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9645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Two variables - continuous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59619" y="1265640"/>
            <a:ext cx="7772400" cy="276999"/>
          </a:xfrm>
        </p:spPr>
        <p:txBody>
          <a:bodyPr/>
          <a:lstStyle/>
          <a:p>
            <a:pPr lvl="1"/>
            <a:r>
              <a:rPr lang="en-US" altLang="he-IL" dirty="0"/>
              <a:t>Scatterplots can be bad with lots of data</a:t>
            </a:r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81" y="1808748"/>
            <a:ext cx="6853238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413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Two Variables - one categorical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2819400"/>
          </a:xfrm>
        </p:spPr>
        <p:txBody>
          <a:bodyPr/>
          <a:lstStyle/>
          <a:p>
            <a:pPr eaLnBrk="1" hangingPunct="1"/>
            <a:r>
              <a:rPr lang="en-US" altLang="he-IL" sz="2000" dirty="0"/>
              <a:t>Side by side boxplots are very effective in showing differences in a quantitative variable across factor levels</a:t>
            </a:r>
          </a:p>
          <a:p>
            <a:pPr lvl="1" eaLnBrk="1" hangingPunct="1"/>
            <a:r>
              <a:rPr lang="en-US" altLang="he-IL" sz="1800" dirty="0"/>
              <a:t>tips data</a:t>
            </a:r>
          </a:p>
          <a:p>
            <a:pPr lvl="2" eaLnBrk="1" hangingPunct="1"/>
            <a:r>
              <a:rPr lang="en-US" altLang="he-IL" sz="1600" dirty="0"/>
              <a:t>do men or women tip better</a:t>
            </a:r>
          </a:p>
          <a:p>
            <a:pPr lvl="1" eaLnBrk="1" hangingPunct="1"/>
            <a:r>
              <a:rPr lang="en-US" altLang="he-IL" sz="1800" dirty="0"/>
              <a:t>orchard sprays</a:t>
            </a:r>
          </a:p>
          <a:p>
            <a:pPr lvl="2" eaLnBrk="1" hangingPunct="1"/>
            <a:r>
              <a:rPr lang="en-US" altLang="he-IL" sz="1600" dirty="0"/>
              <a:t>measuring potency of various orchard sprays in repelling honeybees</a:t>
            </a:r>
            <a:endParaRPr lang="en-US" altLang="he-IL" sz="1200" dirty="0"/>
          </a:p>
        </p:txBody>
      </p:sp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1" y="3348790"/>
            <a:ext cx="23431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679" y="3252787"/>
            <a:ext cx="2076450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0756" y="3324977"/>
            <a:ext cx="2122488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510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E32E-6BE9-4997-BD71-7D14F470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9608B-418E-423D-8257-8709EBB8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71" y="1004333"/>
            <a:ext cx="65341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9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9019E8-A965-4849-A780-FF1886F4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9675"/>
            <a:ext cx="6800850" cy="221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AA1057-DFEF-4DA6-9832-D6E14A2E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76" y="3883746"/>
            <a:ext cx="70961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60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581400" cy="762000"/>
          </a:xfrm>
        </p:spPr>
        <p:txBody>
          <a:bodyPr/>
          <a:lstStyle/>
          <a:p>
            <a:pPr eaLnBrk="1" hangingPunct="1"/>
            <a:r>
              <a:rPr lang="en-US" altLang="he-IL"/>
              <a:t>More than two variables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2895600" cy="20313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he-IL" sz="2000" dirty="0"/>
              <a:t>Pairwise scatterplots</a:t>
            </a:r>
            <a:endParaRPr lang="en-US" altLang="he-IL" sz="2000" dirty="0">
              <a:latin typeface="Andale Mono" charset="0"/>
            </a:endParaRPr>
          </a:p>
          <a:p>
            <a:pPr eaLnBrk="1" hangingPunct="1"/>
            <a:endParaRPr lang="en-US" altLang="he-IL" sz="2000" dirty="0">
              <a:latin typeface="Andale Mono" charset="0"/>
            </a:endParaRPr>
          </a:p>
          <a:p>
            <a:pPr eaLnBrk="1" hangingPunct="1"/>
            <a:endParaRPr lang="en-US" altLang="he-IL" sz="2000" dirty="0">
              <a:latin typeface="Andale Mono" charset="0"/>
            </a:endParaRPr>
          </a:p>
          <a:p>
            <a:pPr eaLnBrk="1" hangingPunct="1">
              <a:buFontTx/>
              <a:buNone/>
            </a:pPr>
            <a:endParaRPr lang="en-US" altLang="he-IL" sz="2000" dirty="0"/>
          </a:p>
          <a:p>
            <a:pPr eaLnBrk="1" hangingPunct="1">
              <a:buFontTx/>
              <a:buNone/>
            </a:pPr>
            <a:r>
              <a:rPr lang="en-US" altLang="he-IL" sz="2000" dirty="0"/>
              <a:t>Can be ineffective for categorical data</a:t>
            </a:r>
            <a:endParaRPr lang="en-US" altLang="he-IL" sz="2000" dirty="0">
              <a:latin typeface="Andale Mono" charset="0"/>
            </a:endParaRP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400800"/>
            <a:ext cx="19050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C0FE2D-26FC-46B8-A7AB-A12BA1F88000}" type="slidenum">
              <a:rPr lang="en-US" altLang="he-IL" sz="1400">
                <a:latin typeface="Times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he-IL" sz="1400">
              <a:latin typeface="Times" panose="02020603050405020304" pitchFamily="18" charset="0"/>
            </a:endParaRPr>
          </a:p>
        </p:txBody>
      </p:sp>
      <p:pic>
        <p:nvPicPr>
          <p:cNvPr id="3277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14300"/>
            <a:ext cx="5003800" cy="674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1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496" y="57154"/>
            <a:ext cx="5305926" cy="431279"/>
          </a:xfrm>
        </p:spPr>
        <p:txBody>
          <a:bodyPr/>
          <a:lstStyle/>
          <a:p>
            <a:pPr eaLnBrk="1" hangingPunct="1"/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r>
              <a:rPr lang="en-US" altLang="he-IL" b="1" dirty="0"/>
              <a:t>Dimensionality Reduction</a:t>
            </a: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endParaRPr lang="en-US" altLang="he-IL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526502" y="921458"/>
            <a:ext cx="7772400" cy="43396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he-IL" dirty="0"/>
          </a:p>
          <a:p>
            <a:pPr lvl="1"/>
            <a:r>
              <a:rPr lang="en-US" altLang="he-IL" dirty="0"/>
              <a:t>Stepwise feature elimination</a:t>
            </a:r>
          </a:p>
          <a:p>
            <a:pPr lvl="1"/>
            <a:endParaRPr lang="en-US" altLang="he-IL" dirty="0"/>
          </a:p>
          <a:p>
            <a:pPr lvl="1"/>
            <a:r>
              <a:rPr lang="en-US" altLang="he-IL" dirty="0"/>
              <a:t>Principal Component Analysis (PCA)</a:t>
            </a:r>
          </a:p>
          <a:p>
            <a:pPr lvl="1"/>
            <a:endParaRPr lang="en-US" altLang="he-IL" dirty="0"/>
          </a:p>
          <a:p>
            <a:pPr lvl="1"/>
            <a:endParaRPr lang="en-US" altLang="he-IL" dirty="0"/>
          </a:p>
          <a:p>
            <a:pPr lvl="1" eaLnBrk="1" hangingPunct="1">
              <a:lnSpc>
                <a:spcPct val="90000"/>
              </a:lnSpc>
            </a:pPr>
            <a:endParaRPr lang="en-US" altLang="he-IL" dirty="0"/>
          </a:p>
          <a:p>
            <a:pPr lvl="1" eaLnBrk="1" hangingPunct="1">
              <a:lnSpc>
                <a:spcPct val="90000"/>
              </a:lnSpc>
            </a:pPr>
            <a:endParaRPr lang="en-US" altLang="he-IL" dirty="0"/>
          </a:p>
          <a:p>
            <a:pPr lvl="1" eaLnBrk="1" hangingPunct="1">
              <a:lnSpc>
                <a:spcPct val="90000"/>
              </a:lnSpc>
            </a:pPr>
            <a:endParaRPr lang="en-US" altLang="he-IL" dirty="0"/>
          </a:p>
          <a:p>
            <a:pPr lvl="1" eaLnBrk="1" hangingPunct="1">
              <a:lnSpc>
                <a:spcPct val="90000"/>
              </a:lnSpc>
            </a:pPr>
            <a:endParaRPr lang="en-US" altLang="he-IL" dirty="0"/>
          </a:p>
          <a:p>
            <a:pPr lvl="1" eaLnBrk="1" hangingPunct="1">
              <a:lnSpc>
                <a:spcPct val="90000"/>
              </a:lnSpc>
            </a:pPr>
            <a:endParaRPr lang="en-US" altLang="he-IL" dirty="0"/>
          </a:p>
          <a:p>
            <a:pPr lvl="1"/>
            <a:endParaRPr lang="en-US" altLang="he-IL" dirty="0"/>
          </a:p>
        </p:txBody>
      </p:sp>
      <p:pic>
        <p:nvPicPr>
          <p:cNvPr id="1030" name="Picture 6" descr="Principal Component Analysis second principal">
            <a:extLst>
              <a:ext uri="{FF2B5EF4-FFF2-40B4-BE49-F238E27FC236}">
                <a16:creationId xmlns:a16="http://schemas.microsoft.com/office/drawing/2014/main" id="{2AD3AA2E-084C-FEFF-14C0-23EF824AE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24" y="2490537"/>
            <a:ext cx="7287376" cy="29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47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746A-7E07-E47C-3D49-EF842A1A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A211949-0E5F-6D87-DAF0-BF3F09577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496" y="57154"/>
            <a:ext cx="5305926" cy="431279"/>
          </a:xfrm>
        </p:spPr>
        <p:txBody>
          <a:bodyPr/>
          <a:lstStyle/>
          <a:p>
            <a:pPr eaLnBrk="1" hangingPunct="1"/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r>
              <a:rPr lang="en-US" altLang="he-IL" b="1" dirty="0"/>
              <a:t>Dimensionality Reduction</a:t>
            </a: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br>
              <a:rPr lang="en-US" altLang="he-IL" dirty="0"/>
            </a:br>
            <a:endParaRPr lang="en-US" altLang="he-IL" dirty="0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0AA3E17-7FB8-F9BC-1CF0-3AC0A093D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6502" y="921458"/>
            <a:ext cx="7772400" cy="1754326"/>
          </a:xfrm>
        </p:spPr>
        <p:txBody>
          <a:bodyPr/>
          <a:lstStyle/>
          <a:p>
            <a:pPr marL="91440" lvl="1" indent="0" eaLnBrk="1" hangingPunct="1">
              <a:lnSpc>
                <a:spcPct val="90000"/>
              </a:lnSpc>
              <a:buNone/>
            </a:pPr>
            <a:endParaRPr lang="en-US" altLang="he-IL" dirty="0"/>
          </a:p>
          <a:p>
            <a:pPr lvl="1"/>
            <a:r>
              <a:rPr lang="en-US" altLang="he-IL" dirty="0"/>
              <a:t>T-distributed stochastic neighbor embedding (T-SNE)</a:t>
            </a:r>
          </a:p>
          <a:p>
            <a:pPr lvl="1"/>
            <a:endParaRPr lang="en-US" altLang="he-IL" dirty="0"/>
          </a:p>
          <a:p>
            <a:pPr lvl="1"/>
            <a:endParaRPr lang="en-US" altLang="he-IL" dirty="0"/>
          </a:p>
          <a:p>
            <a:pPr lvl="1"/>
            <a:endParaRPr lang="en-US" alt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78A8E-3AD9-2C04-B799-FC8E6289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50" y="2077934"/>
            <a:ext cx="3162574" cy="1836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7A2470-DA2F-B7F7-F6FB-0E7E883DCA02}"/>
              </a:ext>
            </a:extLst>
          </p:cNvPr>
          <p:cNvSpPr txBox="1"/>
          <p:nvPr/>
        </p:nvSpPr>
        <p:spPr>
          <a:xfrm>
            <a:off x="866273" y="4211052"/>
            <a:ext cx="3930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MNIST database contains 60,000 training images and 10,000 testing images ( 28x28 pixel 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EE6768-466D-AB81-89E4-633653C6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772" y="1713588"/>
            <a:ext cx="2712955" cy="2644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F34FBC-FF49-CBEC-A5AD-694261E02BBC}"/>
              </a:ext>
            </a:extLst>
          </p:cNvPr>
          <p:cNvSpPr txBox="1"/>
          <p:nvPr/>
        </p:nvSpPr>
        <p:spPr>
          <a:xfrm>
            <a:off x="5686926" y="4506102"/>
            <a:ext cx="2975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T-SNE embeddings of MNIST dataset</a:t>
            </a:r>
          </a:p>
        </p:txBody>
      </p:sp>
    </p:spTree>
    <p:extLst>
      <p:ext uri="{BB962C8B-B14F-4D97-AF65-F5344CB8AC3E}">
        <p14:creationId xmlns:p14="http://schemas.microsoft.com/office/powerpoint/2010/main" val="1081679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0" y="209296"/>
            <a:ext cx="5663953" cy="1892826"/>
          </a:xfrm>
        </p:spPr>
        <p:txBody>
          <a:bodyPr/>
          <a:lstStyle/>
          <a:p>
            <a:pPr lvl="1" eaLnBrk="1" hangingPunct="1"/>
            <a:r>
              <a:rPr lang="en-US" altLang="he-IL" b="1" dirty="0"/>
              <a:t>Contour plots</a:t>
            </a:r>
          </a:p>
          <a:p>
            <a:pPr lvl="2"/>
            <a:r>
              <a:rPr lang="en-US" dirty="0"/>
              <a:t>multivariate analysis</a:t>
            </a:r>
          </a:p>
          <a:p>
            <a:pPr lvl="2"/>
            <a:r>
              <a:rPr lang="en-US" dirty="0"/>
              <a:t>visualizing 3-D plots in 2-D space</a:t>
            </a:r>
          </a:p>
          <a:p>
            <a:pPr lvl="2"/>
            <a:r>
              <a:rPr lang="en-US" b="1" dirty="0" err="1"/>
              <a:t>matplotlib.pyplot.contour</a:t>
            </a:r>
            <a:r>
              <a:rPr lang="en-US" b="1" dirty="0"/>
              <a:t>()</a:t>
            </a:r>
            <a:r>
              <a:rPr lang="en-US" dirty="0"/>
              <a:t> are usually useful when </a:t>
            </a:r>
            <a:r>
              <a:rPr lang="en-US" b="1" dirty="0"/>
              <a:t>Z = f(X, Y)</a:t>
            </a:r>
            <a:r>
              <a:rPr lang="en-US" dirty="0"/>
              <a:t> </a:t>
            </a:r>
            <a:r>
              <a:rPr lang="en-US" dirty="0" err="1"/>
              <a:t>i.e</a:t>
            </a:r>
            <a:r>
              <a:rPr lang="en-US" dirty="0"/>
              <a:t> Z changes as a function of input X and Y</a:t>
            </a:r>
            <a:endParaRPr lang="en-US" altLang="he-IL" dirty="0"/>
          </a:p>
          <a:p>
            <a:pPr lvl="1" eaLnBrk="1" hangingPunct="1"/>
            <a:endParaRPr lang="en-US" alt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6631B-083C-4F7C-9716-4AB5306E4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26" y="2902999"/>
            <a:ext cx="3500484" cy="2831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94C617-F2C3-491A-BDF6-C997EF5E8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3" y="518129"/>
            <a:ext cx="3344294" cy="185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06039-C90C-4B5A-896E-ECB2D2080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160" y="2902999"/>
            <a:ext cx="4621776" cy="28319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09B2EC-0A92-4ABA-B819-C657CEB43816}"/>
              </a:ext>
            </a:extLst>
          </p:cNvPr>
          <p:cNvSpPr txBox="1"/>
          <p:nvPr/>
        </p:nvSpPr>
        <p:spPr>
          <a:xfrm>
            <a:off x="685800" y="6141068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Source: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GISGeography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72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/>
              <a:t>Networks and Graphs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he-IL" sz="2400"/>
              <a:t>Visualizing networks is helpful, even if is not obvious that a network exists</a:t>
            </a:r>
          </a:p>
        </p:txBody>
      </p:sp>
      <p:pic>
        <p:nvPicPr>
          <p:cNvPr id="4608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09800"/>
            <a:ext cx="4630738" cy="416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291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7A46-BE7E-53DF-BF33-AC366D60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B632110-2F7F-F611-1A10-32113C618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b="1" dirty="0"/>
              <a:t>Appendix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75AC8-323C-D50A-5B6D-C460216F2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5563"/>
            <a:ext cx="4359018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54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CE2A-918F-BB4F-0094-BD9D935F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383E763-0F93-2BA2-C6E5-A4833BE5B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b="1" dirty="0"/>
              <a:t>Appendix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E4D163-CC9A-B3F9-E054-F17CE50A8A27}"/>
              </a:ext>
            </a:extLst>
          </p:cNvPr>
          <p:cNvSpPr txBox="1"/>
          <p:nvPr/>
        </p:nvSpPr>
        <p:spPr>
          <a:xfrm>
            <a:off x="304800" y="922421"/>
            <a:ext cx="8398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Clustering also can be used for Multivariate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54CFD-CEF2-47DA-A716-800BF43E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18" y="2037781"/>
            <a:ext cx="3275065" cy="2440401"/>
          </a:xfrm>
          <a:prstGeom prst="rect">
            <a:avLst/>
          </a:prstGeom>
        </p:spPr>
      </p:pic>
      <p:pic>
        <p:nvPicPr>
          <p:cNvPr id="2050" name="Picture 2" descr="Hierarchical Clustering: A Comprehensive Guide to Understanding and Applying This Powerful Data Analysis Technique">
            <a:extLst>
              <a:ext uri="{FF2B5EF4-FFF2-40B4-BE49-F238E27FC236}">
                <a16:creationId xmlns:a16="http://schemas.microsoft.com/office/drawing/2014/main" id="{31C954FD-5199-13FF-2468-D7F44D6E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475" y="2161809"/>
            <a:ext cx="4249148" cy="235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528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FA216-1D6F-F6AB-610A-573D5052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EA327CA-06A0-CD15-4A18-BC02347B9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e-IL" b="1" dirty="0"/>
              <a:t>Correlation between two categorical variable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8D075-0B7E-6939-F9B4-3F79388E16E1}"/>
              </a:ext>
            </a:extLst>
          </p:cNvPr>
          <p:cNvSpPr txBox="1"/>
          <p:nvPr/>
        </p:nvSpPr>
        <p:spPr>
          <a:xfrm>
            <a:off x="457200" y="1098884"/>
            <a:ext cx="75959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Problem</a:t>
            </a:r>
            <a:r>
              <a:rPr lang="en-US" dirty="0"/>
              <a:t>:</a:t>
            </a:r>
          </a:p>
          <a:p>
            <a:r>
              <a:rPr lang="en-US" dirty="0"/>
              <a:t>A company surveys customers to determine their age group (under 20, 20-40, over 40) and preferred product categories (food, apparel, or electronics).</a:t>
            </a:r>
          </a:p>
          <a:p>
            <a:endParaRPr lang="en-US" dirty="0"/>
          </a:p>
          <a:p>
            <a:r>
              <a:rPr lang="en-US" dirty="0"/>
              <a:t>Investigate the connection between product preference and age group</a:t>
            </a:r>
          </a:p>
          <a:p>
            <a:endParaRPr lang="en-US" dirty="0"/>
          </a:p>
          <a:p>
            <a:r>
              <a:rPr lang="en-US" i="1" dirty="0"/>
              <a:t>Solution</a:t>
            </a:r>
            <a:r>
              <a:rPr lang="en-US" dirty="0"/>
              <a:t>: Use chi-square test</a:t>
            </a:r>
          </a:p>
          <a:p>
            <a:endParaRPr lang="en-US" dirty="0"/>
          </a:p>
          <a:p>
            <a:r>
              <a:rPr lang="en-US" dirty="0"/>
              <a:t>contingency table (crosstab) 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2974B-870A-205E-9799-FABD02CF8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2" y="3916590"/>
            <a:ext cx="7818798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6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Title&amp;quot;&quot;/&gt;&lt;property id=&quot;20307&quot; value=&quot;421&quot;/&gt;&lt;/object&gt;&lt;object type=&quot;3&quot; unique_id=&quot;10010&quot;&gt;&lt;property id=&quot;20148&quot; value=&quot;5&quot;/&gt;&lt;property id=&quot;20300&quot; value=&quot;Slide 2&quot;/&gt;&lt;property id=&quot;20307&quot; value=&quot;424&quot;/&gt;&lt;/object&gt;&lt;object type=&quot;3&quot; unique_id=&quot;10012&quot;&gt;&lt;property id=&quot;20148&quot; value=&quot;5&quot;/&gt;&lt;property id=&quot;20300&quot; value=&quot;Slide 3&quot;/&gt;&lt;property id=&quot;20307&quot; value=&quot;427&quot;/&gt;&lt;/object&gt;&lt;object type=&quot;3&quot; unique_id=&quot;10014&quot;&gt;&lt;property id=&quot;20148&quot; value=&quot;5&quot;/&gt;&lt;property id=&quot;20300&quot; value=&quot;Slide 4&quot;/&gt;&lt;property id=&quot;20307&quot; value=&quot;429&quot;/&gt;&lt;/object&gt;&lt;object type=&quot;3&quot; unique_id=&quot;10016&quot;&gt;&lt;property id=&quot;20148&quot; value=&quot;5&quot;/&gt;&lt;property id=&quot;20300&quot; value=&quot;Slide 5&quot;/&gt;&lt;property id=&quot;20307&quot; value=&quot;432&quot;/&gt;&lt;/object&gt;&lt;object type=&quot;3&quot; unique_id=&quot;10018&quot;&gt;&lt;property id=&quot;20148&quot; value=&quot;5&quot;/&gt;&lt;property id=&quot;20300&quot; value=&quot;Slide 6&quot;/&gt;&lt;property id=&quot;20307&quot; value=&quot;434&quot;/&gt;&lt;/object&gt;&lt;object type=&quot;3&quot; unique_id=&quot;10020&quot;&gt;&lt;property id=&quot;20148&quot; value=&quot;5&quot;/&gt;&lt;property id=&quot;20300&quot; value=&quot;Slide 7&quot;/&gt;&lt;property id=&quot;20307&quot; value=&quot;436&quot;/&gt;&lt;/object&gt;&lt;object type=&quot;3&quot; unique_id=&quot;10022&quot;&gt;&lt;property id=&quot;20148&quot; value=&quot;5&quot;/&gt;&lt;property id=&quot;20300&quot; value=&quot;Slide 8&quot;/&gt;&lt;property id=&quot;20307&quot; value=&quot;438&quot;/&gt;&lt;/object&gt;&lt;object type=&quot;3&quot; unique_id=&quot;10024&quot;&gt;&lt;property id=&quot;20148&quot; value=&quot;5&quot;/&gt;&lt;property id=&quot;20300&quot; value=&quot;Slide 9&quot;/&gt;&lt;property id=&quot;20307&quot; value=&quot;441&quot;/&gt;&lt;/object&gt;&lt;object type=&quot;3&quot; unique_id=&quot;10026&quot;&gt;&lt;property id=&quot;20148&quot; value=&quot;5&quot;/&gt;&lt;property id=&quot;20300&quot; value=&quot;Slide 10&quot;/&gt;&lt;property id=&quot;20307&quot; value=&quot;444&quot;/&gt;&lt;/object&gt;&lt;object type=&quot;3&quot; unique_id=&quot;10028&quot;&gt;&lt;property id=&quot;20148&quot; value=&quot;5&quot;/&gt;&lt;property id=&quot;20300&quot; value=&quot;Slide 11&quot;/&gt;&lt;property id=&quot;20307&quot; value=&quot;459&quot;/&gt;&lt;/object&gt;&lt;object type=&quot;3&quot; unique_id=&quot;10030&quot;&gt;&lt;property id=&quot;20148&quot; value=&quot;5&quot;/&gt;&lt;property id=&quot;20300&quot; value=&quot;Slide 12&quot;/&gt;&lt;property id=&quot;20307&quot; value=&quot;446&quot;/&gt;&lt;/object&gt;&lt;object type=&quot;3&quot; unique_id=&quot;10032&quot;&gt;&lt;property id=&quot;20148&quot; value=&quot;5&quot;/&gt;&lt;property id=&quot;20300&quot; value=&quot;Slide 13&quot;/&gt;&lt;property id=&quot;20307&quot; value=&quot;449&quot;/&gt;&lt;/object&gt;&lt;object type=&quot;3&quot; unique_id=&quot;10034&quot;&gt;&lt;property id=&quot;20148&quot; value=&quot;5&quot;/&gt;&lt;property id=&quot;20300&quot; value=&quot;Slide 14&quot;/&gt;&lt;property id=&quot;20307&quot; value=&quot;451&quot;/&gt;&lt;/object&gt;&lt;object type=&quot;3&quot; unique_id=&quot;10036&quot;&gt;&lt;property id=&quot;20148&quot; value=&quot;5&quot;/&gt;&lt;property id=&quot;20300&quot; value=&quot;Slide 15&quot;/&gt;&lt;property id=&quot;20307&quot; value=&quot;453&quot;/&gt;&lt;/object&gt;&lt;object type=&quot;3&quot; unique_id=&quot;10038&quot;&gt;&lt;property id=&quot;20148&quot; value=&quot;5&quot;/&gt;&lt;property id=&quot;20300&quot; value=&quot;Slide 16&quot;/&gt;&lt;property id=&quot;20307&quot; value=&quot;455&quot;/&gt;&lt;/object&gt;&lt;object type=&quot;3&quot; unique_id=&quot;10040&quot;&gt;&lt;property id=&quot;20148&quot; value=&quot;5&quot;/&gt;&lt;property id=&quot;20300&quot; value=&quot;Slide 17&quot;/&gt;&lt;property id=&quot;20307&quot; value=&quot;457&quot;/&gt;&lt;/object&gt;&lt;object type=&quot;3&quot; unique_id=&quot;10042&quot;&gt;&lt;property id=&quot;20148&quot; value=&quot;5&quot;/&gt;&lt;property id=&quot;20300&quot; value=&quot;Slide 23&quot;/&gt;&lt;property id=&quot;20307&quot; value=&quot;440&quot;/&gt;&lt;/object&gt;&lt;object type=&quot;3&quot; unique_id=&quot;10781&quot;&gt;&lt;property id=&quot;20148&quot; value=&quot;5&quot;/&gt;&lt;property id=&quot;20300&quot; value=&quot;Slide 18&quot;/&gt;&lt;property id=&quot;20307&quot; value=&quot;463&quot;/&gt;&lt;/object&gt;&lt;object type=&quot;3&quot; unique_id=&quot;10783&quot;&gt;&lt;property id=&quot;20148&quot; value=&quot;5&quot;/&gt;&lt;property id=&quot;20300&quot; value=&quot;Slide 22&quot;/&gt;&lt;property id=&quot;20307&quot; value=&quot;465&quot;/&gt;&lt;/object&gt;&lt;object type=&quot;3&quot; unique_id=&quot;10785&quot;&gt;&lt;property id=&quot;20148&quot; value=&quot;5&quot;/&gt;&lt;property id=&quot;20300&quot; value=&quot;Slide 21&quot;/&gt;&lt;property id=&quot;20307&quot; value=&quot;467&quot;/&gt;&lt;/object&gt;&lt;object type=&quot;3&quot; unique_id=&quot;10787&quot;&gt;&lt;property id=&quot;20148&quot; value=&quot;5&quot;/&gt;&lt;property id=&quot;20300&quot; value=&quot;Slide 19&quot;/&gt;&lt;property id=&quot;20307&quot; value=&quot;469&quot;/&gt;&lt;/object&gt;&lt;object type=&quot;3&quot; unique_id=&quot;11387&quot;&gt;&lt;property id=&quot;20148&quot; value=&quot;5&quot;/&gt;&lt;property id=&quot;20300&quot; value=&quot;Slide 24 - &amp;quot;Color preferences&amp;quot;&quot;/&gt;&lt;property id=&quot;20307&quot; value=&quot;471&quot;/&gt;&lt;/object&gt;&lt;object type=&quot;3&quot; unique_id=&quot;18736&quot;&gt;&lt;property id=&quot;20148&quot; value=&quot;5&quot;/&gt;&lt;property id=&quot;20300&quot; value=&quot;Slide 25 - &amp;quot;Safety Promise Event&amp;quot;&quot;/&gt;&lt;property id=&quot;20307&quot; value=&quot;472&quot;/&gt;&lt;/object&gt;&lt;object type=&quot;3&quot; unique_id=&quot;18737&quot;&gt;&lt;property id=&quot;20148&quot; value=&quot;5&quot;/&gt;&lt;property id=&quot;20300&quot; value=&quot;Slide 26 - &amp;quot;Safety Promise Event&amp;quot;&quot;/&gt;&lt;property id=&quot;20307&quot; value=&quot;473&quot;/&gt;&lt;/object&gt;&lt;object type=&quot;3&quot; unique_id=&quot;18738&quot;&gt;&lt;property id=&quot;20148&quot; value=&quot;5&quot;/&gt;&lt;property id=&quot;20300&quot; value=&quot;Slide 27 - &amp;quot;Safety Tools for Employee &amp;#x0D;&amp;#x0A;Involvement Teams &amp;quot;&quot;/&gt;&lt;property id=&quot;20307&quot; value=&quot;474&quot;/&gt;&lt;/object&gt;&lt;object type=&quot;3&quot; unique_id=&quot;18739&quot;&gt;&lt;property id=&quot;20148&quot; value=&quot;5&quot;/&gt;&lt;property id=&quot;20300&quot; value=&quot;Slide 28 - &amp;quot;Safety Promise Event&amp;quot;&quot;/&gt;&lt;property id=&quot;20307&quot; value=&quot;475&quot;/&gt;&lt;/object&gt;&lt;object type=&quot;3&quot; unique_id=&quot;18740&quot;&gt;&lt;property id=&quot;20148&quot; value=&quot;5&quot;/&gt;&lt;property id=&quot;20300&quot; value=&quot;Slide 29 - &amp;quot;Safety Tools for Employee Involvement Teams &amp;quot;&quot;/&gt;&lt;property id=&quot;20307&quot; value=&quot;476&quot;/&gt;&lt;/object&gt;&lt;object type=&quot;3&quot; unique_id=&quot;18741&quot;&gt;&lt;property id=&quot;20148&quot; value=&quot;5&quot;/&gt;&lt;property id=&quot;20300&quot; value=&quot;Slide 30 - &amp;quot;Cleaner Options&amp;quot;&quot;/&gt;&lt;property id=&quot;20307&quot; value=&quot;477&quot;/&gt;&lt;/object&gt;&lt;object type=&quot;3&quot; unique_id=&quot;20390&quot;&gt;&lt;property id=&quot;20148&quot; value=&quot;5&quot;/&gt;&lt;property id=&quot;20300&quot; value=&quot;Slide 20&quot;/&gt;&lt;property id=&quot;20307&quot; value=&quot;47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2014 EO&amp; T Template Op 4">
  <a:themeElements>
    <a:clrScheme name="Engineering, Operations &amp; Technology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77B800"/>
      </a:accent1>
      <a:accent2>
        <a:srgbClr val="FFDB00"/>
      </a:accent2>
      <a:accent3>
        <a:srgbClr val="FFA200"/>
      </a:accent3>
      <a:accent4>
        <a:srgbClr val="9E1B32"/>
      </a:accent4>
      <a:accent5>
        <a:srgbClr val="E5007E"/>
      </a:accent5>
      <a:accent6>
        <a:srgbClr val="002144"/>
      </a:accent6>
      <a:hlink>
        <a:srgbClr val="0039A6"/>
      </a:hlink>
      <a:folHlink>
        <a:srgbClr val="0039A6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BRT-template.potx [Read-Only]" id="{4161123A-DC13-425F-9A44-B18D16EDE908}" vid="{6278E130-6900-4D45-9932-5DA7C7083AA0}"/>
    </a:ext>
  </a:extLst>
</a:theme>
</file>

<file path=ppt/theme/theme2.xml><?xml version="1.0" encoding="utf-8"?>
<a:theme xmlns:a="http://schemas.openxmlformats.org/drawingml/2006/main" name="1_OPTION 1 - 2014 EO&amp; T Template">
  <a:themeElements>
    <a:clrScheme name="Engineering, Operations &amp; Technology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77B800"/>
      </a:accent1>
      <a:accent2>
        <a:srgbClr val="FFDB00"/>
      </a:accent2>
      <a:accent3>
        <a:srgbClr val="FFA200"/>
      </a:accent3>
      <a:accent4>
        <a:srgbClr val="9E1B32"/>
      </a:accent4>
      <a:accent5>
        <a:srgbClr val="E5007E"/>
      </a:accent5>
      <a:accent6>
        <a:srgbClr val="002144"/>
      </a:accent6>
      <a:hlink>
        <a:srgbClr val="0039A6"/>
      </a:hlink>
      <a:folHlink>
        <a:srgbClr val="0039A6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BRT-template.potx [Read-Only]" id="{4161123A-DC13-425F-9A44-B18D16EDE908}" vid="{ED6A9933-3938-4773-BDCE-F7FE43F7A59D}"/>
    </a:ext>
  </a:extLst>
</a:theme>
</file>

<file path=ppt/theme/theme3.xml><?xml version="1.0" encoding="utf-8"?>
<a:theme xmlns:a="http://schemas.openxmlformats.org/drawingml/2006/main" name="Boeing Logo Closing Slide_White BG">
  <a:themeElements>
    <a:clrScheme name="Engineering, Operations &amp; Technology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77B800"/>
      </a:accent1>
      <a:accent2>
        <a:srgbClr val="FFDB00"/>
      </a:accent2>
      <a:accent3>
        <a:srgbClr val="FFA200"/>
      </a:accent3>
      <a:accent4>
        <a:srgbClr val="9E1B32"/>
      </a:accent4>
      <a:accent5>
        <a:srgbClr val="E5007E"/>
      </a:accent5>
      <a:accent6>
        <a:srgbClr val="002144"/>
      </a:accent6>
      <a:hlink>
        <a:srgbClr val="0039A6"/>
      </a:hlink>
      <a:folHlink>
        <a:srgbClr val="0039A6"/>
      </a:folHlink>
    </a:clrScheme>
    <a:fontScheme name="2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GradientBar_IdentityBar_QUESTIONS 1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radientBar_IdentityBar_QUESTIONS 2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580F8B"/>
        </a:accent1>
        <a:accent2>
          <a:srgbClr val="E70033"/>
        </a:accent2>
        <a:accent3>
          <a:srgbClr val="FFFFFF"/>
        </a:accent3>
        <a:accent4>
          <a:srgbClr val="000000"/>
        </a:accent4>
        <a:accent5>
          <a:srgbClr val="B4AAC4"/>
        </a:accent5>
        <a:accent6>
          <a:srgbClr val="D1002D"/>
        </a:accent6>
        <a:hlink>
          <a:srgbClr val="0096DB"/>
        </a:hlink>
        <a:folHlink>
          <a:srgbClr val="77B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radientBar_IdentityBar_QUESTIONS 3">
        <a:dk1>
          <a:srgbClr val="000000"/>
        </a:dk1>
        <a:lt1>
          <a:srgbClr val="FFFFFF"/>
        </a:lt1>
        <a:dk2>
          <a:srgbClr val="0039A6"/>
        </a:dk2>
        <a:lt2>
          <a:srgbClr val="848F98"/>
        </a:lt2>
        <a:accent1>
          <a:srgbClr val="580F8B"/>
        </a:accent1>
        <a:accent2>
          <a:srgbClr val="E70033"/>
        </a:accent2>
        <a:accent3>
          <a:srgbClr val="FFFFFF"/>
        </a:accent3>
        <a:accent4>
          <a:srgbClr val="000000"/>
        </a:accent4>
        <a:accent5>
          <a:srgbClr val="B4AAC4"/>
        </a:accent5>
        <a:accent6>
          <a:srgbClr val="D1002D"/>
        </a:accent6>
        <a:hlink>
          <a:srgbClr val="0096DB"/>
        </a:hlink>
        <a:folHlink>
          <a:srgbClr val="77B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radientBar_IdentityBar_QUESTIONS 4">
        <a:dk1>
          <a:srgbClr val="000000"/>
        </a:dk1>
        <a:lt1>
          <a:srgbClr val="FFFFFF"/>
        </a:lt1>
        <a:dk2>
          <a:srgbClr val="003CA2"/>
        </a:dk2>
        <a:lt2>
          <a:srgbClr val="848F98"/>
        </a:lt2>
        <a:accent1>
          <a:srgbClr val="580F8B"/>
        </a:accent1>
        <a:accent2>
          <a:srgbClr val="E24A12"/>
        </a:accent2>
        <a:accent3>
          <a:srgbClr val="FFFFFF"/>
        </a:accent3>
        <a:accent4>
          <a:srgbClr val="000000"/>
        </a:accent4>
        <a:accent5>
          <a:srgbClr val="B4AAC4"/>
        </a:accent5>
        <a:accent6>
          <a:srgbClr val="CD420F"/>
        </a:accent6>
        <a:hlink>
          <a:srgbClr val="0096DB"/>
        </a:hlink>
        <a:folHlink>
          <a:srgbClr val="77B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radientBar_IdentityBar_QUESTIONS 5">
        <a:dk1>
          <a:srgbClr val="000000"/>
        </a:dk1>
        <a:lt1>
          <a:srgbClr val="FFFFFF"/>
        </a:lt1>
        <a:dk2>
          <a:srgbClr val="003CA2"/>
        </a:dk2>
        <a:lt2>
          <a:srgbClr val="848F98"/>
        </a:lt2>
        <a:accent1>
          <a:srgbClr val="580F8B"/>
        </a:accent1>
        <a:accent2>
          <a:srgbClr val="E70033"/>
        </a:accent2>
        <a:accent3>
          <a:srgbClr val="FFFFFF"/>
        </a:accent3>
        <a:accent4>
          <a:srgbClr val="000000"/>
        </a:accent4>
        <a:accent5>
          <a:srgbClr val="B4AAC4"/>
        </a:accent5>
        <a:accent6>
          <a:srgbClr val="D1002D"/>
        </a:accent6>
        <a:hlink>
          <a:srgbClr val="0096DB"/>
        </a:hlink>
        <a:folHlink>
          <a:srgbClr val="77B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RT-template.potx [Read-Only]" id="{4161123A-DC13-425F-9A44-B18D16EDE908}" vid="{1DBDA1E9-FBB4-47FF-9327-627F8838DFC6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ANTONE 7421">
      <a:srgbClr val="61162D"/>
    </a:custClr>
    <a:custClr name="PANTONE 221">
      <a:srgbClr val="96004B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9041">
      <a:srgbClr val="E2EBE4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0FEC06-4FEE-4119-A11A-2CF1BAFD43FE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a88002d0-3aeb-434c-a636-170763fb4548"/>
    <ds:schemaRef ds:uri="http://www.w3.org/XML/1998/namespace"/>
    <ds:schemaRef ds:uri="6337ce0b-ae40-4297-88a6-9d1ebe2a3d87"/>
  </ds:schemaRefs>
</ds:datastoreItem>
</file>

<file path=customXml/itemProps2.xml><?xml version="1.0" encoding="utf-8"?>
<ds:datastoreItem xmlns:ds="http://schemas.openxmlformats.org/officeDocument/2006/customXml" ds:itemID="{93CC7FE6-4CF2-4CCB-832B-0CF7BCEC5E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0D4AE6-4FDB-407F-A65F-F7030382A7A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32411</TotalTime>
  <Words>1080</Words>
  <Application>Microsoft Office PowerPoint</Application>
  <PresentationFormat>On-screen Show (4:3)</PresentationFormat>
  <Paragraphs>223</Paragraphs>
  <Slides>36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Andale Mono</vt:lpstr>
      <vt:lpstr>Arial</vt:lpstr>
      <vt:lpstr>Helvetica Neue Light</vt:lpstr>
      <vt:lpstr>HelveticaNeue LT 45 Light</vt:lpstr>
      <vt:lpstr>Lucida Bright</vt:lpstr>
      <vt:lpstr>Symbol</vt:lpstr>
      <vt:lpstr>Tahoma</vt:lpstr>
      <vt:lpstr>Times</vt:lpstr>
      <vt:lpstr>Times New Roman</vt:lpstr>
      <vt:lpstr>Wingdings</vt:lpstr>
      <vt:lpstr>2014 EO&amp; T Template Op 4</vt:lpstr>
      <vt:lpstr>1_OPTION 1 - 2014 EO&amp; T Template</vt:lpstr>
      <vt:lpstr>Boeing Logo Closing Slide_White BG</vt:lpstr>
      <vt:lpstr>Exploratory Data Analysis and Data Visualization</vt:lpstr>
      <vt:lpstr>PowerPoint Presentation</vt:lpstr>
      <vt:lpstr>Outline</vt:lpstr>
      <vt:lpstr>EDA and Visualization</vt:lpstr>
      <vt:lpstr>Exploratory Data Analysis (EDA)</vt:lpstr>
      <vt:lpstr>PowerPoint Presentation</vt:lpstr>
      <vt:lpstr>Univariate Analysis </vt:lpstr>
      <vt:lpstr>PowerPoint Presentation</vt:lpstr>
      <vt:lpstr>Single Variable Visualization</vt:lpstr>
      <vt:lpstr>Limitation with Histograms</vt:lpstr>
      <vt:lpstr>PowerPoint Presentation</vt:lpstr>
      <vt:lpstr>Boxplots</vt:lpstr>
      <vt:lpstr>PowerPoint Presentation</vt:lpstr>
      <vt:lpstr>PowerPoint Presentation</vt:lpstr>
      <vt:lpstr>PowerPoint Presentation</vt:lpstr>
      <vt:lpstr>Spatial Data</vt:lpstr>
      <vt:lpstr>Spatial data: choropleth Maps</vt:lpstr>
      <vt:lpstr>Two Continuous Variables</vt:lpstr>
      <vt:lpstr>2D Scatterplots</vt:lpstr>
      <vt:lpstr>Scatter Plot: No apparent relationship</vt:lpstr>
      <vt:lpstr>Scatter Plot: Linear relationship</vt:lpstr>
      <vt:lpstr>Scatter Plot: Quadratic relationship</vt:lpstr>
      <vt:lpstr>Scatter plot: Homoscedastic </vt:lpstr>
      <vt:lpstr>Scatter plot: Heteroscedastic </vt:lpstr>
      <vt:lpstr>Two variables - continuous</vt:lpstr>
      <vt:lpstr>Two Variables - one categorical</vt:lpstr>
      <vt:lpstr>Correlation Matrix</vt:lpstr>
      <vt:lpstr>PowerPoint Presentation</vt:lpstr>
      <vt:lpstr>More than two variables</vt:lpstr>
      <vt:lpstr>        Dimensionality Reduction      </vt:lpstr>
      <vt:lpstr>        Dimensionality Reduction      </vt:lpstr>
      <vt:lpstr>PowerPoint Presentation</vt:lpstr>
      <vt:lpstr>Networks and Graphs</vt:lpstr>
      <vt:lpstr>Appendix</vt:lpstr>
      <vt:lpstr>Appendix</vt:lpstr>
      <vt:lpstr>Correlation between two categorical variable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Options</dc:title>
  <dc:creator>Joy Baer</dc:creator>
  <cp:lastModifiedBy>Kumar, Deepak</cp:lastModifiedBy>
  <cp:revision>1206</cp:revision>
  <cp:lastPrinted>2014-10-28T18:33:36Z</cp:lastPrinted>
  <dcterms:created xsi:type="dcterms:W3CDTF">2014-04-30T19:38:07Z</dcterms:created>
  <dcterms:modified xsi:type="dcterms:W3CDTF">2025-11-17T14:19:13Z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  <property fmtid="{D5CDD505-2E9C-101B-9397-08002B2CF9AE}" pid="3" name="Order">
    <vt:r8>1000</vt:r8>
  </property>
</Properties>
</file>