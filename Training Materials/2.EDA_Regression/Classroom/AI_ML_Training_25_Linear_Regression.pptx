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62" r:id="rId2"/>
    <p:sldId id="334" r:id="rId3"/>
    <p:sldId id="335" r:id="rId4"/>
    <p:sldId id="339" r:id="rId5"/>
    <p:sldId id="337" r:id="rId6"/>
    <p:sldId id="341" r:id="rId7"/>
    <p:sldId id="342" r:id="rId8"/>
    <p:sldId id="343" r:id="rId9"/>
    <p:sldId id="331" r:id="rId10"/>
    <p:sldId id="346" r:id="rId11"/>
    <p:sldId id="350" r:id="rId12"/>
    <p:sldId id="351" r:id="rId13"/>
    <p:sldId id="340" r:id="rId14"/>
    <p:sldId id="349" r:id="rId15"/>
    <p:sldId id="347" r:id="rId16"/>
    <p:sldId id="338" r:id="rId17"/>
    <p:sldId id="336" r:id="rId18"/>
    <p:sldId id="344" r:id="rId19"/>
    <p:sldId id="345" r:id="rId20"/>
    <p:sldId id="348" r:id="rId21"/>
    <p:sldId id="332" r:id="rId22"/>
    <p:sldId id="333" r:id="rId23"/>
    <p:sldId id="352" r:id="rId24"/>
    <p:sldId id="353" r:id="rId25"/>
    <p:sldId id="359" r:id="rId26"/>
    <p:sldId id="360" r:id="rId27"/>
    <p:sldId id="3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A4C2F-9CE4-402D-84F9-DEDB6C5D359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67934-4337-44D8-998D-5E6C3886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8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63022-BAF3-4B1E-B945-D7D01A092F9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21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1"/>
            <a:ext cx="12192000" cy="4585153"/>
          </a:xfrm>
          <a:prstGeom prst="rect">
            <a:avLst/>
          </a:prstGeom>
          <a:solidFill>
            <a:srgbClr val="0039A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057399"/>
            <a:ext cx="10363200" cy="1664208"/>
          </a:xfrm>
        </p:spPr>
        <p:txBody>
          <a:bodyPr lIns="0" rIns="0" bIns="0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637994"/>
            <a:ext cx="10997184" cy="387798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800" b="0">
                <a:solidFill>
                  <a:srgbClr val="7882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2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447675"/>
          </a:xfrm>
          <a:prstGeom prst="rect">
            <a:avLst/>
          </a:prstGeom>
          <a:noFill/>
        </p:spPr>
      </p:pic>
      <p:sp>
        <p:nvSpPr>
          <p:cNvPr id="15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2017 Boeing.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en-US" sz="1100" smtClean="0">
                <a:effectLst/>
              </a:defRPr>
            </a:lvl1pPr>
          </a:lstStyle>
          <a:p>
            <a:r>
              <a:rPr lang="en-US" dirty="0"/>
              <a:t>Boeing Proprietary</a:t>
            </a:r>
            <a:endParaRPr lang="en-US" sz="10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0770" y="758953"/>
            <a:ext cx="217328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Boeing Test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41114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64239" name="Picture 47" descr="Boeing_white_stand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633" y="363539"/>
            <a:ext cx="2474384" cy="447675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2017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4548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</a:rPr>
              <a:t>Engineering, Test &amp;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770" y="758953"/>
            <a:ext cx="217328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/>
            <a:r>
              <a:rPr lang="en-US" sz="1400" dirty="0">
                <a:solidFill>
                  <a:srgbClr val="FFFFFF"/>
                </a:solidFill>
              </a:rPr>
              <a:t>Boeing Test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410386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442913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0" y="4585154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/>
                </a:solidFill>
              </a:rPr>
              <a:t>Copyright © 2017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2E4BB1-A240-445C-BED7-C5B7DA80912B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94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3" descr="Boeing_RGBblue_standard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18" y="361951"/>
            <a:ext cx="2451100" cy="442913"/>
          </a:xfrm>
          <a:prstGeom prst="rect">
            <a:avLst/>
          </a:prstGeom>
          <a:noFill/>
        </p:spPr>
      </p:pic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586318" y="6658300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2016 Boeing. All rights reserved.</a:t>
            </a: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609600" y="2529450"/>
            <a:ext cx="10363200" cy="710964"/>
          </a:xfr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609601" y="4637994"/>
            <a:ext cx="11002433" cy="387798"/>
          </a:xfrm>
        </p:spPr>
        <p:txBody>
          <a:bodyPr/>
          <a:lstStyle>
            <a:lvl1pPr marL="0" indent="0">
              <a:buFontTx/>
              <a:buNone/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4581144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7641" y="539497"/>
            <a:ext cx="288950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/>
            <a:r>
              <a:rPr lang="en-US" sz="1400" b="1" dirty="0">
                <a:solidFill>
                  <a:srgbClr val="0039A6"/>
                </a:solidFill>
              </a:rPr>
              <a:t>Engineering, Test &amp;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863" y="758953"/>
            <a:ext cx="217328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 anchorCtr="0">
            <a:spAutoFit/>
          </a:bodyPr>
          <a:lstStyle/>
          <a:p>
            <a:pPr algn="r"/>
            <a:r>
              <a:rPr lang="en-US" sz="1400" dirty="0">
                <a:solidFill>
                  <a:srgbClr val="0039A6"/>
                </a:solidFill>
              </a:rPr>
              <a:t>Boeing Test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301501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Symbol" panose="05050102010706020507" pitchFamily="18" charset="2"/>
              <a:buChar char=""/>
              <a:defRPr/>
            </a:lvl1pPr>
            <a:lvl2pPr marL="288925" indent="-173038">
              <a:defRPr/>
            </a:lvl2pPr>
            <a:lvl3pPr marL="461963" indent="-184150">
              <a:defRPr/>
            </a:lvl3pPr>
            <a:lvl4pPr marL="746125" indent="-225425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40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1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89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62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1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94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53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64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44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1600200"/>
            <a:ext cx="512064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15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Symbol" panose="05050102010706020507" pitchFamily="18" charset="2"/>
              <a:buChar char=""/>
              <a:defRPr/>
            </a:lvl1pPr>
            <a:lvl2pPr marL="288925" indent="-173038">
              <a:defRPr/>
            </a:lvl2pPr>
            <a:lvl3pPr marL="461963" indent="-184150">
              <a:defRPr/>
            </a:lvl3pPr>
            <a:lvl4pPr marL="746125" indent="-225425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9360" y="777240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7680" y="777240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76000" y="777240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7760" y="556261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00"/>
                </a:solidFill>
              </a:rPr>
              <a:t>Prev</a:t>
            </a:r>
            <a:r>
              <a:rPr lang="en-US" sz="1000" dirty="0">
                <a:solidFill>
                  <a:srgbClr val="000000"/>
                </a:solidFill>
              </a:rPr>
              <a:t> | </a:t>
            </a:r>
            <a:r>
              <a:rPr lang="en-US" sz="1000" dirty="0" err="1">
                <a:solidFill>
                  <a:srgbClr val="000000"/>
                </a:solidFill>
              </a:rPr>
              <a:t>Curr</a:t>
            </a:r>
            <a:r>
              <a:rPr lang="en-US" sz="1000" dirty="0">
                <a:solidFill>
                  <a:srgbClr val="000000"/>
                </a:solidFill>
              </a:rPr>
              <a:t>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81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Symbol" panose="05050102010706020507" pitchFamily="18" charset="2"/>
              <a:buChar char=""/>
              <a:defRPr/>
            </a:lvl1pPr>
            <a:lvl2pPr marL="288925" indent="-173038">
              <a:defRPr/>
            </a:lvl2pPr>
            <a:lvl3pPr marL="461963" indent="-184150">
              <a:defRPr/>
            </a:lvl3pPr>
            <a:lvl4pPr marL="746125" indent="-225425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10728960" y="320040"/>
            <a:ext cx="24384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/>
        </p:nvSpPr>
        <p:spPr>
          <a:xfrm>
            <a:off x="11326368" y="320040"/>
            <a:ext cx="24384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/>
        </p:nvSpPr>
        <p:spPr>
          <a:xfrm>
            <a:off x="11021568" y="320040"/>
            <a:ext cx="24384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23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1600200"/>
            <a:ext cx="1219200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05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1600200"/>
            <a:ext cx="1219200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90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416052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49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3867912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4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2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R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5449824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18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8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91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42304" y="416052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05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Lft Content, 2 pictures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54864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42304" y="3867912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4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Lft content with 2 screen ca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88352" y="1600200"/>
            <a:ext cx="4230624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388352" y="4160520"/>
            <a:ext cx="4230624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08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67056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705344" y="1600200"/>
            <a:ext cx="390144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705344" y="3867912"/>
            <a:ext cx="390144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49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600200"/>
            <a:ext cx="1219200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6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1920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600200"/>
            <a:ext cx="1219200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13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71600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314553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92861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71600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314553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92861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371600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314553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92861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54203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371600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433425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314553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6099048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928616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71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6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124712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85216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807208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59740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489704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6252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124712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346252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807208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22"/>
          </p:nvPr>
        </p:nvSpPr>
        <p:spPr>
          <a:xfrm>
            <a:off x="346252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489704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24"/>
          </p:nvPr>
        </p:nvSpPr>
        <p:spPr>
          <a:xfrm>
            <a:off x="632764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48" y="1124712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26"/>
          </p:nvPr>
        </p:nvSpPr>
        <p:spPr>
          <a:xfrm>
            <a:off x="632764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48" y="2807208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28"/>
          </p:nvPr>
        </p:nvSpPr>
        <p:spPr>
          <a:xfrm>
            <a:off x="632764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48" y="4489704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/>
          <p:cNvSpPr>
            <a:spLocks noGrp="1"/>
          </p:cNvSpPr>
          <p:nvPr>
            <p:ph idx="30"/>
          </p:nvPr>
        </p:nvSpPr>
        <p:spPr>
          <a:xfrm>
            <a:off x="9192768" y="2286000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68" y="1124712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32"/>
          </p:nvPr>
        </p:nvSpPr>
        <p:spPr>
          <a:xfrm>
            <a:off x="9192768" y="3968496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68" y="2807208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34"/>
          </p:nvPr>
        </p:nvSpPr>
        <p:spPr>
          <a:xfrm>
            <a:off x="9192768" y="5650992"/>
            <a:ext cx="2389632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68" y="4489704"/>
            <a:ext cx="2401824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371600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3145536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928616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93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0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362456"/>
            <a:ext cx="6705600" cy="131112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179576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2825496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462272"/>
            <a:ext cx="299923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69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344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344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62432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344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00837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791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00837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791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407408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00837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61813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791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33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060704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060704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234086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060704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8346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8"/>
          </p:nvPr>
        </p:nvSpPr>
        <p:spPr>
          <a:xfrm>
            <a:off x="6096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61772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8346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4730496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4730496" y="461772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4123944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83464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Content Placeholder 2"/>
          <p:cNvSpPr>
            <a:spLocks noGrp="1"/>
          </p:cNvSpPr>
          <p:nvPr>
            <p:ph idx="36"/>
          </p:nvPr>
        </p:nvSpPr>
        <p:spPr>
          <a:xfrm>
            <a:off x="8839200" y="589788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8839200" y="461772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56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0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39200" y="3063240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600200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30496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39200" y="5102352"/>
            <a:ext cx="276758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648456"/>
            <a:ext cx="2755392" cy="553998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4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3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320041"/>
            <a:ext cx="10972800" cy="378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52544"/>
            <a:ext cx="10972800" cy="1311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9600" y="621793"/>
            <a:ext cx="10972800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4" y="1600200"/>
            <a:ext cx="5364480" cy="276999"/>
          </a:xfrm>
          <a:solidFill>
            <a:srgbClr val="97C5E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99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2016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5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en-US" sz="1100" smtClean="0">
                <a:effectLst/>
              </a:defRPr>
            </a:lvl1pPr>
          </a:lstStyle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25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ue Logo w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82825" y="6656832"/>
            <a:ext cx="2915185" cy="11080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01579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82825" y="6656832"/>
            <a:ext cx="2915185" cy="11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22080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3833" y="356617"/>
            <a:ext cx="10972800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3984" y="1572768"/>
            <a:ext cx="10972800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86318" y="6657976"/>
            <a:ext cx="2753783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2017 Boeing. All rights reserved.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60417" y="6532563"/>
            <a:ext cx="2377016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A2E4BB1-A240-445C-BED7-C5B7DA80912B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8" name="Picture 17" descr="ET&amp;T.png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7" y="16945"/>
            <a:ext cx="3314035" cy="2602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88992" y="77434"/>
            <a:ext cx="669340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/>
            <a:r>
              <a:rPr lang="en-US" sz="1000" b="1" dirty="0">
                <a:solidFill>
                  <a:srgbClr val="FFFFFF"/>
                </a:solidFill>
              </a:rPr>
              <a:t>Boeing Test &amp; Evaluation </a:t>
            </a:r>
            <a:r>
              <a:rPr lang="en-US" sz="1000" dirty="0">
                <a:solidFill>
                  <a:srgbClr val="FFFFFF"/>
                </a:solidFill>
              </a:rPr>
              <a:t>| </a:t>
            </a:r>
            <a:r>
              <a:rPr lang="en-US" sz="1000" b="1" dirty="0">
                <a:solidFill>
                  <a:srgbClr val="FFFFFF"/>
                </a:solidFill>
              </a:rPr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853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4" r:id="rId43"/>
    <p:sldLayoutId id="2147483705" r:id="rId4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0" indent="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"/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925" indent="-17303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▪"/>
        <a:defRPr sz="20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508000" indent="-18415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▪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03275" indent="-225425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295825" y="2708461"/>
            <a:ext cx="11341608" cy="710964"/>
          </a:xfrm>
        </p:spPr>
        <p:txBody>
          <a:bodyPr/>
          <a:lstStyle/>
          <a:p>
            <a:r>
              <a:rPr lang="en-US" b="1" dirty="0"/>
              <a:t>Linear Regression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E4BB1-A240-445C-BED7-C5B7DA80912B}" type="slidenum">
              <a:rPr lang="en-US" smtClean="0">
                <a:solidFill>
                  <a:srgbClr val="FFFFFF"/>
                </a:solidFill>
              </a:rPr>
              <a:pPr/>
              <a:t>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A8D165F-65BB-EDFC-BE0C-0E0C61352538}"/>
              </a:ext>
            </a:extLst>
          </p:cNvPr>
          <p:cNvSpPr txBox="1">
            <a:spLocks/>
          </p:cNvSpPr>
          <p:nvPr/>
        </p:nvSpPr>
        <p:spPr>
          <a:xfrm>
            <a:off x="295825" y="4809794"/>
            <a:ext cx="7951787" cy="332399"/>
          </a:xfrm>
          <a:prstGeom prst="rect">
            <a:avLst/>
          </a:prstGeom>
        </p:spPr>
        <p:txBody>
          <a:bodyPr/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"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8925" indent="-1730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508000" indent="-18415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803275" indent="-225425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2400" kern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Deepak Kumar </a:t>
            </a:r>
            <a:r>
              <a:rPr lang="en-US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(Data Scientist, BT&amp;E)</a:t>
            </a:r>
            <a:endParaRPr lang="en-US" sz="2400" kern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9B7A25D-99C1-BACD-248B-74CBA9D0BF50}"/>
              </a:ext>
            </a:extLst>
          </p:cNvPr>
          <p:cNvSpPr txBox="1">
            <a:spLocks/>
          </p:cNvSpPr>
          <p:nvPr/>
        </p:nvSpPr>
        <p:spPr bwMode="auto">
          <a:xfrm>
            <a:off x="396645" y="5267233"/>
            <a:ext cx="795178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5400" b="0">
                <a:solidFill>
                  <a:srgbClr val="788288"/>
                </a:solidFill>
                <a:latin typeface="+mn-lt"/>
                <a:ea typeface="+mn-ea"/>
                <a:cs typeface="+mn-cs"/>
              </a:defRPr>
            </a:lvl1pPr>
            <a:lvl2pPr marL="365760" indent="-27432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1" kern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Anusha Pai </a:t>
            </a:r>
            <a:r>
              <a:rPr lang="en-US" sz="24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(Data Scientist, Boeing AI)</a:t>
            </a:r>
            <a:endParaRPr lang="en-US" sz="2400" b="1" kern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42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1F83-BFF3-44D9-A275-FD6725A2F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6CEF-63C9-4C68-99BC-FC39D5BC71E2}"/>
              </a:ext>
            </a:extLst>
          </p:cNvPr>
          <p:cNvSpPr txBox="1"/>
          <p:nvPr/>
        </p:nvSpPr>
        <p:spPr>
          <a:xfrm>
            <a:off x="374357" y="570451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Machine Learning?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FED2F-68E4-4DAD-A3C5-0D69B2945C98}"/>
              </a:ext>
            </a:extLst>
          </p:cNvPr>
          <p:cNvSpPr txBox="1"/>
          <p:nvPr/>
        </p:nvSpPr>
        <p:spPr>
          <a:xfrm>
            <a:off x="423468" y="1720560"/>
            <a:ext cx="11345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Arthur Samuel (1959). Machine Learning: Field of study that gives computers the ability to learn without being explicitly programmed.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5FCB2-8577-4BD3-8FFE-6A8C28E75E56}"/>
              </a:ext>
            </a:extLst>
          </p:cNvPr>
          <p:cNvSpPr txBox="1"/>
          <p:nvPr/>
        </p:nvSpPr>
        <p:spPr>
          <a:xfrm>
            <a:off x="374357" y="3746847"/>
            <a:ext cx="7606570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There are two types of machine learning:</a:t>
            </a:r>
          </a:p>
          <a:p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Supervised Learning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Unsupervised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1F83-BFF3-44D9-A275-FD6725A2F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6CEF-63C9-4C68-99BC-FC39D5BC71E2}"/>
              </a:ext>
            </a:extLst>
          </p:cNvPr>
          <p:cNvSpPr txBox="1"/>
          <p:nvPr/>
        </p:nvSpPr>
        <p:spPr>
          <a:xfrm>
            <a:off x="374357" y="570451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Supervised Machine Learning?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FED2F-68E4-4DAD-A3C5-0D69B2945C98}"/>
              </a:ext>
            </a:extLst>
          </p:cNvPr>
          <p:cNvSpPr txBox="1"/>
          <p:nvPr/>
        </p:nvSpPr>
        <p:spPr>
          <a:xfrm>
            <a:off x="374357" y="1557897"/>
            <a:ext cx="11345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Supervised Learning, the machine learns under supervision. It contains a model that is able to predict with the help of a labeled dataset. A labeled dataset is one where you already know the target answer. 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1FEC-42FF-4746-8CF1-0F3B3043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325" y="2385488"/>
            <a:ext cx="4429125" cy="2657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7ADD1F-2D4D-4220-A965-6F165B97B8A1}"/>
              </a:ext>
            </a:extLst>
          </p:cNvPr>
          <p:cNvSpPr/>
          <p:nvPr/>
        </p:nvSpPr>
        <p:spPr>
          <a:xfrm>
            <a:off x="573248" y="5300103"/>
            <a:ext cx="85371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Supervised learning can be further divided into two types: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Classification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344758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1F83-BFF3-44D9-A275-FD6725A2F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6CEF-63C9-4C68-99BC-FC39D5BC71E2}"/>
              </a:ext>
            </a:extLst>
          </p:cNvPr>
          <p:cNvSpPr txBox="1"/>
          <p:nvPr/>
        </p:nvSpPr>
        <p:spPr>
          <a:xfrm>
            <a:off x="374357" y="570451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Unsupervised Machine Learning?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FED2F-68E4-4DAD-A3C5-0D69B2945C98}"/>
              </a:ext>
            </a:extLst>
          </p:cNvPr>
          <p:cNvSpPr txBox="1"/>
          <p:nvPr/>
        </p:nvSpPr>
        <p:spPr>
          <a:xfrm>
            <a:off x="374357" y="1557897"/>
            <a:ext cx="11345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Unsupervised Learning, the machine uses unlabeled data and learns on itself without any supervision. The machine tries to find a pattern in the unlabeled data and gives a response.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6CF30-D1A8-44DF-8413-B4A9F796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88" y="2956953"/>
            <a:ext cx="46482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4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1F83-BFF3-44D9-A275-FD6725A2F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6CEF-63C9-4C68-99BC-FC39D5BC71E2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Classification?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FED2F-68E4-4DAD-A3C5-0D69B2945C98}"/>
              </a:ext>
            </a:extLst>
          </p:cNvPr>
          <p:cNvSpPr txBox="1"/>
          <p:nvPr/>
        </p:nvSpPr>
        <p:spPr>
          <a:xfrm>
            <a:off x="374357" y="1557897"/>
            <a:ext cx="11345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Classification is used when the output variable is categorical i.e. with 2 or more classes. For example, yes or no, male or female, true or false,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8F7A2E-A9A4-4672-B67F-1C0C97FCB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7" y="2605568"/>
            <a:ext cx="51911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7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1F83-BFF3-44D9-A275-FD6725A2F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6CEF-63C9-4C68-99BC-FC39D5BC71E2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Regression?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FED2F-68E4-4DAD-A3C5-0D69B2945C98}"/>
              </a:ext>
            </a:extLst>
          </p:cNvPr>
          <p:cNvSpPr txBox="1"/>
          <p:nvPr/>
        </p:nvSpPr>
        <p:spPr>
          <a:xfrm>
            <a:off x="292370" y="1348173"/>
            <a:ext cx="11345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Regression is used when the output variable is a real or continuous value. In this case, there is a relationship between two or more variables i.e., a change in one variable is associated with a change in the other variable. For example, salary based on work experience or weight based on height,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A2808-E065-46EF-83EC-27E42ED5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860671"/>
            <a:ext cx="52387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2D1DE6-1C84-47BA-8E9A-FB9A72E7C2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A1D0D2-111B-4545-8046-83AEEB9F73CE}"/>
              </a:ext>
            </a:extLst>
          </p:cNvPr>
          <p:cNvSpPr/>
          <p:nvPr/>
        </p:nvSpPr>
        <p:spPr>
          <a:xfrm>
            <a:off x="486561" y="878314"/>
            <a:ext cx="110063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are various types of regressions which are used in data science and machine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type has its own importance on different scenarios, but at the core, all the regression methods analyze the effect of the independent variable on dependent variables.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C396F-4473-4AB1-B86B-DAD08E74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176" y="2151078"/>
            <a:ext cx="5191125" cy="4267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163C38-6D86-42B0-964B-11DF4C9363AD}"/>
              </a:ext>
            </a:extLst>
          </p:cNvPr>
          <p:cNvSpPr/>
          <p:nvPr/>
        </p:nvSpPr>
        <p:spPr>
          <a:xfrm>
            <a:off x="5587068" y="2214694"/>
            <a:ext cx="1979802" cy="595618"/>
          </a:xfrm>
          <a:prstGeom prst="rect">
            <a:avLst/>
          </a:prstGeom>
          <a:noFill/>
          <a:ln w="76200">
            <a:solidFill>
              <a:srgbClr val="E7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9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4BC14B-6D6A-4229-9BC6-6CF0DED3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C11FA-7D08-417B-9CD5-98F7FCBCE88D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Linear Regression?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29571-DA7D-4341-82F0-B7FE9373B1F3}"/>
              </a:ext>
            </a:extLst>
          </p:cNvPr>
          <p:cNvSpPr/>
          <p:nvPr/>
        </p:nvSpPr>
        <p:spPr>
          <a:xfrm>
            <a:off x="297635" y="1759651"/>
            <a:ext cx="1091407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Linear regression is a type of statistical analysis used to predict the relationship between two variables.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assumes a linear relationship between the independent variable and the dependent variable and aims to find the best-fitting line that describes the relationship.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line is determined by minimizing the sum of the squared differences between the predicted values and the actual values.</a:t>
            </a:r>
          </a:p>
        </p:txBody>
      </p:sp>
    </p:spTree>
    <p:extLst>
      <p:ext uri="{BB962C8B-B14F-4D97-AF65-F5344CB8AC3E}">
        <p14:creationId xmlns:p14="http://schemas.microsoft.com/office/powerpoint/2010/main" val="33581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95C952B-540B-4703-9BFC-72960D9ABD4B}"/>
              </a:ext>
            </a:extLst>
          </p:cNvPr>
          <p:cNvGrpSpPr/>
          <p:nvPr/>
        </p:nvGrpSpPr>
        <p:grpSpPr>
          <a:xfrm>
            <a:off x="1308333" y="1497755"/>
            <a:ext cx="5867400" cy="4481497"/>
            <a:chOff x="3241645" y="1246086"/>
            <a:chExt cx="5867400" cy="4481497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C1EA45C-8AD9-42B0-80C8-EDD3BBDF46D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63499" y="1246086"/>
              <a:ext cx="2642692" cy="519098"/>
            </a:xfrm>
            <a:prstGeom prst="rect">
              <a:avLst/>
            </a:prstGeom>
          </p:spPr>
          <p:txBody>
            <a:bodyPr/>
            <a:lstStyle>
              <a:lvl1pPr marL="0" indent="0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"/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88925" indent="-173038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▪"/>
                <a:defRPr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defRPr>
              </a:lvl2pPr>
              <a:lvl3pPr marL="508000" indent="-184150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▪"/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defRPr>
              </a:lvl3pPr>
              <a:lvl4pPr marL="803275" indent="-225425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defRPr>
              </a:lvl4pPr>
              <a:lvl5pPr marL="957263" indent="-163513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defRPr>
              </a:lvl5pPr>
              <a:lvl6pPr marL="1414463" indent="-163513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1871663" indent="-163513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2328863" indent="-163513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2786063" indent="-163513" algn="l" defTabSz="820738" rtl="0" eaLnBrk="1" fontAlgn="base" hangingPunct="1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Arial" charset="0"/>
                <a:buChar char="–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altLang="en-US" sz="3600" i="1" kern="0" dirty="0"/>
                <a:t>y = mx + c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F7D8CCA-42EB-4148-8EAA-7E984CC63A00}"/>
                </a:ext>
              </a:extLst>
            </p:cNvPr>
            <p:cNvGrpSpPr/>
            <p:nvPr/>
          </p:nvGrpSpPr>
          <p:grpSpPr>
            <a:xfrm>
              <a:off x="3241645" y="2450983"/>
              <a:ext cx="5867400" cy="3276600"/>
              <a:chOff x="2209800" y="2895600"/>
              <a:chExt cx="5867400" cy="327660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9D399B1-3833-4377-A433-4659B8E26B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9400" y="2895600"/>
                <a:ext cx="4800600" cy="3276600"/>
                <a:chOff x="1776" y="1824"/>
                <a:chExt cx="3024" cy="2064"/>
              </a:xfrm>
            </p:grpSpPr>
            <p:sp>
              <p:nvSpPr>
                <p:cNvPr id="14" name="Line 5">
                  <a:extLst>
                    <a:ext uri="{FF2B5EF4-FFF2-40B4-BE49-F238E27FC236}">
                      <a16:creationId xmlns:a16="http://schemas.microsoft.com/office/drawing/2014/main" id="{35E7173C-05D8-4765-BB8E-EBBDD4FF2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24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Line 6">
                  <a:extLst>
                    <a:ext uri="{FF2B5EF4-FFF2-40B4-BE49-F238E27FC236}">
                      <a16:creationId xmlns:a16="http://schemas.microsoft.com/office/drawing/2014/main" id="{DB57A481-06EC-4CCD-A842-C1A80BB967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832"/>
                  <a:ext cx="27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Line 7">
                  <a:extLst>
                    <a:ext uri="{FF2B5EF4-FFF2-40B4-BE49-F238E27FC236}">
                      <a16:creationId xmlns:a16="http://schemas.microsoft.com/office/drawing/2014/main" id="{1DD4E986-3CD2-4682-88ED-22E74FE281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920"/>
                  <a:ext cx="1920" cy="1632"/>
                </a:xfrm>
                <a:prstGeom prst="line">
                  <a:avLst/>
                </a:prstGeom>
                <a:noFill/>
                <a:ln w="12700">
                  <a:solidFill>
                    <a:srgbClr val="3333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8">
                <a:extLst>
                  <a:ext uri="{FF2B5EF4-FFF2-40B4-BE49-F238E27FC236}">
                    <a16:creationId xmlns:a16="http://schemas.microsoft.com/office/drawing/2014/main" id="{893B0602-30CB-4BE9-9E50-D01C72BA1A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5029200"/>
                <a:ext cx="2971800" cy="533400"/>
                <a:chOff x="1392" y="3168"/>
                <a:chExt cx="1872" cy="336"/>
              </a:xfrm>
            </p:grpSpPr>
            <p:sp>
              <p:nvSpPr>
                <p:cNvPr id="11" name="Oval 9">
                  <a:extLst>
                    <a:ext uri="{FF2B5EF4-FFF2-40B4-BE49-F238E27FC236}">
                      <a16:creationId xmlns:a16="http://schemas.microsoft.com/office/drawing/2014/main" id="{530815E2-B662-41D7-A910-A645106EB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3216"/>
                  <a:ext cx="336" cy="288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" name="Text Box 10">
                  <a:extLst>
                    <a:ext uri="{FF2B5EF4-FFF2-40B4-BE49-F238E27FC236}">
                      <a16:creationId xmlns:a16="http://schemas.microsoft.com/office/drawing/2014/main" id="{A0955416-41E1-4A05-B2C9-7E12C3B3AD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3168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800" i="1" dirty="0">
                      <a:solidFill>
                        <a:srgbClr val="FF0000"/>
                      </a:solidFill>
                    </a:rPr>
                    <a:t>c</a:t>
                  </a:r>
                  <a:endParaRPr lang="en-US" altLang="en-US" sz="2800" b="0" i="1" baseline="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" name="Line 11">
                  <a:extLst>
                    <a:ext uri="{FF2B5EF4-FFF2-40B4-BE49-F238E27FC236}">
                      <a16:creationId xmlns:a16="http://schemas.microsoft.com/office/drawing/2014/main" id="{AC8A8B01-01D1-4DF5-99C6-D7383B9C2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3360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2">
                <a:extLst>
                  <a:ext uri="{FF2B5EF4-FFF2-40B4-BE49-F238E27FC236}">
                    <a16:creationId xmlns:a16="http://schemas.microsoft.com/office/drawing/2014/main" id="{52C44D16-9D32-4EF3-A048-75A58F9193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24600" y="3124200"/>
                <a:ext cx="1752600" cy="1066800"/>
                <a:chOff x="3984" y="1968"/>
                <a:chExt cx="1104" cy="672"/>
              </a:xfrm>
            </p:grpSpPr>
            <p:sp>
              <p:nvSpPr>
                <p:cNvPr id="8" name="Line 13">
                  <a:extLst>
                    <a:ext uri="{FF2B5EF4-FFF2-40B4-BE49-F238E27FC236}">
                      <a16:creationId xmlns:a16="http://schemas.microsoft.com/office/drawing/2014/main" id="{2755945C-86B1-4E76-8B9B-65982399C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984" y="2640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rgbClr val="FF66FF"/>
                  </a:solidFill>
                  <a:round/>
                  <a:headEnd type="stealth" w="lg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Line 14">
                  <a:extLst>
                    <a:ext uri="{FF2B5EF4-FFF2-40B4-BE49-F238E27FC236}">
                      <a16:creationId xmlns:a16="http://schemas.microsoft.com/office/drawing/2014/main" id="{6C55F269-3238-4090-8D6E-031D9C27B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1968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FF66FF"/>
                  </a:solidFill>
                  <a:round/>
                  <a:headEnd type="stealth" w="lg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Text Box 15">
                  <a:extLst>
                    <a:ext uri="{FF2B5EF4-FFF2-40B4-BE49-F238E27FC236}">
                      <a16:creationId xmlns:a16="http://schemas.microsoft.com/office/drawing/2014/main" id="{FB4E719D-BA5D-439B-8904-251041A29F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304"/>
                  <a:ext cx="576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800" b="0" baseline="0">
                      <a:solidFill>
                        <a:srgbClr val="FF66FF"/>
                      </a:solidFill>
                    </a:rPr>
                    <a:t>m</a:t>
                  </a:r>
                </a:p>
              </p:txBody>
            </p:sp>
          </p:grp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2C6143-0DE0-466F-A0EF-C77337A32BAF}"/>
                </a:ext>
              </a:extLst>
            </p:cNvPr>
            <p:cNvSpPr txBox="1"/>
            <p:nvPr/>
          </p:nvSpPr>
          <p:spPr>
            <a:xfrm>
              <a:off x="5834804" y="203771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691F74-0412-4643-B6E5-CA56A60A4DE7}"/>
                </a:ext>
              </a:extLst>
            </p:cNvPr>
            <p:cNvSpPr txBox="1"/>
            <p:nvPr/>
          </p:nvSpPr>
          <p:spPr>
            <a:xfrm>
              <a:off x="8214045" y="386651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F6B04C2-983A-480E-849C-780AD1306FC9}"/>
              </a:ext>
            </a:extLst>
          </p:cNvPr>
          <p:cNvSpPr txBox="1"/>
          <p:nvPr/>
        </p:nvSpPr>
        <p:spPr>
          <a:xfrm>
            <a:off x="374357" y="570451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Equation of a straight 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09AFD5-982E-48A6-A455-CA0AEA831969}"/>
              </a:ext>
            </a:extLst>
          </p:cNvPr>
          <p:cNvSpPr txBox="1"/>
          <p:nvPr/>
        </p:nvSpPr>
        <p:spPr>
          <a:xfrm>
            <a:off x="7556733" y="2816267"/>
            <a:ext cx="411683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 = dependent variable</a:t>
            </a:r>
          </a:p>
          <a:p>
            <a:r>
              <a:rPr lang="en-US" sz="2800" dirty="0"/>
              <a:t>x = independent variable</a:t>
            </a:r>
          </a:p>
          <a:p>
            <a:r>
              <a:rPr lang="en-US" sz="2800" dirty="0"/>
              <a:t>m = slope</a:t>
            </a:r>
          </a:p>
          <a:p>
            <a:r>
              <a:rPr lang="en-US" sz="2800" dirty="0"/>
              <a:t>c = intercept</a:t>
            </a:r>
          </a:p>
        </p:txBody>
      </p:sp>
    </p:spTree>
    <p:extLst>
      <p:ext uri="{BB962C8B-B14F-4D97-AF65-F5344CB8AC3E}">
        <p14:creationId xmlns:p14="http://schemas.microsoft.com/office/powerpoint/2010/main" val="232420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07E4AC-AFA6-4BB1-A0BE-7065400F2D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28C23-A560-44E3-A133-6A71D590186D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Simple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9454C-B658-491F-BE99-889803AD7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85" y="2066169"/>
            <a:ext cx="5978948" cy="4172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E4C35B-C9FC-4308-94F4-3A2CC34C8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1" y="1739652"/>
            <a:ext cx="2479012" cy="639324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6B9853F-7637-48FC-B903-B04BCF405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441" y="2606182"/>
            <a:ext cx="5420699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Y the dependent variable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X the independent variable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β0 the intercept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β1 the slope (the expected increase in Y when X increases by one unit)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ϵ the residuals (the error term of mean 0 which describes the variations of Y not captured by the model, also referred as the noise)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4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C23E31-6EF1-473E-AABB-9911DEB0C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92E5E-FBAB-44C7-A44B-4AC7B617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745" y="1971372"/>
            <a:ext cx="6660509" cy="46842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FDA5A4-5098-4307-916F-FCF96E2BC596}"/>
              </a:ext>
            </a:extLst>
          </p:cNvPr>
          <p:cNvSpPr/>
          <p:nvPr/>
        </p:nvSpPr>
        <p:spPr>
          <a:xfrm>
            <a:off x="0" y="1602040"/>
            <a:ext cx="11045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each point, the difference between the predicted point and the actual observation is the </a:t>
            </a:r>
            <a:r>
              <a:rPr lang="en-US" i="1" dirty="0"/>
              <a:t>residual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65090-AF40-4784-A8DC-E06B39AFF1B4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Simple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2443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868992-EF11-4DB4-BC43-11248F905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34DD1-709C-4D41-87FC-62C7AB4347B8}"/>
              </a:ext>
            </a:extLst>
          </p:cNvPr>
          <p:cNvSpPr/>
          <p:nvPr/>
        </p:nvSpPr>
        <p:spPr>
          <a:xfrm>
            <a:off x="297635" y="1333624"/>
            <a:ext cx="98151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out the best-fit line, we use residual sum of squares (RSS).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RSS, we take the square of the residuals and sum them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of residual sum of squares (RSS) will now be our cost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 the cost function to find the slope and intercept of the best fit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method of finding the line of best fit is called method of least squares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9693B-89AA-4253-9CD3-BC4E8EB74A24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Residual Sum of Squares (RSS)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7B594-B64E-44F1-A309-91FB72D7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810952"/>
            <a:ext cx="65151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6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D824B0-4558-44E0-AB41-D47D3D2B4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65C87-87F4-41DF-9D98-6EF861A3C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0" y="1188754"/>
            <a:ext cx="11430000" cy="4476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343DC2-DC48-473E-92C9-93C0ED5F6D6D}"/>
              </a:ext>
            </a:extLst>
          </p:cNvPr>
          <p:cNvSpPr/>
          <p:nvPr/>
        </p:nvSpPr>
        <p:spPr>
          <a:xfrm>
            <a:off x="883640" y="5831413"/>
            <a:ext cx="108861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Source: https://alykhantejani.github.io/images/gradient_descent_line_graph.gif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7BF2B-9497-47EB-B216-2C0874C4761C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48438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C89199-E6EC-4E1D-9276-663B3908AE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A5164-64DE-470B-A9B6-759E4E315574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Coefficient of Determination (R²)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74659-9B72-46CA-958A-80CB51E3F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36" y="1484717"/>
            <a:ext cx="5069267" cy="47222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DC86FD-348D-4383-A31B-4B36E6F77E9E}"/>
              </a:ext>
            </a:extLst>
          </p:cNvPr>
          <p:cNvSpPr/>
          <p:nvPr/>
        </p:nvSpPr>
        <p:spPr>
          <a:xfrm>
            <a:off x="363523" y="1484717"/>
            <a:ext cx="6448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Is our fitted regression line better than our baseline model?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45858-329C-4D09-B8BD-EB076D0F1084}"/>
              </a:ext>
            </a:extLst>
          </p:cNvPr>
          <p:cNvSpPr/>
          <p:nvPr/>
        </p:nvSpPr>
        <p:spPr>
          <a:xfrm>
            <a:off x="363522" y="1956964"/>
            <a:ext cx="64483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Residual Sum of Squared Errors (RSS)</a:t>
            </a:r>
            <a:r>
              <a:rPr lang="en-US" dirty="0"/>
              <a:t> is sum of all squared difference between actual Y and predicted Y. (red arrow)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Sum of Squared Error (TSS)</a:t>
            </a:r>
            <a:r>
              <a:rPr lang="en-US" dirty="0"/>
              <a:t> is the sum of all squared difference between Y and mean of Y. (vertical orange arrow)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74DBE-EE2E-9071-7E6E-F29C1DAA4030}"/>
              </a:ext>
            </a:extLst>
          </p:cNvPr>
          <p:cNvSpPr txBox="1"/>
          <p:nvPr/>
        </p:nvSpPr>
        <p:spPr>
          <a:xfrm>
            <a:off x="363522" y="3739636"/>
            <a:ext cx="65318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R-squared</a:t>
            </a:r>
            <a:r>
              <a:rPr lang="en-US" dirty="0"/>
              <a:t> of zero means our </a:t>
            </a:r>
            <a:r>
              <a:rPr lang="en-US" b="1" dirty="0"/>
              <a:t>regression line</a:t>
            </a:r>
            <a:r>
              <a:rPr lang="en-US" dirty="0"/>
              <a:t> explains none of the variability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R-squared</a:t>
            </a:r>
            <a:r>
              <a:rPr lang="en-US" dirty="0"/>
              <a:t> of 1 would mean our model explains the entire variability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regressions</a:t>
            </a:r>
            <a:r>
              <a:rPr lang="en-US" dirty="0"/>
              <a:t> explaining the entire variability are rare. What we usually observe are values ranging from 0.2 to 0.9</a:t>
            </a:r>
          </a:p>
        </p:txBody>
      </p:sp>
    </p:spTree>
    <p:extLst>
      <p:ext uri="{BB962C8B-B14F-4D97-AF65-F5344CB8AC3E}">
        <p14:creationId xmlns:p14="http://schemas.microsoft.com/office/powerpoint/2010/main" val="90589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37400-9C58-4A61-A51A-60ADCD5BFA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DB0C1-64DD-4165-8D5E-947BDC41CBD6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Multiple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2D9F0-65B5-4DA7-BDD1-166410A1C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0" y="1873876"/>
            <a:ext cx="5063805" cy="3943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39907B-95F2-42FD-8479-283A6869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35" y="1423084"/>
            <a:ext cx="4886761" cy="7120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80BEA0-B192-42A6-BFDA-3151DADA385A}"/>
              </a:ext>
            </a:extLst>
          </p:cNvPr>
          <p:cNvSpPr/>
          <p:nvPr/>
        </p:nvSpPr>
        <p:spPr>
          <a:xfrm>
            <a:off x="477628" y="2414677"/>
            <a:ext cx="64013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similar to the equation of simple linear regression, except that there is more than one independent variables (X</a:t>
            </a:r>
            <a:r>
              <a:rPr lang="en-US" baseline="-25000" dirty="0"/>
              <a:t>1</a:t>
            </a:r>
            <a:r>
              <a:rPr lang="en-US" dirty="0"/>
              <a:t>,X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Estimation of the parameters β</a:t>
            </a:r>
            <a:r>
              <a:rPr lang="en-US" baseline="-25000" dirty="0"/>
              <a:t>0</a:t>
            </a:r>
            <a:r>
              <a:rPr lang="en-US" dirty="0"/>
              <a:t>,…,β</a:t>
            </a:r>
            <a:r>
              <a:rPr lang="en-US" baseline="-25000" dirty="0"/>
              <a:t>p </a:t>
            </a:r>
            <a:r>
              <a:rPr lang="en-US" dirty="0"/>
              <a:t>by the method of least squares is based on the same principle as that of simple linear regression, but applied to p dimensions.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thus no longer a question of finding the best line (the one which passes closest to the pairs of points (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 err="1"/>
              <a:t>,x</a:t>
            </a:r>
            <a:r>
              <a:rPr lang="en-US" baseline="-25000" dirty="0" err="1"/>
              <a:t>i</a:t>
            </a:r>
            <a:r>
              <a:rPr lang="en-US" dirty="0"/>
              <a:t>)), but </a:t>
            </a:r>
            <a:r>
              <a:rPr lang="en-US" sz="1600" b="1" dirty="0"/>
              <a:t>finding the p-dimensional plane </a:t>
            </a:r>
            <a:r>
              <a:rPr lang="en-US" dirty="0"/>
              <a:t>which passes closest to the coordinate points (y</a:t>
            </a:r>
            <a:r>
              <a:rPr lang="en-US" baseline="-25000" dirty="0"/>
              <a:t>i</a:t>
            </a:r>
            <a:r>
              <a:rPr lang="en-US" dirty="0"/>
              <a:t>,x</a:t>
            </a:r>
            <a:r>
              <a:rPr lang="en-US" baseline="-25000" dirty="0"/>
              <a:t>i1</a:t>
            </a:r>
            <a:r>
              <a:rPr lang="en-US" dirty="0"/>
              <a:t>,…,</a:t>
            </a:r>
            <a:r>
              <a:rPr lang="en-US" dirty="0" err="1"/>
              <a:t>x</a:t>
            </a:r>
            <a:r>
              <a:rPr lang="en-US" baseline="-25000" dirty="0" err="1"/>
              <a:t>ip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2291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92D96-B3F4-4ED9-AD92-07EA66EE73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38785-87DE-4F7B-B863-C790DAAE7645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Assumptions of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28A60-E4DB-4D8D-BBA7-AB98D873C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84" y="2794164"/>
            <a:ext cx="8129704" cy="2274979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35CC0948-45FC-4BB6-9C14-A8D5BF9EA936}"/>
              </a:ext>
            </a:extLst>
          </p:cNvPr>
          <p:cNvSpPr/>
          <p:nvPr/>
        </p:nvSpPr>
        <p:spPr>
          <a:xfrm>
            <a:off x="493307" y="2005360"/>
            <a:ext cx="10596939" cy="119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3149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relationship between the dependent and independent variables is linear.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A6180-CF10-4800-937B-5D63EA7DC2FD}"/>
              </a:ext>
            </a:extLst>
          </p:cNvPr>
          <p:cNvSpPr txBox="1"/>
          <p:nvPr/>
        </p:nvSpPr>
        <p:spPr>
          <a:xfrm>
            <a:off x="493307" y="1367604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31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6B240-C0A9-499F-954F-309A767F5E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3FAA8-336C-4B22-813D-A6A5D058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578" y="1152495"/>
            <a:ext cx="4874003" cy="5386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3CEBED-1E46-4542-A2C4-0C279A407AFC}"/>
              </a:ext>
            </a:extLst>
          </p:cNvPr>
          <p:cNvSpPr txBox="1"/>
          <p:nvPr/>
        </p:nvSpPr>
        <p:spPr>
          <a:xfrm>
            <a:off x="297635" y="57433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Assumptions of linear regression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DDC289E-CAAB-45BD-BA84-A0550B04ECD3}"/>
              </a:ext>
            </a:extLst>
          </p:cNvPr>
          <p:cNvSpPr/>
          <p:nvPr/>
        </p:nvSpPr>
        <p:spPr>
          <a:xfrm>
            <a:off x="493307" y="2833692"/>
            <a:ext cx="5924271" cy="119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3149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normality assumption states that the model residuals should follow a normal distribution.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60459-EF5A-40F7-8620-C006CBFEFBFD}"/>
              </a:ext>
            </a:extLst>
          </p:cNvPr>
          <p:cNvSpPr txBox="1"/>
          <p:nvPr/>
        </p:nvSpPr>
        <p:spPr>
          <a:xfrm>
            <a:off x="493307" y="2195936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Normality</a:t>
            </a:r>
          </a:p>
        </p:txBody>
      </p:sp>
    </p:spTree>
    <p:extLst>
      <p:ext uri="{BB962C8B-B14F-4D97-AF65-F5344CB8AC3E}">
        <p14:creationId xmlns:p14="http://schemas.microsoft.com/office/powerpoint/2010/main" val="302179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7EA943-8E91-4BF1-8712-3D9D576C18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606628E-1A47-4276-ABCE-7151D32C6695}"/>
              </a:ext>
            </a:extLst>
          </p:cNvPr>
          <p:cNvGrpSpPr/>
          <p:nvPr/>
        </p:nvGrpSpPr>
        <p:grpSpPr>
          <a:xfrm>
            <a:off x="3090583" y="1025904"/>
            <a:ext cx="8620125" cy="5126058"/>
            <a:chOff x="1505124" y="1508620"/>
            <a:chExt cx="8620125" cy="5126058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29540F1-5FAD-4210-9806-4AA720C4EF46}"/>
                </a:ext>
              </a:extLst>
            </p:cNvPr>
            <p:cNvGrpSpPr/>
            <p:nvPr/>
          </p:nvGrpSpPr>
          <p:grpSpPr>
            <a:xfrm>
              <a:off x="1505124" y="1508620"/>
              <a:ext cx="8620125" cy="4581525"/>
              <a:chOff x="1295400" y="1642844"/>
              <a:chExt cx="8620125" cy="4581525"/>
            </a:xfrm>
          </p:grpSpPr>
          <p:graphicFrame>
            <p:nvGraphicFramePr>
              <p:cNvPr id="3" name="Object 3">
                <a:hlinkClick r:id="" action="ppaction://ole?verb=0"/>
                <a:extLst>
                  <a:ext uri="{FF2B5EF4-FFF2-40B4-BE49-F238E27FC236}">
                    <a16:creationId xmlns:a16="http://schemas.microsoft.com/office/drawing/2014/main" id="{92235B3D-F3CB-40F4-A635-DBFA2C2879D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01210638"/>
                  </p:ext>
                </p:extLst>
              </p:nvPr>
            </p:nvGraphicFramePr>
            <p:xfrm>
              <a:off x="1366838" y="5681444"/>
              <a:ext cx="576262" cy="533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" imgW="1031760" imgH="988920" progId="MS_ClipArt_Gallery.5">
                      <p:embed/>
                    </p:oleObj>
                  </mc:Choice>
                  <mc:Fallback>
                    <p:oleObj name="Clip" r:id="rId2" imgW="1031760" imgH="988920" progId="MS_ClipArt_Gallery.5">
                      <p:embed/>
                      <p:pic>
                        <p:nvPicPr>
                          <p:cNvPr id="1016835" name="Object 3">
                            <a:hlinkClick r:id="" action="ppaction://ole?verb=0"/>
                            <a:extLst>
                              <a:ext uri="{FF2B5EF4-FFF2-40B4-BE49-F238E27FC236}">
                                <a16:creationId xmlns:a16="http://schemas.microsoft.com/office/drawing/2014/main" id="{567FE0B2-46E2-4CC9-8AE7-164E4E62313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66838" y="5681444"/>
                            <a:ext cx="576262" cy="533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77F2926E-CFD5-4E56-8DF2-222CECE85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2638" y="5757644"/>
                <a:ext cx="3357562" cy="466725"/>
              </a:xfrm>
              <a:prstGeom prst="rect">
                <a:avLst/>
              </a:prstGeom>
              <a:solidFill>
                <a:srgbClr val="FDE0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="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Non-constant variance</a:t>
                </a:r>
              </a:p>
            </p:txBody>
          </p:sp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EB60F8F7-756F-4110-B2BE-2A7DCB167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8625" y="5698907"/>
                <a:ext cx="2974975" cy="466725"/>
              </a:xfrm>
              <a:prstGeom prst="rect">
                <a:avLst/>
              </a:prstGeom>
              <a:solidFill>
                <a:srgbClr val="FDE0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="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Constant variance</a:t>
                </a:r>
              </a:p>
            </p:txBody>
          </p:sp>
          <p:sp>
            <p:nvSpPr>
              <p:cNvPr id="6" name="Line 7">
                <a:extLst>
                  <a:ext uri="{FF2B5EF4-FFF2-40B4-BE49-F238E27FC236}">
                    <a16:creationId xmlns:a16="http://schemas.microsoft.com/office/drawing/2014/main" id="{FBAEA3F2-9AEA-4DEC-AB02-67170C3F3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038" y="4390807"/>
                <a:ext cx="0" cy="13668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8">
                <a:extLst>
                  <a:ext uri="{FF2B5EF4-FFF2-40B4-BE49-F238E27FC236}">
                    <a16:creationId xmlns:a16="http://schemas.microsoft.com/office/drawing/2014/main" id="{5FAC5896-2054-4080-A6B0-DC2C9B97C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8800" y="4995644"/>
                <a:ext cx="32766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9">
                <a:extLst>
                  <a:ext uri="{FF2B5EF4-FFF2-40B4-BE49-F238E27FC236}">
                    <a16:creationId xmlns:a16="http://schemas.microsoft.com/office/drawing/2014/main" id="{10AC752D-B0DB-426B-A1BB-3766E1ECB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3600" y="4081244"/>
                <a:ext cx="2738438" cy="757238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9BB72710-CE28-49BE-B63D-C00F749D3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3600" y="5224244"/>
                <a:ext cx="2662238" cy="452438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Oval 11">
                <a:extLst>
                  <a:ext uri="{FF2B5EF4-FFF2-40B4-BE49-F238E27FC236}">
                    <a16:creationId xmlns:a16="http://schemas.microsoft.com/office/drawing/2014/main" id="{441C4E6B-13CC-4D25-95A6-5AF31432B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038" y="48813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Oval 12">
                <a:extLst>
                  <a:ext uri="{FF2B5EF4-FFF2-40B4-BE49-F238E27FC236}">
                    <a16:creationId xmlns:a16="http://schemas.microsoft.com/office/drawing/2014/main" id="{38771E7A-727C-49F2-8E04-E3B662C28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45765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Oval 13">
                <a:extLst>
                  <a:ext uri="{FF2B5EF4-FFF2-40B4-BE49-F238E27FC236}">
                    <a16:creationId xmlns:a16="http://schemas.microsoft.com/office/drawing/2014/main" id="{E4D42658-D038-4B5D-B363-882E9C848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3638" y="50337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4">
                <a:extLst>
                  <a:ext uri="{FF2B5EF4-FFF2-40B4-BE49-F238E27FC236}">
                    <a16:creationId xmlns:a16="http://schemas.microsoft.com/office/drawing/2014/main" id="{B68FCFFA-B742-4989-BFBD-535FBCE17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6038" y="4728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Oval 15">
                <a:extLst>
                  <a:ext uri="{FF2B5EF4-FFF2-40B4-BE49-F238E27FC236}">
                    <a16:creationId xmlns:a16="http://schemas.microsoft.com/office/drawing/2014/main" id="{E8DBB562-D3C0-42A8-8504-0CBB7C9A8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038" y="4728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Oval 16">
                <a:extLst>
                  <a:ext uri="{FF2B5EF4-FFF2-40B4-BE49-F238E27FC236}">
                    <a16:creationId xmlns:a16="http://schemas.microsoft.com/office/drawing/2014/main" id="{DF92CE83-B283-4EF3-A96C-F0B26588B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3238" y="5109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Oval 17">
                <a:extLst>
                  <a:ext uri="{FF2B5EF4-FFF2-40B4-BE49-F238E27FC236}">
                    <a16:creationId xmlns:a16="http://schemas.microsoft.com/office/drawing/2014/main" id="{93B8BFDF-FA23-4C30-AA72-CCA9469C7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8038" y="48813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Oval 18">
                <a:extLst>
                  <a:ext uri="{FF2B5EF4-FFF2-40B4-BE49-F238E27FC236}">
                    <a16:creationId xmlns:a16="http://schemas.microsoft.com/office/drawing/2014/main" id="{5A4B332C-3DDD-46E4-BE8F-1F6CECE11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8438" y="50337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Oval 19">
                <a:extLst>
                  <a:ext uri="{FF2B5EF4-FFF2-40B4-BE49-F238E27FC236}">
                    <a16:creationId xmlns:a16="http://schemas.microsoft.com/office/drawing/2014/main" id="{4831F809-E806-4110-93DA-D9EF7FB9A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3438" y="5109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Oval 20">
                <a:extLst>
                  <a:ext uri="{FF2B5EF4-FFF2-40B4-BE49-F238E27FC236}">
                    <a16:creationId xmlns:a16="http://schemas.microsoft.com/office/drawing/2014/main" id="{5899918A-A00F-4C60-975F-D878F9896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7638" y="53385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21">
                <a:extLst>
                  <a:ext uri="{FF2B5EF4-FFF2-40B4-BE49-F238E27FC236}">
                    <a16:creationId xmlns:a16="http://schemas.microsoft.com/office/drawing/2014/main" id="{C31ECC50-4426-4DD3-9F83-DFA9F2AC0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038" y="4728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Oval 22">
                <a:extLst>
                  <a:ext uri="{FF2B5EF4-FFF2-40B4-BE49-F238E27FC236}">
                    <a16:creationId xmlns:a16="http://schemas.microsoft.com/office/drawing/2014/main" id="{6874A645-50AD-4414-99ED-225964494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1438" y="44241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Oval 23">
                <a:extLst>
                  <a:ext uri="{FF2B5EF4-FFF2-40B4-BE49-F238E27FC236}">
                    <a16:creationId xmlns:a16="http://schemas.microsoft.com/office/drawing/2014/main" id="{87C36D00-691C-4075-809B-7419F93E7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9038" y="48051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8B08D7D5-5BB6-45A3-A6A0-10D40181F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838" y="50337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CA5BB583-ED96-446E-B16A-8D8A3C622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51861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6">
                <a:extLst>
                  <a:ext uri="{FF2B5EF4-FFF2-40B4-BE49-F238E27FC236}">
                    <a16:creationId xmlns:a16="http://schemas.microsoft.com/office/drawing/2014/main" id="{D41A79FB-1559-458C-B12D-A463D0FD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4538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Oval 27">
                <a:extLst>
                  <a:ext uri="{FF2B5EF4-FFF2-40B4-BE49-F238E27FC236}">
                    <a16:creationId xmlns:a16="http://schemas.microsoft.com/office/drawing/2014/main" id="{82F82988-DE5F-4263-902D-23EF96E6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238" y="48051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Oval 28">
                <a:extLst>
                  <a:ext uri="{FF2B5EF4-FFF2-40B4-BE49-F238E27FC236}">
                    <a16:creationId xmlns:a16="http://schemas.microsoft.com/office/drawing/2014/main" id="{D32757B2-3C55-4F8D-891C-18B509025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800" y="4233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Oval 29">
                <a:extLst>
                  <a:ext uri="{FF2B5EF4-FFF2-40B4-BE49-F238E27FC236}">
                    <a16:creationId xmlns:a16="http://schemas.microsoft.com/office/drawing/2014/main" id="{9BB22BDC-2502-49D7-99DD-8076CBB5A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1038" y="54147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Oval 30">
                <a:extLst>
                  <a:ext uri="{FF2B5EF4-FFF2-40B4-BE49-F238E27FC236}">
                    <a16:creationId xmlns:a16="http://schemas.microsoft.com/office/drawing/2014/main" id="{EE0E8A62-802E-4158-81A7-BE4C5DFEC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6238" y="51099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31">
                <a:extLst>
                  <a:ext uri="{FF2B5EF4-FFF2-40B4-BE49-F238E27FC236}">
                    <a16:creationId xmlns:a16="http://schemas.microsoft.com/office/drawing/2014/main" id="{8520016D-F71E-42D3-9FF6-7B2821445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9200" y="4767044"/>
                <a:ext cx="466725" cy="45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31" name="Line 32">
                <a:extLst>
                  <a:ext uri="{FF2B5EF4-FFF2-40B4-BE49-F238E27FC236}">
                    <a16:creationId xmlns:a16="http://schemas.microsoft.com/office/drawing/2014/main" id="{A2A1C47E-62CA-4EDF-9541-06A118F2F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4995644"/>
                <a:ext cx="327183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3">
                <a:extLst>
                  <a:ext uri="{FF2B5EF4-FFF2-40B4-BE49-F238E27FC236}">
                    <a16:creationId xmlns:a16="http://schemas.microsoft.com/office/drawing/2014/main" id="{5FFCFE5D-D69F-4868-BD82-6541CC0E2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4357469"/>
                <a:ext cx="0" cy="13668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34">
                <a:extLst>
                  <a:ext uri="{FF2B5EF4-FFF2-40B4-BE49-F238E27FC236}">
                    <a16:creationId xmlns:a16="http://schemas.microsoft.com/office/drawing/2014/main" id="{DAF7A500-8D83-491C-BD3E-9146C3A4F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2600" y="4767044"/>
                <a:ext cx="466725" cy="45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34" name="Line 35">
                <a:extLst>
                  <a:ext uri="{FF2B5EF4-FFF2-40B4-BE49-F238E27FC236}">
                    <a16:creationId xmlns:a16="http://schemas.microsoft.com/office/drawing/2014/main" id="{1B9713B6-C066-42BD-B1F2-BA954118A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38900" y="4538444"/>
                <a:ext cx="2967038" cy="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36">
                <a:extLst>
                  <a:ext uri="{FF2B5EF4-FFF2-40B4-BE49-F238E27FC236}">
                    <a16:creationId xmlns:a16="http://schemas.microsoft.com/office/drawing/2014/main" id="{EEE8FCE0-1D9E-4652-A05D-B55ABECFB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38900" y="5376644"/>
                <a:ext cx="2967038" cy="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Oval 37">
                <a:extLst>
                  <a:ext uri="{FF2B5EF4-FFF2-40B4-BE49-F238E27FC236}">
                    <a16:creationId xmlns:a16="http://schemas.microsoft.com/office/drawing/2014/main" id="{B2FAAE9A-ABB6-4457-9FD4-D9B782961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38" y="4614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Oval 38">
                <a:extLst>
                  <a:ext uri="{FF2B5EF4-FFF2-40B4-BE49-F238E27FC236}">
                    <a16:creationId xmlns:a16="http://schemas.microsoft.com/office/drawing/2014/main" id="{66E4247D-0E2F-4680-8EC9-2E53CDA6C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5638" y="4995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Oval 39">
                <a:extLst>
                  <a:ext uri="{FF2B5EF4-FFF2-40B4-BE49-F238E27FC236}">
                    <a16:creationId xmlns:a16="http://schemas.microsoft.com/office/drawing/2014/main" id="{90E66B88-0FA8-4DA1-B873-AB7D7B6F5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4638" y="4919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Oval 40">
                <a:extLst>
                  <a:ext uri="{FF2B5EF4-FFF2-40B4-BE49-F238E27FC236}">
                    <a16:creationId xmlns:a16="http://schemas.microsoft.com/office/drawing/2014/main" id="{283D3A65-8CB9-4D78-B5B2-77D16399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7038" y="4614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Oval 41">
                <a:extLst>
                  <a:ext uri="{FF2B5EF4-FFF2-40B4-BE49-F238E27FC236}">
                    <a16:creationId xmlns:a16="http://schemas.microsoft.com/office/drawing/2014/main" id="{D5A88B9C-3EFC-4E0D-ADEC-8D2471493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3638" y="4843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Oval 42">
                <a:extLst>
                  <a:ext uri="{FF2B5EF4-FFF2-40B4-BE49-F238E27FC236}">
                    <a16:creationId xmlns:a16="http://schemas.microsoft.com/office/drawing/2014/main" id="{18D92389-499D-4B73-A56F-C1CC6D02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38" y="5071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Oval 43">
                <a:extLst>
                  <a:ext uri="{FF2B5EF4-FFF2-40B4-BE49-F238E27FC236}">
                    <a16:creationId xmlns:a16="http://schemas.microsoft.com/office/drawing/2014/main" id="{A6927229-C1C5-4456-A388-2E8455A4F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8" y="4538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Oval 44">
                <a:extLst>
                  <a:ext uri="{FF2B5EF4-FFF2-40B4-BE49-F238E27FC236}">
                    <a16:creationId xmlns:a16="http://schemas.microsoft.com/office/drawing/2014/main" id="{1CED6669-AC99-4C43-B887-1C8F04EE5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4238" y="4767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Oval 45">
                <a:extLst>
                  <a:ext uri="{FF2B5EF4-FFF2-40B4-BE49-F238E27FC236}">
                    <a16:creationId xmlns:a16="http://schemas.microsoft.com/office/drawing/2014/main" id="{77882F7D-D8D4-439D-92CE-558DAED0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6638" y="4538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Oval 46">
                <a:extLst>
                  <a:ext uri="{FF2B5EF4-FFF2-40B4-BE49-F238E27FC236}">
                    <a16:creationId xmlns:a16="http://schemas.microsoft.com/office/drawing/2014/main" id="{5A04387C-A268-41EB-B451-025F2C054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5238" y="4767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Oval 47">
                <a:extLst>
                  <a:ext uri="{FF2B5EF4-FFF2-40B4-BE49-F238E27FC236}">
                    <a16:creationId xmlns:a16="http://schemas.microsoft.com/office/drawing/2014/main" id="{289EB3CB-C6A8-4D5C-AE4C-BDCF51189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3838" y="5071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Oval 48">
                <a:extLst>
                  <a:ext uri="{FF2B5EF4-FFF2-40B4-BE49-F238E27FC236}">
                    <a16:creationId xmlns:a16="http://schemas.microsoft.com/office/drawing/2014/main" id="{991729B4-5F0F-4831-B19A-8BD5696EE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9038" y="4995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Oval 49">
                <a:extLst>
                  <a:ext uri="{FF2B5EF4-FFF2-40B4-BE49-F238E27FC236}">
                    <a16:creationId xmlns:a16="http://schemas.microsoft.com/office/drawing/2014/main" id="{386C6E20-148D-450F-AE8A-E00913702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8" y="4614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Oval 50">
                <a:extLst>
                  <a:ext uri="{FF2B5EF4-FFF2-40B4-BE49-F238E27FC236}">
                    <a16:creationId xmlns:a16="http://schemas.microsoft.com/office/drawing/2014/main" id="{5D7A5A32-99C9-4B77-AF5B-0A1BF840A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0038" y="4767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Oval 51">
                <a:extLst>
                  <a:ext uri="{FF2B5EF4-FFF2-40B4-BE49-F238E27FC236}">
                    <a16:creationId xmlns:a16="http://schemas.microsoft.com/office/drawing/2014/main" id="{DADF01C6-F7B5-4100-8253-D50C18494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8638" y="5071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Oval 52">
                <a:extLst>
                  <a:ext uri="{FF2B5EF4-FFF2-40B4-BE49-F238E27FC236}">
                    <a16:creationId xmlns:a16="http://schemas.microsoft.com/office/drawing/2014/main" id="{C9D59BA8-864E-41AD-BAAE-29DE05A79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8" y="5071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Oval 53">
                <a:extLst>
                  <a:ext uri="{FF2B5EF4-FFF2-40B4-BE49-F238E27FC236}">
                    <a16:creationId xmlns:a16="http://schemas.microsoft.com/office/drawing/2014/main" id="{D2737AC0-92CF-4DE0-AA48-11F71BED2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3438" y="4843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Oval 54">
                <a:extLst>
                  <a:ext uri="{FF2B5EF4-FFF2-40B4-BE49-F238E27FC236}">
                    <a16:creationId xmlns:a16="http://schemas.microsoft.com/office/drawing/2014/main" id="{D35906EA-B9F3-4724-BC99-4E52DB423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9238" y="4614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55">
                <a:extLst>
                  <a:ext uri="{FF2B5EF4-FFF2-40B4-BE49-F238E27FC236}">
                    <a16:creationId xmlns:a16="http://schemas.microsoft.com/office/drawing/2014/main" id="{EE5907B4-C29B-4E2C-B66E-ABE0C9902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0638" y="4919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Oval 56">
                <a:extLst>
                  <a:ext uri="{FF2B5EF4-FFF2-40B4-BE49-F238E27FC236}">
                    <a16:creationId xmlns:a16="http://schemas.microsoft.com/office/drawing/2014/main" id="{2C91A1E3-569F-4865-B7C9-7CEDBA708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1638" y="5071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Line 57">
                <a:extLst>
                  <a:ext uri="{FF2B5EF4-FFF2-40B4-BE49-F238E27FC236}">
                    <a16:creationId xmlns:a16="http://schemas.microsoft.com/office/drawing/2014/main" id="{E19DE622-BE28-44E3-A7CD-4718F4752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038" y="2485807"/>
                <a:ext cx="0" cy="15192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Line 58">
                <a:extLst>
                  <a:ext uri="{FF2B5EF4-FFF2-40B4-BE49-F238E27FC236}">
                    <a16:creationId xmlns:a16="http://schemas.microsoft.com/office/drawing/2014/main" id="{C9A07F5F-BC05-47F3-A208-FCC25F17B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038" y="4005044"/>
                <a:ext cx="3352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Line 59">
                <a:extLst>
                  <a:ext uri="{FF2B5EF4-FFF2-40B4-BE49-F238E27FC236}">
                    <a16:creationId xmlns:a16="http://schemas.microsoft.com/office/drawing/2014/main" id="{E3EB161E-3A72-44FA-8FFC-EA9FDA85A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038" y="2404844"/>
                <a:ext cx="3429000" cy="1143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Oval 60">
                <a:extLst>
                  <a:ext uri="{FF2B5EF4-FFF2-40B4-BE49-F238E27FC236}">
                    <a16:creationId xmlns:a16="http://schemas.microsoft.com/office/drawing/2014/main" id="{3B791508-E05E-4B0B-9156-ACF466994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2128838" y="3319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61">
                <a:extLst>
                  <a:ext uri="{FF2B5EF4-FFF2-40B4-BE49-F238E27FC236}">
                    <a16:creationId xmlns:a16="http://schemas.microsoft.com/office/drawing/2014/main" id="{6100B374-18F9-424A-832E-B6B12DE23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2509838" y="2938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Oval 62">
                <a:extLst>
                  <a:ext uri="{FF2B5EF4-FFF2-40B4-BE49-F238E27FC236}">
                    <a16:creationId xmlns:a16="http://schemas.microsoft.com/office/drawing/2014/main" id="{358F9926-9CBA-4BD2-93B2-61D663981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729038" y="1947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Oval 63">
                <a:extLst>
                  <a:ext uri="{FF2B5EF4-FFF2-40B4-BE49-F238E27FC236}">
                    <a16:creationId xmlns:a16="http://schemas.microsoft.com/office/drawing/2014/main" id="{97C8D159-16BD-4869-9953-36DD57993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033838" y="3090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Oval 64">
                <a:extLst>
                  <a:ext uri="{FF2B5EF4-FFF2-40B4-BE49-F238E27FC236}">
                    <a16:creationId xmlns:a16="http://schemas.microsoft.com/office/drawing/2014/main" id="{21BF1B98-6CF4-4444-B973-9EDA7D46B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338638" y="2023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Oval 65">
                <a:extLst>
                  <a:ext uri="{FF2B5EF4-FFF2-40B4-BE49-F238E27FC236}">
                    <a16:creationId xmlns:a16="http://schemas.microsoft.com/office/drawing/2014/main" id="{297481ED-26C4-4FD2-B50A-F511246E2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2890838" y="2862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Oval 66">
                <a:extLst>
                  <a:ext uri="{FF2B5EF4-FFF2-40B4-BE49-F238E27FC236}">
                    <a16:creationId xmlns:a16="http://schemas.microsoft.com/office/drawing/2014/main" id="{9CF39D40-856C-49C0-9F70-B18A80044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262438" y="2785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Oval 67">
                <a:extLst>
                  <a:ext uri="{FF2B5EF4-FFF2-40B4-BE49-F238E27FC236}">
                    <a16:creationId xmlns:a16="http://schemas.microsoft.com/office/drawing/2014/main" id="{0BC9F3AD-063C-4402-B963-226B48508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567238" y="3243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Oval 68">
                <a:extLst>
                  <a:ext uri="{FF2B5EF4-FFF2-40B4-BE49-F238E27FC236}">
                    <a16:creationId xmlns:a16="http://schemas.microsoft.com/office/drawing/2014/main" id="{D1B6905F-F0A7-4A7E-8159-1B34313F1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414838" y="1642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Oval 69">
                <a:extLst>
                  <a:ext uri="{FF2B5EF4-FFF2-40B4-BE49-F238E27FC236}">
                    <a16:creationId xmlns:a16="http://schemas.microsoft.com/office/drawing/2014/main" id="{ECC86073-BEB1-474E-85A8-F7C6322F0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567238" y="2252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Oval 70">
                <a:extLst>
                  <a:ext uri="{FF2B5EF4-FFF2-40B4-BE49-F238E27FC236}">
                    <a16:creationId xmlns:a16="http://schemas.microsoft.com/office/drawing/2014/main" id="{4F707153-FE64-4223-BAF5-6ABCF4DF9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110038" y="2328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Oval 71">
                <a:extLst>
                  <a:ext uri="{FF2B5EF4-FFF2-40B4-BE49-F238E27FC236}">
                    <a16:creationId xmlns:a16="http://schemas.microsoft.com/office/drawing/2014/main" id="{D8F327DD-CAED-4494-9331-395392DFA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424238" y="3243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Oval 72">
                <a:extLst>
                  <a:ext uri="{FF2B5EF4-FFF2-40B4-BE49-F238E27FC236}">
                    <a16:creationId xmlns:a16="http://schemas.microsoft.com/office/drawing/2014/main" id="{6069EF1D-DC36-4198-A203-A152743A7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729038" y="2633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Oval 73">
                <a:extLst>
                  <a:ext uri="{FF2B5EF4-FFF2-40B4-BE49-F238E27FC236}">
                    <a16:creationId xmlns:a16="http://schemas.microsoft.com/office/drawing/2014/main" id="{C27B5DB5-88F2-46B5-9772-19390015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348038" y="2404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Oval 74">
                <a:extLst>
                  <a:ext uri="{FF2B5EF4-FFF2-40B4-BE49-F238E27FC236}">
                    <a16:creationId xmlns:a16="http://schemas.microsoft.com/office/drawing/2014/main" id="{0E933633-CE41-41A0-8DA7-21A24FD80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2357438" y="3319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Oval 75">
                <a:extLst>
                  <a:ext uri="{FF2B5EF4-FFF2-40B4-BE49-F238E27FC236}">
                    <a16:creationId xmlns:a16="http://schemas.microsoft.com/office/drawing/2014/main" id="{A965405A-8E9A-4E98-9FBE-503F85BE8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2662238" y="3166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Oval 76">
                <a:extLst>
                  <a:ext uri="{FF2B5EF4-FFF2-40B4-BE49-F238E27FC236}">
                    <a16:creationId xmlns:a16="http://schemas.microsoft.com/office/drawing/2014/main" id="{145D05D1-B7C4-4E6B-8788-E8992EECC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043238" y="3243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Oval 77">
                <a:extLst>
                  <a:ext uri="{FF2B5EF4-FFF2-40B4-BE49-F238E27FC236}">
                    <a16:creationId xmlns:a16="http://schemas.microsoft.com/office/drawing/2014/main" id="{D91665D2-13C6-443C-998B-10616EB71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652838" y="2938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Oval 78">
                <a:extLst>
                  <a:ext uri="{FF2B5EF4-FFF2-40B4-BE49-F238E27FC236}">
                    <a16:creationId xmlns:a16="http://schemas.microsoft.com/office/drawing/2014/main" id="{5140953A-32CF-4C84-ACEB-444861CBE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4719638" y="2709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Oval 79">
                <a:extLst>
                  <a:ext uri="{FF2B5EF4-FFF2-40B4-BE49-F238E27FC236}">
                    <a16:creationId xmlns:a16="http://schemas.microsoft.com/office/drawing/2014/main" id="{AD776003-EF83-40DA-AC95-234323618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3271838" y="2938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Text Box 80">
                <a:extLst>
                  <a:ext uri="{FF2B5EF4-FFF2-40B4-BE49-F238E27FC236}">
                    <a16:creationId xmlns:a16="http://schemas.microsoft.com/office/drawing/2014/main" id="{98EFB99D-00E6-4D1E-A89C-D525CF30C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0200" y="2023844"/>
                <a:ext cx="3873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80" name="Line 81">
                <a:extLst>
                  <a:ext uri="{FF2B5EF4-FFF2-40B4-BE49-F238E27FC236}">
                    <a16:creationId xmlns:a16="http://schemas.microsoft.com/office/drawing/2014/main" id="{634194D6-B392-406F-828B-5EF03FA29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838" y="1719044"/>
                <a:ext cx="1905000" cy="152400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82">
                <a:extLst>
                  <a:ext uri="{FF2B5EF4-FFF2-40B4-BE49-F238E27FC236}">
                    <a16:creationId xmlns:a16="http://schemas.microsoft.com/office/drawing/2014/main" id="{352C3969-4C80-4D49-8AFE-6AF145CF7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838" y="3624044"/>
                <a:ext cx="2743200" cy="4763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83">
                <a:extLst>
                  <a:ext uri="{FF2B5EF4-FFF2-40B4-BE49-F238E27FC236}">
                    <a16:creationId xmlns:a16="http://schemas.microsoft.com/office/drawing/2014/main" id="{86FAF764-2955-4A41-A0D7-4B12E13E5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400" y="3776444"/>
                <a:ext cx="466725" cy="45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3" name="Rectangle 84">
                <a:extLst>
                  <a:ext uri="{FF2B5EF4-FFF2-40B4-BE49-F238E27FC236}">
                    <a16:creationId xmlns:a16="http://schemas.microsoft.com/office/drawing/2014/main" id="{0BED2146-143C-4E39-9F68-91752D186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8800" y="3700244"/>
                <a:ext cx="466725" cy="45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4" name="Line 85">
                <a:extLst>
                  <a:ext uri="{FF2B5EF4-FFF2-40B4-BE49-F238E27FC236}">
                    <a16:creationId xmlns:a16="http://schemas.microsoft.com/office/drawing/2014/main" id="{7F575279-FCE7-4DCC-BF15-F5988CAA1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96000" y="2292132"/>
                <a:ext cx="11113" cy="16367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Line 86">
                <a:extLst>
                  <a:ext uri="{FF2B5EF4-FFF2-40B4-BE49-F238E27FC236}">
                    <a16:creationId xmlns:a16="http://schemas.microsoft.com/office/drawing/2014/main" id="{0C9C21E3-00AA-429F-961D-5FB306D27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96000" y="3928844"/>
                <a:ext cx="34290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87">
                <a:extLst>
                  <a:ext uri="{FF2B5EF4-FFF2-40B4-BE49-F238E27FC236}">
                    <a16:creationId xmlns:a16="http://schemas.microsoft.com/office/drawing/2014/main" id="{E656C4F2-B360-4C25-83FD-4B862CD137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07113" y="2287369"/>
                <a:ext cx="3429000" cy="1143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Oval 88">
                <a:extLst>
                  <a:ext uri="{FF2B5EF4-FFF2-40B4-BE49-F238E27FC236}">
                    <a16:creationId xmlns:a16="http://schemas.microsoft.com/office/drawing/2014/main" id="{71CF6EFF-EC6A-42F0-9821-92DA47DD0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6243638" y="3201769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Oval 89">
                <a:extLst>
                  <a:ext uri="{FF2B5EF4-FFF2-40B4-BE49-F238E27FC236}">
                    <a16:creationId xmlns:a16="http://schemas.microsoft.com/office/drawing/2014/main" id="{EDA5B2D3-ED7D-449F-937A-231444D90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6396038" y="2862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Oval 90">
                <a:extLst>
                  <a:ext uri="{FF2B5EF4-FFF2-40B4-BE49-F238E27FC236}">
                    <a16:creationId xmlns:a16="http://schemas.microsoft.com/office/drawing/2014/main" id="{1C4CB09A-95BC-439B-9E30-E70ACDFFF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001000" y="2633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Oval 91">
                <a:extLst>
                  <a:ext uri="{FF2B5EF4-FFF2-40B4-BE49-F238E27FC236}">
                    <a16:creationId xmlns:a16="http://schemas.microsoft.com/office/drawing/2014/main" id="{A64041D7-30F3-4D16-B961-5D7A5037A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682038" y="2176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Oval 92">
                <a:extLst>
                  <a:ext uri="{FF2B5EF4-FFF2-40B4-BE49-F238E27FC236}">
                    <a16:creationId xmlns:a16="http://schemas.microsoft.com/office/drawing/2014/main" id="{DEC92BFD-355A-4EF0-807D-192D353CB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6777038" y="2785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Oval 93">
                <a:extLst>
                  <a:ext uri="{FF2B5EF4-FFF2-40B4-BE49-F238E27FC236}">
                    <a16:creationId xmlns:a16="http://schemas.microsoft.com/office/drawing/2014/main" id="{79DE3514-5C2A-40A5-8E2C-A71FB805C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453438" y="2557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Oval 94">
                <a:extLst>
                  <a:ext uri="{FF2B5EF4-FFF2-40B4-BE49-F238E27FC236}">
                    <a16:creationId xmlns:a16="http://schemas.microsoft.com/office/drawing/2014/main" id="{9D108533-545F-41DB-AE82-DE3EF941A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682038" y="2785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pPr algn="ctr"/>
                <a:endParaRPr lang="en-US" altLang="en-US" sz="2400" b="0" baseline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4" name="Oval 95">
                <a:extLst>
                  <a:ext uri="{FF2B5EF4-FFF2-40B4-BE49-F238E27FC236}">
                    <a16:creationId xmlns:a16="http://schemas.microsoft.com/office/drawing/2014/main" id="{3FAF66E9-306A-4A0B-9EC5-C836F603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850313" y="2404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Oval 96">
                <a:extLst>
                  <a:ext uri="{FF2B5EF4-FFF2-40B4-BE49-F238E27FC236}">
                    <a16:creationId xmlns:a16="http://schemas.microsoft.com/office/drawing/2014/main" id="{30891605-00F4-42AA-A78D-0A86FA63E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224838" y="2176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Oval 97">
                <a:extLst>
                  <a:ext uri="{FF2B5EF4-FFF2-40B4-BE49-F238E27FC236}">
                    <a16:creationId xmlns:a16="http://schemas.microsoft.com/office/drawing/2014/main" id="{56C3D865-9552-4825-8E48-D98DED3C3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539038" y="2938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Oval 98">
                <a:extLst>
                  <a:ext uri="{FF2B5EF4-FFF2-40B4-BE49-F238E27FC236}">
                    <a16:creationId xmlns:a16="http://schemas.microsoft.com/office/drawing/2014/main" id="{3CABD392-4953-4492-907C-F1C1EA689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615238" y="26334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Oval 99">
                <a:extLst>
                  <a:ext uri="{FF2B5EF4-FFF2-40B4-BE49-F238E27FC236}">
                    <a16:creationId xmlns:a16="http://schemas.microsoft.com/office/drawing/2014/main" id="{69192190-0C18-41E6-989C-52D771F9E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310438" y="2557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Oval 100">
                <a:extLst>
                  <a:ext uri="{FF2B5EF4-FFF2-40B4-BE49-F238E27FC236}">
                    <a16:creationId xmlns:a16="http://schemas.microsoft.com/office/drawing/2014/main" id="{C792E573-077E-4739-91D5-2A01BCB39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6472238" y="3319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Oval 101">
                <a:extLst>
                  <a:ext uri="{FF2B5EF4-FFF2-40B4-BE49-F238E27FC236}">
                    <a16:creationId xmlns:a16="http://schemas.microsoft.com/office/drawing/2014/main" id="{C00E05B0-D677-47F2-A481-BD349C9E9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6624638" y="3049369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Oval 102">
                <a:extLst>
                  <a:ext uri="{FF2B5EF4-FFF2-40B4-BE49-F238E27FC236}">
                    <a16:creationId xmlns:a16="http://schemas.microsoft.com/office/drawing/2014/main" id="{7BFAA2A9-4610-43AE-85AF-DACD1289A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005638" y="31668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Oval 103">
                <a:extLst>
                  <a:ext uri="{FF2B5EF4-FFF2-40B4-BE49-F238E27FC236}">
                    <a16:creationId xmlns:a16="http://schemas.microsoft.com/office/drawing/2014/main" id="{C897ADB3-3D5B-4E95-AAF0-D55451E00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843838" y="29382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Oval 104">
                <a:extLst>
                  <a:ext uri="{FF2B5EF4-FFF2-40B4-BE49-F238E27FC236}">
                    <a16:creationId xmlns:a16="http://schemas.microsoft.com/office/drawing/2014/main" id="{C46786B1-6756-4FF9-8D1D-98D7EA823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9139238" y="2592169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Oval 105">
                <a:extLst>
                  <a:ext uri="{FF2B5EF4-FFF2-40B4-BE49-F238E27FC236}">
                    <a16:creationId xmlns:a16="http://schemas.microsoft.com/office/drawing/2014/main" id="{F6EF97D8-0F52-4DDB-B1C4-B9A88A013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7158038" y="28620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Text Box 106">
                <a:extLst>
                  <a:ext uri="{FF2B5EF4-FFF2-40B4-BE49-F238E27FC236}">
                    <a16:creationId xmlns:a16="http://schemas.microsoft.com/office/drawing/2014/main" id="{D3F57A2E-0FBB-42FB-8753-6E4CF6435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3275" y="1906369"/>
                <a:ext cx="3873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40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06" name="Oval 107">
                <a:extLst>
                  <a:ext uri="{FF2B5EF4-FFF2-40B4-BE49-F238E27FC236}">
                    <a16:creationId xmlns:a16="http://schemas.microsoft.com/office/drawing/2014/main" id="{7575BC8D-B636-4717-9FB6-2F19689B0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317620">
                <a:off x="8986838" y="1947644"/>
                <a:ext cx="228600" cy="2286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Line 108">
                <a:extLst>
                  <a:ext uri="{FF2B5EF4-FFF2-40B4-BE49-F238E27FC236}">
                    <a16:creationId xmlns:a16="http://schemas.microsoft.com/office/drawing/2014/main" id="{1A6D49C9-B966-4E44-8029-C3831BA44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96038" y="1871444"/>
                <a:ext cx="2667000" cy="91440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Line 109">
                <a:extLst>
                  <a:ext uri="{FF2B5EF4-FFF2-40B4-BE49-F238E27FC236}">
                    <a16:creationId xmlns:a16="http://schemas.microsoft.com/office/drawing/2014/main" id="{A67A6A97-FD8C-49AD-90AC-ACA0045DE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48438" y="2938244"/>
                <a:ext cx="2667000" cy="83820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10">
                <a:extLst>
                  <a:ext uri="{FF2B5EF4-FFF2-40B4-BE49-F238E27FC236}">
                    <a16:creationId xmlns:a16="http://schemas.microsoft.com/office/drawing/2014/main" id="{2CF06D3B-6B76-44C4-AC07-0DB24FB9E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839787" y="4841657"/>
                <a:ext cx="1304925" cy="393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residuals</a:t>
                </a:r>
              </a:p>
            </p:txBody>
          </p:sp>
          <p:sp>
            <p:nvSpPr>
              <p:cNvPr id="110" name="Rectangle 111">
                <a:extLst>
                  <a:ext uri="{FF2B5EF4-FFF2-40B4-BE49-F238E27FC236}">
                    <a16:creationId xmlns:a16="http://schemas.microsoft.com/office/drawing/2014/main" id="{88F39005-4947-44D6-B512-FFF31640C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59387" y="4841657"/>
                <a:ext cx="1304925" cy="393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0" baseline="0">
                    <a:solidFill>
                      <a:schemeClr val="tx1"/>
                    </a:solidFill>
                    <a:latin typeface="Arial" panose="020B0604020202020204" pitchFamily="34" charset="0"/>
                  </a:rPr>
                  <a:t>residuals</a:t>
                </a:r>
              </a:p>
            </p:txBody>
          </p:sp>
        </p:grpSp>
        <p:sp>
          <p:nvSpPr>
            <p:cNvPr id="112" name="Rectangle 6">
              <a:extLst>
                <a:ext uri="{FF2B5EF4-FFF2-40B4-BE49-F238E27FC236}">
                  <a16:creationId xmlns:a16="http://schemas.microsoft.com/office/drawing/2014/main" id="{D4BE27E2-CEDC-42D2-ABE5-5BBA6741E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4631" y="6107782"/>
              <a:ext cx="2974975" cy="459100"/>
            </a:xfrm>
            <a:prstGeom prst="rect">
              <a:avLst/>
            </a:prstGeom>
            <a:solidFill>
              <a:srgbClr val="FDE0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Homoscedasticity</a:t>
              </a:r>
              <a:endParaRPr lang="en-US" altLang="en-US" sz="2400" baseline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Rectangle 6">
              <a:extLst>
                <a:ext uri="{FF2B5EF4-FFF2-40B4-BE49-F238E27FC236}">
                  <a16:creationId xmlns:a16="http://schemas.microsoft.com/office/drawing/2014/main" id="{2E591A9D-91A5-4027-BF53-389638D93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949" y="6175578"/>
              <a:ext cx="3355975" cy="459100"/>
            </a:xfrm>
            <a:prstGeom prst="rect">
              <a:avLst/>
            </a:prstGeom>
            <a:solidFill>
              <a:srgbClr val="FDE0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Heteroscedasticity</a:t>
              </a:r>
              <a:endParaRPr lang="en-US" altLang="en-US" sz="2400" b="0" baseline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8DE4E12E-683B-40B6-B995-DE1B711E2BD1}"/>
              </a:ext>
            </a:extLst>
          </p:cNvPr>
          <p:cNvSpPr txBox="1"/>
          <p:nvPr/>
        </p:nvSpPr>
        <p:spPr>
          <a:xfrm>
            <a:off x="297635" y="44112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Assumptions of linear regression</a:t>
            </a:r>
          </a:p>
        </p:txBody>
      </p:sp>
      <p:sp>
        <p:nvSpPr>
          <p:cNvPr id="117" name="Text 6">
            <a:extLst>
              <a:ext uri="{FF2B5EF4-FFF2-40B4-BE49-F238E27FC236}">
                <a16:creationId xmlns:a16="http://schemas.microsoft.com/office/drawing/2014/main" id="{D7F4CA62-172F-4E5E-9E34-75022F0BF4E5}"/>
              </a:ext>
            </a:extLst>
          </p:cNvPr>
          <p:cNvSpPr/>
          <p:nvPr/>
        </p:nvSpPr>
        <p:spPr>
          <a:xfrm>
            <a:off x="330239" y="1987861"/>
            <a:ext cx="2661852" cy="119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3149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variance of the errors is constant across all levels of the predictor variable.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31FA586-CFC0-4453-892D-0619B92403D8}"/>
              </a:ext>
            </a:extLst>
          </p:cNvPr>
          <p:cNvSpPr txBox="1"/>
          <p:nvPr/>
        </p:nvSpPr>
        <p:spPr>
          <a:xfrm>
            <a:off x="308433" y="1368121"/>
            <a:ext cx="3002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Homoscedasticity</a:t>
            </a:r>
          </a:p>
        </p:txBody>
      </p:sp>
    </p:spTree>
    <p:extLst>
      <p:ext uri="{BB962C8B-B14F-4D97-AF65-F5344CB8AC3E}">
        <p14:creationId xmlns:p14="http://schemas.microsoft.com/office/powerpoint/2010/main" val="318433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DD6B0-E536-4CB1-840E-C7FAC0F14C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E5D9769-6275-444D-BE9B-3A551BFBC11D}"/>
              </a:ext>
            </a:extLst>
          </p:cNvPr>
          <p:cNvGrpSpPr/>
          <p:nvPr/>
        </p:nvGrpSpPr>
        <p:grpSpPr>
          <a:xfrm>
            <a:off x="3654104" y="2124527"/>
            <a:ext cx="8247063" cy="4132262"/>
            <a:chOff x="533400" y="2116138"/>
            <a:chExt cx="8247063" cy="41322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46B9CF-F153-4159-AEF3-9C9C60749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124075"/>
              <a:ext cx="2667000" cy="466725"/>
            </a:xfrm>
            <a:prstGeom prst="rect">
              <a:avLst/>
            </a:prstGeom>
            <a:solidFill>
              <a:srgbClr val="FDE0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 sz="2400" b="0" baseline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D8B025-12E8-4524-B8AB-F6B21944B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514600"/>
              <a:ext cx="2362200" cy="466725"/>
            </a:xfrm>
            <a:prstGeom prst="rect">
              <a:avLst/>
            </a:prstGeom>
            <a:solidFill>
              <a:srgbClr val="FDE0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 sz="2400" b="0" baseline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7CF07B9-C75F-489B-A997-AD7B01EEB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938" y="2116138"/>
              <a:ext cx="3311525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aseline="0" dirty="0">
                  <a:latin typeface="Arial" panose="020B0604020202020204" pitchFamily="34" charset="0"/>
                </a:rPr>
                <a:t>Not Independent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42E9F875-1FA9-4DD4-A919-B2966DE71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2497138"/>
              <a:ext cx="2836863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aseline="0" dirty="0">
                  <a:latin typeface="Arial" panose="020B0604020202020204" pitchFamily="34" charset="0"/>
                </a:rPr>
                <a:t>Independent</a:t>
              </a: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2CBA1D21-93F6-4F85-833E-B55413906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2946400"/>
              <a:ext cx="0" cy="139065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7546259C-DFC3-4326-A3AE-1F2D4B994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3575050"/>
              <a:ext cx="30734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809BFE9B-4986-4685-8262-1ED4CF2D5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538" y="3355975"/>
              <a:ext cx="492125" cy="454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aseline="0">
                  <a:solidFill>
                    <a:schemeClr val="bg2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29A73AC2-B1C0-4CCF-A31C-3CE336AC1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9375" y="2895600"/>
              <a:ext cx="2559050" cy="75565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FF6D7E4D-58BC-4AC8-8308-4E6CCC0E2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1775" y="3352800"/>
              <a:ext cx="2482850" cy="75565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90536F23-1061-4514-9AE6-895828462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35401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7307CF1E-D476-411E-9747-F8F83C964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37687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18646F5B-9C60-4871-BF74-1E56AA85F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34639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B50FCCB7-000C-4398-A959-DF89D0715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36925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7">
              <a:extLst>
                <a:ext uri="{FF2B5EF4-FFF2-40B4-BE49-F238E27FC236}">
                  <a16:creationId xmlns:a16="http://schemas.microsoft.com/office/drawing/2014/main" id="{E8943C9A-1C61-4F19-9B01-28AE7BB62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4639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C0D9083-8BC9-4BA0-AC34-8BAAF2037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6163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4D2A6FE0-667D-4127-930D-4A21F391E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32353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55A7DD3F-E62E-4F1C-9408-106A2CB8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877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3B9EA632-8B9D-426D-A98D-810627AE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115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DAF87883-9C9E-46B4-AE9D-0139A6226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1591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E437AC0F-5D35-4BC4-BA80-4D1A4288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0829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3A78FAB7-DABE-4610-BEEC-A48D3C890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3115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A1A6FDB5-9ECF-4BA4-8AA0-93EB64090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00672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32CE8B8E-981A-4491-84BD-DB332BF9B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8100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C3F3FF0A-59A5-413E-9F73-28F26AB84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3562350"/>
              <a:ext cx="0" cy="139065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53FADA8E-F63A-41AD-A0AF-4816C2033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4191000"/>
              <a:ext cx="30734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F9D2B525-6245-443B-894B-CE01231BF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8338" y="3962400"/>
              <a:ext cx="492125" cy="454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aseline="0">
                  <a:solidFill>
                    <a:schemeClr val="bg2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8D0FB4AD-B47C-4210-863C-69CD09017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150" y="3733800"/>
              <a:ext cx="278765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D71FD1D6-203D-4320-90CA-02A303A72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150" y="4572000"/>
              <a:ext cx="278765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2">
              <a:extLst>
                <a:ext uri="{FF2B5EF4-FFF2-40B4-BE49-F238E27FC236}">
                  <a16:creationId xmlns:a16="http://schemas.microsoft.com/office/drawing/2014/main" id="{F8535CA4-EF5D-4955-8729-2DBB44382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267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3">
              <a:extLst>
                <a:ext uri="{FF2B5EF4-FFF2-40B4-BE49-F238E27FC236}">
                  <a16:creationId xmlns:a16="http://schemas.microsoft.com/office/drawing/2014/main" id="{C48738A2-0AC1-4C7C-BBE2-5A4F4B04E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114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4E2DC292-509D-406F-A444-6BDD6ADBD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4267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5">
              <a:extLst>
                <a:ext uri="{FF2B5EF4-FFF2-40B4-BE49-F238E27FC236}">
                  <a16:creationId xmlns:a16="http://schemas.microsoft.com/office/drawing/2014/main" id="{3FE43D02-B83F-4A98-A7E0-BA6DE97BF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624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6">
              <a:extLst>
                <a:ext uri="{FF2B5EF4-FFF2-40B4-BE49-F238E27FC236}">
                  <a16:creationId xmlns:a16="http://schemas.microsoft.com/office/drawing/2014/main" id="{D3484811-50A6-4DE4-97E8-9C80474BD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100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7">
              <a:extLst>
                <a:ext uri="{FF2B5EF4-FFF2-40B4-BE49-F238E27FC236}">
                  <a16:creationId xmlns:a16="http://schemas.microsoft.com/office/drawing/2014/main" id="{97E7E607-95A8-4BB2-8C3E-7C2C1D178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8100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8">
              <a:extLst>
                <a:ext uri="{FF2B5EF4-FFF2-40B4-BE49-F238E27FC236}">
                  <a16:creationId xmlns:a16="http://schemas.microsoft.com/office/drawing/2014/main" id="{7C29A84F-60D2-417B-A924-7DFA71D28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267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39">
              <a:extLst>
                <a:ext uri="{FF2B5EF4-FFF2-40B4-BE49-F238E27FC236}">
                  <a16:creationId xmlns:a16="http://schemas.microsoft.com/office/drawing/2014/main" id="{9E2AA614-2E43-4B29-8557-1C3638BB5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4114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40">
              <a:extLst>
                <a:ext uri="{FF2B5EF4-FFF2-40B4-BE49-F238E27FC236}">
                  <a16:creationId xmlns:a16="http://schemas.microsoft.com/office/drawing/2014/main" id="{6FA168AC-EE87-4950-B7F3-891377008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43434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41">
              <a:extLst>
                <a:ext uri="{FF2B5EF4-FFF2-40B4-BE49-F238E27FC236}">
                  <a16:creationId xmlns:a16="http://schemas.microsoft.com/office/drawing/2014/main" id="{1112FC81-5795-430D-A32B-B0C9C325D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8100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42">
              <a:extLst>
                <a:ext uri="{FF2B5EF4-FFF2-40B4-BE49-F238E27FC236}">
                  <a16:creationId xmlns:a16="http://schemas.microsoft.com/office/drawing/2014/main" id="{C83E692B-03C9-4248-8F35-C9DCE34B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9624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43">
              <a:extLst>
                <a:ext uri="{FF2B5EF4-FFF2-40B4-BE49-F238E27FC236}">
                  <a16:creationId xmlns:a16="http://schemas.microsoft.com/office/drawing/2014/main" id="{6EB2E614-91E7-4844-B302-C4A3F64B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4267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44">
              <a:extLst>
                <a:ext uri="{FF2B5EF4-FFF2-40B4-BE49-F238E27FC236}">
                  <a16:creationId xmlns:a16="http://schemas.microsoft.com/office/drawing/2014/main" id="{E68F1263-68A8-4B2E-83C0-89F27A14D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0386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45">
              <a:extLst>
                <a:ext uri="{FF2B5EF4-FFF2-40B4-BE49-F238E27FC236}">
                  <a16:creationId xmlns:a16="http://schemas.microsoft.com/office/drawing/2014/main" id="{0D105989-C38F-476D-89F5-1985CF980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4114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46">
              <a:extLst>
                <a:ext uri="{FF2B5EF4-FFF2-40B4-BE49-F238E27FC236}">
                  <a16:creationId xmlns:a16="http://schemas.microsoft.com/office/drawing/2014/main" id="{9A180B63-9B43-4832-BCDA-504073787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4114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47">
              <a:extLst>
                <a:ext uri="{FF2B5EF4-FFF2-40B4-BE49-F238E27FC236}">
                  <a16:creationId xmlns:a16="http://schemas.microsoft.com/office/drawing/2014/main" id="{5B756BB0-C725-41A4-899C-0799DC73B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3733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48">
              <a:extLst>
                <a:ext uri="{FF2B5EF4-FFF2-40B4-BE49-F238E27FC236}">
                  <a16:creationId xmlns:a16="http://schemas.microsoft.com/office/drawing/2014/main" id="{332FF857-E276-46AA-8197-EE01FCA40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3886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49">
              <a:extLst>
                <a:ext uri="{FF2B5EF4-FFF2-40B4-BE49-F238E27FC236}">
                  <a16:creationId xmlns:a16="http://schemas.microsoft.com/office/drawing/2014/main" id="{F77223B5-471E-4A66-BE37-7A501FEE8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267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B8E50922-334F-4EBF-A108-1AFCB57509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7787" y="3421063"/>
              <a:ext cx="1304925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b="0" baseline="0">
                  <a:solidFill>
                    <a:schemeClr val="tx1"/>
                  </a:solidFill>
                  <a:latin typeface="Arial" panose="020B0604020202020204" pitchFamily="34" charset="0"/>
                </a:rPr>
                <a:t>residuals</a:t>
              </a: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87218814-C276-4178-9336-B476F5BEB8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44987" y="4037013"/>
              <a:ext cx="1304925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b="0" baseline="0">
                  <a:solidFill>
                    <a:schemeClr val="tx1"/>
                  </a:solidFill>
                  <a:latin typeface="Arial" panose="020B0604020202020204" pitchFamily="34" charset="0"/>
                </a:rPr>
                <a:t>residuals</a:t>
              </a:r>
            </a:p>
          </p:txBody>
        </p:sp>
        <p:sp>
          <p:nvSpPr>
            <p:cNvPr id="51" name="Line 52">
              <a:extLst>
                <a:ext uri="{FF2B5EF4-FFF2-40B4-BE49-F238E27FC236}">
                  <a16:creationId xmlns:a16="http://schemas.microsoft.com/office/drawing/2014/main" id="{97959AE4-ECD1-46BF-A2B1-C8FDBC160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4857750"/>
              <a:ext cx="0" cy="139065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C65D9104-BBCC-4B17-8BD3-49958839E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5486400"/>
              <a:ext cx="30734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Rectangle 54">
              <a:extLst>
                <a:ext uri="{FF2B5EF4-FFF2-40B4-BE49-F238E27FC236}">
                  <a16:creationId xmlns:a16="http://schemas.microsoft.com/office/drawing/2014/main" id="{595CCD7D-9653-4A69-AE1C-399AEA25D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538" y="5257800"/>
              <a:ext cx="492125" cy="454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aseline="0">
                  <a:solidFill>
                    <a:schemeClr val="bg2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54" name="Oval 55">
              <a:extLst>
                <a:ext uri="{FF2B5EF4-FFF2-40B4-BE49-F238E27FC236}">
                  <a16:creationId xmlns:a16="http://schemas.microsoft.com/office/drawing/2014/main" id="{735B30AD-46AD-4D74-9CE9-609108C6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51816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56">
              <a:extLst>
                <a:ext uri="{FF2B5EF4-FFF2-40B4-BE49-F238E27FC236}">
                  <a16:creationId xmlns:a16="http://schemas.microsoft.com/office/drawing/2014/main" id="{67E7BD13-01D3-45F7-AF94-49BC38584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5257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57">
              <a:extLst>
                <a:ext uri="{FF2B5EF4-FFF2-40B4-BE49-F238E27FC236}">
                  <a16:creationId xmlns:a16="http://schemas.microsoft.com/office/drawing/2014/main" id="{E753CE6B-F005-4B7F-B8D3-639D6C41E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537527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58">
              <a:extLst>
                <a:ext uri="{FF2B5EF4-FFF2-40B4-BE49-F238E27FC236}">
                  <a16:creationId xmlns:a16="http://schemas.microsoft.com/office/drawing/2014/main" id="{454B56CB-8C7F-4F6F-B213-B152D7DB0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638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59">
              <a:extLst>
                <a:ext uri="{FF2B5EF4-FFF2-40B4-BE49-F238E27FC236}">
                  <a16:creationId xmlns:a16="http://schemas.microsoft.com/office/drawing/2014/main" id="{D976D7C5-4681-4A0C-9B9D-4578CE6AD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7912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60">
              <a:extLst>
                <a:ext uri="{FF2B5EF4-FFF2-40B4-BE49-F238E27FC236}">
                  <a16:creationId xmlns:a16="http://schemas.microsoft.com/office/drawing/2014/main" id="{EC8A9362-548F-4AD6-9C25-0E0FAFE42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552767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61">
              <a:extLst>
                <a:ext uri="{FF2B5EF4-FFF2-40B4-BE49-F238E27FC236}">
                  <a16:creationId xmlns:a16="http://schemas.microsoft.com/office/drawing/2014/main" id="{C3324788-FB10-436A-89E7-E09F722AC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14667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62">
              <a:extLst>
                <a:ext uri="{FF2B5EF4-FFF2-40B4-BE49-F238E27FC236}">
                  <a16:creationId xmlns:a16="http://schemas.microsoft.com/office/drawing/2014/main" id="{0C403DFC-4F3F-46A6-8E0D-35FB80B1C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529907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63">
              <a:extLst>
                <a:ext uri="{FF2B5EF4-FFF2-40B4-BE49-F238E27FC236}">
                  <a16:creationId xmlns:a16="http://schemas.microsoft.com/office/drawing/2014/main" id="{40C202EE-B9FF-4FBB-A8ED-ADAC55695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638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64">
              <a:extLst>
                <a:ext uri="{FF2B5EF4-FFF2-40B4-BE49-F238E27FC236}">
                  <a16:creationId xmlns:a16="http://schemas.microsoft.com/office/drawing/2014/main" id="{EE4434AD-6ABE-447F-B45A-A9E466DB3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6388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65">
              <a:extLst>
                <a:ext uri="{FF2B5EF4-FFF2-40B4-BE49-F238E27FC236}">
                  <a16:creationId xmlns:a16="http://schemas.microsoft.com/office/drawing/2014/main" id="{D8546CB4-A652-4F16-AA89-D8C10C241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54864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66">
              <a:extLst>
                <a:ext uri="{FF2B5EF4-FFF2-40B4-BE49-F238E27FC236}">
                  <a16:creationId xmlns:a16="http://schemas.microsoft.com/office/drawing/2014/main" id="{EE0302D6-07BC-42C9-B3FE-FB28DF5CC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222875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67">
              <a:extLst>
                <a:ext uri="{FF2B5EF4-FFF2-40B4-BE49-F238E27FC236}">
                  <a16:creationId xmlns:a16="http://schemas.microsoft.com/office/drawing/2014/main" id="{374C442D-34AC-4BCC-A8BC-935D09214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556260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Rectangle 68">
              <a:extLst>
                <a:ext uri="{FF2B5EF4-FFF2-40B4-BE49-F238E27FC236}">
                  <a16:creationId xmlns:a16="http://schemas.microsoft.com/office/drawing/2014/main" id="{772085E6-9AA1-4064-9F48-F14271F451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7787" y="5332413"/>
              <a:ext cx="1304925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b="0" baseline="0">
                  <a:solidFill>
                    <a:schemeClr val="tx1"/>
                  </a:solidFill>
                  <a:latin typeface="Arial" panose="020B0604020202020204" pitchFamily="34" charset="0"/>
                </a:rPr>
                <a:t>residuals</a:t>
              </a:r>
            </a:p>
          </p:txBody>
        </p:sp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FE6F7491-DEA5-4155-B582-8215C15DD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13" y="5003800"/>
              <a:ext cx="3303587" cy="657225"/>
            </a:xfrm>
            <a:custGeom>
              <a:avLst/>
              <a:gdLst>
                <a:gd name="T0" fmla="*/ 11 w 2081"/>
                <a:gd name="T1" fmla="*/ 388 h 414"/>
                <a:gd name="T2" fmla="*/ 65 w 2081"/>
                <a:gd name="T3" fmla="*/ 352 h 414"/>
                <a:gd name="T4" fmla="*/ 401 w 2081"/>
                <a:gd name="T5" fmla="*/ 16 h 414"/>
                <a:gd name="T6" fmla="*/ 833 w 2081"/>
                <a:gd name="T7" fmla="*/ 400 h 414"/>
                <a:gd name="T8" fmla="*/ 1217 w 2081"/>
                <a:gd name="T9" fmla="*/ 16 h 414"/>
                <a:gd name="T10" fmla="*/ 1697 w 2081"/>
                <a:gd name="T11" fmla="*/ 304 h 414"/>
                <a:gd name="T12" fmla="*/ 2081 w 2081"/>
                <a:gd name="T13" fmla="*/ 16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1" h="414">
                  <a:moveTo>
                    <a:pt x="11" y="388"/>
                  </a:moveTo>
                  <a:cubicBezTo>
                    <a:pt x="20" y="381"/>
                    <a:pt x="0" y="414"/>
                    <a:pt x="65" y="352"/>
                  </a:cubicBezTo>
                  <a:cubicBezTo>
                    <a:pt x="130" y="290"/>
                    <a:pt x="273" y="8"/>
                    <a:pt x="401" y="16"/>
                  </a:cubicBezTo>
                  <a:cubicBezTo>
                    <a:pt x="529" y="24"/>
                    <a:pt x="697" y="400"/>
                    <a:pt x="833" y="400"/>
                  </a:cubicBezTo>
                  <a:cubicBezTo>
                    <a:pt x="969" y="400"/>
                    <a:pt x="1073" y="32"/>
                    <a:pt x="1217" y="16"/>
                  </a:cubicBezTo>
                  <a:cubicBezTo>
                    <a:pt x="1361" y="0"/>
                    <a:pt x="1553" y="280"/>
                    <a:pt x="1697" y="304"/>
                  </a:cubicBezTo>
                  <a:cubicBezTo>
                    <a:pt x="1841" y="328"/>
                    <a:pt x="2017" y="184"/>
                    <a:pt x="2081" y="160"/>
                  </a:cubicBez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0D14EE2A-7A0C-4BE8-AC86-9893CD1B0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213" y="5551488"/>
              <a:ext cx="3398837" cy="668337"/>
            </a:xfrm>
            <a:custGeom>
              <a:avLst/>
              <a:gdLst>
                <a:gd name="T0" fmla="*/ 11 w 2141"/>
                <a:gd name="T1" fmla="*/ 397 h 421"/>
                <a:gd name="T2" fmla="*/ 65 w 2141"/>
                <a:gd name="T3" fmla="*/ 359 h 421"/>
                <a:gd name="T4" fmla="*/ 401 w 2141"/>
                <a:gd name="T5" fmla="*/ 23 h 421"/>
                <a:gd name="T6" fmla="*/ 833 w 2141"/>
                <a:gd name="T7" fmla="*/ 407 h 421"/>
                <a:gd name="T8" fmla="*/ 1217 w 2141"/>
                <a:gd name="T9" fmla="*/ 23 h 421"/>
                <a:gd name="T10" fmla="*/ 1703 w 2141"/>
                <a:gd name="T11" fmla="*/ 271 h 421"/>
                <a:gd name="T12" fmla="*/ 2141 w 2141"/>
                <a:gd name="T13" fmla="*/ 79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1" h="421">
                  <a:moveTo>
                    <a:pt x="11" y="397"/>
                  </a:moveTo>
                  <a:cubicBezTo>
                    <a:pt x="20" y="392"/>
                    <a:pt x="0" y="421"/>
                    <a:pt x="65" y="359"/>
                  </a:cubicBezTo>
                  <a:cubicBezTo>
                    <a:pt x="130" y="297"/>
                    <a:pt x="273" y="15"/>
                    <a:pt x="401" y="23"/>
                  </a:cubicBezTo>
                  <a:cubicBezTo>
                    <a:pt x="529" y="31"/>
                    <a:pt x="697" y="407"/>
                    <a:pt x="833" y="407"/>
                  </a:cubicBezTo>
                  <a:cubicBezTo>
                    <a:pt x="969" y="407"/>
                    <a:pt x="1072" y="46"/>
                    <a:pt x="1217" y="23"/>
                  </a:cubicBezTo>
                  <a:cubicBezTo>
                    <a:pt x="1362" y="0"/>
                    <a:pt x="1549" y="262"/>
                    <a:pt x="1703" y="271"/>
                  </a:cubicBezTo>
                  <a:cubicBezTo>
                    <a:pt x="1857" y="280"/>
                    <a:pt x="2050" y="119"/>
                    <a:pt x="2141" y="79"/>
                  </a:cubicBez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0" name="Rectangle 72">
              <a:extLst>
                <a:ext uri="{FF2B5EF4-FFF2-40B4-BE49-F238E27FC236}">
                  <a16:creationId xmlns:a16="http://schemas.microsoft.com/office/drawing/2014/main" id="{9F6D325A-111D-4697-AFBB-BC135B4F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286000"/>
              <a:ext cx="914400" cy="911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5400" b="0" baseline="0" dirty="0">
                  <a:solidFill>
                    <a:srgbClr val="FF0000"/>
                  </a:solidFill>
                  <a:latin typeface="Wingdings" panose="05000000000000000000" pitchFamily="2" charset="2"/>
                </a:rPr>
                <a:t>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6F922279-66ED-4A75-B553-D2CFDA227549}"/>
              </a:ext>
            </a:extLst>
          </p:cNvPr>
          <p:cNvSpPr txBox="1"/>
          <p:nvPr/>
        </p:nvSpPr>
        <p:spPr>
          <a:xfrm>
            <a:off x="297635" y="44112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Assumptions of linear regression</a:t>
            </a: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77182308-8FEF-4A0E-816F-19F618EA65CE}"/>
              </a:ext>
            </a:extLst>
          </p:cNvPr>
          <p:cNvSpPr/>
          <p:nvPr/>
        </p:nvSpPr>
        <p:spPr>
          <a:xfrm>
            <a:off x="330239" y="1987861"/>
            <a:ext cx="2661852" cy="119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3149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observations are independent of each other.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F43F21-9774-42FA-B18F-0E8190EFE549}"/>
              </a:ext>
            </a:extLst>
          </p:cNvPr>
          <p:cNvSpPr txBox="1"/>
          <p:nvPr/>
        </p:nvSpPr>
        <p:spPr>
          <a:xfrm>
            <a:off x="308433" y="1368121"/>
            <a:ext cx="2467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Independence</a:t>
            </a:r>
          </a:p>
        </p:txBody>
      </p:sp>
    </p:spTree>
    <p:extLst>
      <p:ext uri="{BB962C8B-B14F-4D97-AF65-F5344CB8AC3E}">
        <p14:creationId xmlns:p14="http://schemas.microsoft.com/office/powerpoint/2010/main" val="301180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EE131-0996-485F-B635-4799B30FB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8A43808-91C4-449B-B0A3-8EE4249CD448}"/>
              </a:ext>
            </a:extLst>
          </p:cNvPr>
          <p:cNvSpPr/>
          <p:nvPr/>
        </p:nvSpPr>
        <p:spPr>
          <a:xfrm>
            <a:off x="250147" y="1003781"/>
            <a:ext cx="11387286" cy="79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49"/>
              </a:lnSpc>
              <a:buNone/>
            </a:pPr>
            <a:r>
              <a:rPr lang="en-US" dirty="0"/>
              <a:t>Linear regression can be applied in a wide range of fields, from finance to healthcare to marketing. We'll explore the various applications of linear regression and how it can be used to solve complex problems.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AC976CB-CCC1-4B75-B827-F012F206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26" y="2003523"/>
            <a:ext cx="2389960" cy="2372387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B24A4072-A989-40A7-A861-D66F20B5362E}"/>
              </a:ext>
            </a:extLst>
          </p:cNvPr>
          <p:cNvSpPr/>
          <p:nvPr/>
        </p:nvSpPr>
        <p:spPr>
          <a:xfrm>
            <a:off x="726401" y="4651788"/>
            <a:ext cx="2720340" cy="3583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43"/>
              </a:lnSpc>
              <a:buNone/>
            </a:pPr>
            <a:r>
              <a:rPr lang="en-US" sz="2400" b="1" dirty="0"/>
              <a:t>Marketing Analytics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52E9892-2A0F-4260-AB67-2DC54754B1AA}"/>
              </a:ext>
            </a:extLst>
          </p:cNvPr>
          <p:cNvSpPr/>
          <p:nvPr/>
        </p:nvSpPr>
        <p:spPr>
          <a:xfrm>
            <a:off x="0" y="5230668"/>
            <a:ext cx="4173260" cy="79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49"/>
              </a:lnSpc>
              <a:buNone/>
            </a:pPr>
            <a:r>
              <a:rPr lang="en-US" dirty="0"/>
              <a:t>Use regression to determine how various marketing efforts impact product sales.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62E0B35-3F7D-4CBD-BCD4-E8CB47451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607" y="2003523"/>
            <a:ext cx="2445711" cy="2427728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6C4E7432-3442-4004-80A6-709257DE4968}"/>
              </a:ext>
            </a:extLst>
          </p:cNvPr>
          <p:cNvSpPr/>
          <p:nvPr/>
        </p:nvSpPr>
        <p:spPr>
          <a:xfrm>
            <a:off x="5143096" y="4651788"/>
            <a:ext cx="2221944" cy="3583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843"/>
              </a:lnSpc>
            </a:pPr>
            <a:r>
              <a:rPr lang="en-US" sz="2400" b="1" dirty="0"/>
              <a:t>Finance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A79E88-8AF1-4263-8D97-A70FD5B7536F}"/>
              </a:ext>
            </a:extLst>
          </p:cNvPr>
          <p:cNvSpPr/>
          <p:nvPr/>
        </p:nvSpPr>
        <p:spPr>
          <a:xfrm>
            <a:off x="4167498" y="5230668"/>
            <a:ext cx="4173260" cy="79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3149"/>
              </a:lnSpc>
            </a:pPr>
            <a:r>
              <a:rPr lang="en-US" dirty="0"/>
              <a:t>Use regression to predict future stock prices and analyze investments.</a:t>
            </a: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6292621D-826E-4610-BFED-59AEEE254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992" y="2031319"/>
            <a:ext cx="2445711" cy="2427728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72524587-4941-45DD-913F-D1D4CBE3A322}"/>
              </a:ext>
            </a:extLst>
          </p:cNvPr>
          <p:cNvSpPr/>
          <p:nvPr/>
        </p:nvSpPr>
        <p:spPr>
          <a:xfrm>
            <a:off x="9172179" y="4651788"/>
            <a:ext cx="2339340" cy="3583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algn="ctr">
              <a:lnSpc>
                <a:spcPts val="2843"/>
              </a:lnSpc>
              <a:buNone/>
            </a:pPr>
            <a:r>
              <a:rPr lang="en-US" sz="2400" b="1" dirty="0"/>
              <a:t>Medical Research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B47B0A-9438-4FB4-A56D-0A5760BA8840}"/>
              </a:ext>
            </a:extLst>
          </p:cNvPr>
          <p:cNvSpPr/>
          <p:nvPr/>
        </p:nvSpPr>
        <p:spPr>
          <a:xfrm>
            <a:off x="8161276" y="5230668"/>
            <a:ext cx="4173260" cy="79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algn="ctr">
              <a:lnSpc>
                <a:spcPts val="3149"/>
              </a:lnSpc>
              <a:buNone/>
            </a:pPr>
            <a:r>
              <a:rPr lang="en-US" dirty="0"/>
              <a:t>Use regression to determine how lifestyle choices impact health outcomes.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B80384-0C4B-45AD-AD39-C89A711DD2FC}"/>
              </a:ext>
            </a:extLst>
          </p:cNvPr>
          <p:cNvSpPr txBox="1"/>
          <p:nvPr/>
        </p:nvSpPr>
        <p:spPr>
          <a:xfrm>
            <a:off x="297635" y="441129"/>
            <a:ext cx="1159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Applications of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6996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49F96-B732-4DE0-95A9-95254F7BD9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1104849"/>
            <a:ext cx="80010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9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AF4FC-5965-4321-8941-8B3BDBB0B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28993-325D-81A8-9D88-1D9E2D9E7C18}"/>
              </a:ext>
            </a:extLst>
          </p:cNvPr>
          <p:cNvSpPr txBox="1"/>
          <p:nvPr/>
        </p:nvSpPr>
        <p:spPr>
          <a:xfrm>
            <a:off x="4467726" y="2807368"/>
            <a:ext cx="32565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8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6384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Least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488" y="1280535"/>
            <a:ext cx="8229600" cy="553998"/>
          </a:xfrm>
        </p:spPr>
        <p:txBody>
          <a:bodyPr/>
          <a:lstStyle/>
          <a:p>
            <a:pPr lvl="1"/>
            <a:r>
              <a:rPr lang="en-US" b="0" dirty="0"/>
              <a:t>The </a:t>
            </a:r>
            <a:r>
              <a:rPr lang="en-US" b="1" dirty="0"/>
              <a:t>method of least squares </a:t>
            </a:r>
            <a:r>
              <a:rPr lang="en-US" b="0" dirty="0"/>
              <a:t>is the procedure to find the best fit curve to a random set of points.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We want to find the best fit line showing relation between x and 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2971800" y="6583680"/>
            <a:ext cx="2895600" cy="173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/>
              <a:t>BOEING PROPRIETARY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680" y="1889398"/>
            <a:ext cx="4048125" cy="2581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3435" y="2796413"/>
            <a:ext cx="21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68" y="4470672"/>
            <a:ext cx="40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x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44" y="1943998"/>
            <a:ext cx="3302697" cy="4358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68718" y="2564092"/>
            <a:ext cx="3222322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Variance for this dataset is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951" y="3092704"/>
            <a:ext cx="3103857" cy="6066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88343" y="3778263"/>
            <a:ext cx="98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Error =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196" y="3688876"/>
            <a:ext cx="2478844" cy="6097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68718" y="4470673"/>
            <a:ext cx="4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goal is to find the values of a and b that will minimize the error.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5873" y="5195031"/>
            <a:ext cx="1836668" cy="6413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010" y="4874383"/>
            <a:ext cx="2924382" cy="123067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4393" y="4972178"/>
            <a:ext cx="428625" cy="3429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834" y="5509987"/>
            <a:ext cx="4286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5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method of Least Squares –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663" y="1136418"/>
            <a:ext cx="8229600" cy="1661993"/>
          </a:xfrm>
        </p:spPr>
        <p:txBody>
          <a:bodyPr/>
          <a:lstStyle/>
          <a:p>
            <a:pPr lvl="1"/>
            <a:r>
              <a:rPr lang="en-US" b="1" dirty="0"/>
              <a:t>Gradient Descent </a:t>
            </a:r>
            <a:r>
              <a:rPr lang="en-US" dirty="0"/>
              <a:t>is a generalized method for minimizing a function.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method essentially changes the values of theta bit by bit until it finds the minimum. </a:t>
            </a:r>
          </a:p>
          <a:p>
            <a:pPr lvl="1"/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Bringing it all together, we get Linear Regression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2971800" y="6583680"/>
            <a:ext cx="2895600" cy="173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/>
              <a:t>BOEING PROPRIETARY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888" y="2462749"/>
            <a:ext cx="6124575" cy="781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0E49C5-EDFE-4BA6-96C8-CD7462CC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015" y="3410006"/>
            <a:ext cx="4837570" cy="258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E1E02-DB53-42CD-896C-CF230D57C3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971800" y="6583680"/>
            <a:ext cx="2895600" cy="173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/>
              <a:t>BOEING PROPRIETARY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A8341F-D6A9-4DCE-A8E9-7F5AB03FB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409" y="3263632"/>
            <a:ext cx="2762250" cy="847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8E1A8F-196C-4BB2-A9BE-68E50E544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86" y="5139084"/>
            <a:ext cx="3209925" cy="866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E1186A-473D-4E25-A608-12B24987D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969" y="2036239"/>
            <a:ext cx="4050904" cy="154547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8414126-E091-4DA4-918D-EE57647DB5B1}"/>
              </a:ext>
            </a:extLst>
          </p:cNvPr>
          <p:cNvSpPr/>
          <p:nvPr/>
        </p:nvSpPr>
        <p:spPr>
          <a:xfrm>
            <a:off x="1986505" y="4643355"/>
            <a:ext cx="5622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Find theta (</a:t>
            </a:r>
            <a:r>
              <a:rPr lang="az-Cyrl-AZ" dirty="0"/>
              <a:t>Ө</a:t>
            </a:r>
            <a:r>
              <a:rPr lang="en-US" dirty="0"/>
              <a:t>)such that it minimizes the cost function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58B405-9EA5-4080-87AB-D30BABE5B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654" y="489091"/>
            <a:ext cx="4837570" cy="258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7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4D9A-FC84-4AD0-BB95-DB4F19D4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5740-A24B-4CC4-BFD9-B167C477F1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971800" y="6583680"/>
            <a:ext cx="2895600" cy="173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/>
              <a:t>BOEING PROPRIETARY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3AADE-6B9A-4F0E-B810-C024F75FC29D}"/>
              </a:ext>
            </a:extLst>
          </p:cNvPr>
          <p:cNvSpPr/>
          <p:nvPr/>
        </p:nvSpPr>
        <p:spPr>
          <a:xfrm>
            <a:off x="1908003" y="936140"/>
            <a:ext cx="85202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is Feature Scaling needed?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of different numerical features to fall within a similar range like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models from getting biased toward a specific range of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convergence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013B4-B211-4E92-A8C7-D7269C7A5D52}"/>
              </a:ext>
            </a:extLst>
          </p:cNvPr>
          <p:cNvSpPr txBox="1"/>
          <p:nvPr/>
        </p:nvSpPr>
        <p:spPr>
          <a:xfrm>
            <a:off x="1948534" y="2979576"/>
            <a:ext cx="41813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Min-max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Min-max scaling normalizes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Normalizing</a:t>
            </a:r>
            <a:r>
              <a:rPr lang="en-US" dirty="0"/>
              <a:t> refers to the rescaling of the features to a range of [0, 1]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F7E3A7F-AC02-4811-8341-DAE33E65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976" y="2924271"/>
            <a:ext cx="42493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Standard Scaler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b="1" dirty="0"/>
              <a:t>Standardizing, </a:t>
            </a:r>
            <a:r>
              <a:rPr lang="en-US" dirty="0"/>
              <a:t>transform your data such that its distribution will have a mean value 0 and standard deviation of 1</a:t>
            </a:r>
            <a:r>
              <a:rPr lang="en-US" alt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CA910C-E951-4126-BAB2-307BBA2D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607" y="4819055"/>
            <a:ext cx="2409825" cy="923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E2FB4A-C45C-4A46-BF4C-397C1DCCD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571" y="4541685"/>
            <a:ext cx="1371600" cy="695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302253-A7C6-436B-938D-1C88078D0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029" y="5395845"/>
            <a:ext cx="1971675" cy="1047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AE632D-ECF7-46E6-9618-1FCB9C9F5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333" y="5341144"/>
            <a:ext cx="26098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6B0A-7262-82CC-D9D3-99701314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CCE996-98F2-D8ED-922E-60F54B236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3" name="Picture 2" descr="Boeing_RGBblue_largePPT">
            <a:extLst>
              <a:ext uri="{FF2B5EF4-FFF2-40B4-BE49-F238E27FC236}">
                <a16:creationId xmlns:a16="http://schemas.microsoft.com/office/drawing/2014/main" id="{C8B19559-0352-7501-E454-B30244762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876093" y="2533650"/>
            <a:ext cx="36925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462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O&amp;T Slide Master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D32BB1-74D8-42D8-9A0A-0C18DDB4DA84}"/>
</file>

<file path=customXml/itemProps2.xml><?xml version="1.0" encoding="utf-8"?>
<ds:datastoreItem xmlns:ds="http://schemas.openxmlformats.org/officeDocument/2006/customXml" ds:itemID="{CAD0CF9F-4F2C-4A93-8A22-6782B43527B0}"/>
</file>

<file path=customXml/itemProps3.xml><?xml version="1.0" encoding="utf-8"?>
<ds:datastoreItem xmlns:ds="http://schemas.openxmlformats.org/officeDocument/2006/customXml" ds:itemID="{D6FF89A8-8082-4B48-81DA-F43B414B5DDD}"/>
</file>

<file path=docProps/app.xml><?xml version="1.0" encoding="utf-8"?>
<Properties xmlns="http://schemas.openxmlformats.org/officeDocument/2006/extended-properties" xmlns:vt="http://schemas.openxmlformats.org/officeDocument/2006/docPropsVTypes">
  <TotalTime>40057</TotalTime>
  <Words>1248</Words>
  <Application>Microsoft Office PowerPoint</Application>
  <PresentationFormat>Widescreen</PresentationFormat>
  <Paragraphs>160</Paragraphs>
  <Slides>27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Symbol</vt:lpstr>
      <vt:lpstr>Wingdings</vt:lpstr>
      <vt:lpstr>EO&amp;T Slide Master</vt:lpstr>
      <vt:lpstr>Clip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 of Least Squares</vt:lpstr>
      <vt:lpstr>The method of Least Squares – Gradient Descent</vt:lpstr>
      <vt:lpstr>PowerPoint Presentation</vt:lpstr>
      <vt:lpstr>Feature Scaling</vt:lpstr>
      <vt:lpstr>PowerPoint Presentation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I-Shabnam, Suhana</dc:creator>
  <cp:lastModifiedBy>Kumar, Deepak</cp:lastModifiedBy>
  <cp:revision>363</cp:revision>
  <dcterms:created xsi:type="dcterms:W3CDTF">2018-01-18T05:14:22Z</dcterms:created>
  <dcterms:modified xsi:type="dcterms:W3CDTF">2025-11-17T15:35:09Z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