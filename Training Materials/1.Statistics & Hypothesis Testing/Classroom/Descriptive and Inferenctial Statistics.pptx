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5" r:id="rId4"/>
  </p:sldMasterIdLst>
  <p:notesMasterIdLst>
    <p:notesMasterId r:id="rId39"/>
  </p:notesMasterIdLst>
  <p:handoutMasterIdLst>
    <p:handoutMasterId r:id="rId40"/>
  </p:handoutMasterIdLst>
  <p:sldIdLst>
    <p:sldId id="667" r:id="rId5"/>
    <p:sldId id="673" r:id="rId6"/>
    <p:sldId id="728" r:id="rId7"/>
    <p:sldId id="698" r:id="rId8"/>
    <p:sldId id="694" r:id="rId9"/>
    <p:sldId id="701" r:id="rId10"/>
    <p:sldId id="674" r:id="rId11"/>
    <p:sldId id="706" r:id="rId12"/>
    <p:sldId id="709" r:id="rId13"/>
    <p:sldId id="707" r:id="rId14"/>
    <p:sldId id="708" r:id="rId15"/>
    <p:sldId id="710" r:id="rId16"/>
    <p:sldId id="695" r:id="rId17"/>
    <p:sldId id="712" r:id="rId18"/>
    <p:sldId id="713" r:id="rId19"/>
    <p:sldId id="714" r:id="rId20"/>
    <p:sldId id="715" r:id="rId21"/>
    <p:sldId id="716" r:id="rId22"/>
    <p:sldId id="717" r:id="rId23"/>
    <p:sldId id="731" r:id="rId24"/>
    <p:sldId id="719" r:id="rId25"/>
    <p:sldId id="725" r:id="rId26"/>
    <p:sldId id="726" r:id="rId27"/>
    <p:sldId id="724" r:id="rId28"/>
    <p:sldId id="677" r:id="rId29"/>
    <p:sldId id="687" r:id="rId30"/>
    <p:sldId id="678" r:id="rId31"/>
    <p:sldId id="681" r:id="rId32"/>
    <p:sldId id="682" r:id="rId33"/>
    <p:sldId id="683" r:id="rId34"/>
    <p:sldId id="684" r:id="rId35"/>
    <p:sldId id="727" r:id="rId36"/>
    <p:sldId id="711" r:id="rId37"/>
    <p:sldId id="730" r:id="rId38"/>
  </p:sldIdLst>
  <p:sldSz cx="12192000" cy="6858000"/>
  <p:notesSz cx="6934200" cy="92202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904" userDrawn="1">
          <p15:clr>
            <a:srgbClr val="A4A3A4"/>
          </p15:clr>
        </p15:guide>
        <p15:guide id="2" pos="2184"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isa Fusch Krause" initials="lfk" lastIdx="5" clrIdx="0"/>
  <p:cmAuthor id="1" name="MBevins" initials="MB" lastIdx="64" clrIdx="1"/>
  <p:cmAuthor id="2" name="Silva, Nicole" initials="SN" lastIdx="4" clrIdx="2"/>
  <p:cmAuthor id="3" name="EXT-Barenfanger, Celia B" initials="ECB" lastIdx="26" clrIdx="3"/>
  <p:cmAuthor id="4" name="EXT-Dempewolf, Shawn S" initials="ESS" lastIdx="55" clrIdx="4"/>
  <p:cmAuthor id="5" name="Microsoft Office User" initials="Office" lastIdx="10" clrIdx="5"/>
  <p:cmAuthor id="6" name="Microsoft Office User" initials="Office [2]" lastIdx="1" clrIdx="6"/>
  <p:cmAuthor id="7" name="Microsoft Office User" initials="Office [3]" lastIdx="1" clrIdx="7"/>
  <p:cmAuthor id="8" name="Microsoft Office User" initials="Office [4]" lastIdx="1" clrIdx="8"/>
  <p:cmAuthor id="9" name="Microsoft Office User" initials="Office [5]" lastIdx="1" clrIdx="9"/>
  <p:cmAuthor id="10" name="Microsoft Office User" initials="Office [6]" lastIdx="1" clrIdx="10"/>
  <p:cmAuthor id="11" name="Microsoft Office User" initials="Office [7]" lastIdx="1" clrIdx="11"/>
  <p:cmAuthor id="12" name="Microsoft Office User" initials="Office [8]" lastIdx="1" clrIdx="12"/>
  <p:cmAuthor id="13" name="Microsoft Office User" initials="Office [8] [2]" lastIdx="1" clrIdx="13"/>
  <p:cmAuthor id="14" name="Microsoft Office User" initials="Office [9]" lastIdx="1" clrIdx="14"/>
  <p:cmAuthor id="15" name="Microsoft Office User" initials="Office [10]" lastIdx="1" clrIdx="15"/>
  <p:cmAuthor id="16" name="Microsoft Office User" initials="Office [11]" lastIdx="1" clrIdx="1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A1"/>
    <a:srgbClr val="009BDF"/>
    <a:srgbClr val="85C2EF"/>
    <a:srgbClr val="0F2645"/>
    <a:srgbClr val="8A9292"/>
    <a:srgbClr val="546064"/>
    <a:srgbClr val="00369D"/>
    <a:srgbClr val="A32136"/>
    <a:srgbClr val="008BAC"/>
    <a:srgbClr val="0F93C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638064-1134-BAFF-D57D-9FF3429E1F0D}" v="1" dt="2024-09-20T10:45:43.72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12" autoAdjust="0"/>
    <p:restoredTop sz="95460" autoAdjust="0"/>
  </p:normalViewPr>
  <p:slideViewPr>
    <p:cSldViewPr snapToGrid="0" showGuides="1">
      <p:cViewPr varScale="1">
        <p:scale>
          <a:sx n="79" d="100"/>
          <a:sy n="79" d="100"/>
        </p:scale>
        <p:origin x="874" y="77"/>
      </p:cViewPr>
      <p:guideLst/>
    </p:cSldViewPr>
  </p:slideViewPr>
  <p:notesTextViewPr>
    <p:cViewPr>
      <p:scale>
        <a:sx n="100" d="100"/>
        <a:sy n="100" d="100"/>
      </p:scale>
      <p:origin x="0" y="0"/>
    </p:cViewPr>
  </p:notesTextViewPr>
  <p:sorterViewPr>
    <p:cViewPr>
      <p:scale>
        <a:sx n="70" d="100"/>
        <a:sy n="70" d="100"/>
      </p:scale>
      <p:origin x="0" y="0"/>
    </p:cViewPr>
  </p:sorterViewPr>
  <p:notesViewPr>
    <p:cSldViewPr snapToGrid="0" showGuides="1">
      <p:cViewPr>
        <p:scale>
          <a:sx n="90" d="100"/>
          <a:sy n="90" d="100"/>
        </p:scale>
        <p:origin x="1864" y="144"/>
      </p:cViewPr>
      <p:guideLst>
        <p:guide orient="horz" pos="2904"/>
        <p:guide pos="218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dhu, Avik" userId="S::avik.sadhu@boeing.com::aa4644d9-5a15-4a26-befe-0ac07251d373" providerId="AD" clId="Web-{70638064-1134-BAFF-D57D-9FF3429E1F0D}"/>
    <pc:docChg chg="addSld">
      <pc:chgData name="Sadhu, Avik" userId="S::avik.sadhu@boeing.com::aa4644d9-5a15-4a26-befe-0ac07251d373" providerId="AD" clId="Web-{70638064-1134-BAFF-D57D-9FF3429E1F0D}" dt="2024-09-20T10:45:43.726" v="0"/>
      <pc:docMkLst>
        <pc:docMk/>
      </pc:docMkLst>
      <pc:sldChg chg="new">
        <pc:chgData name="Sadhu, Avik" userId="S::avik.sadhu@boeing.com::aa4644d9-5a15-4a26-befe-0ac07251d373" providerId="AD" clId="Web-{70638064-1134-BAFF-D57D-9FF3429E1F0D}" dt="2024-09-20T10:45:43.726" v="0"/>
        <pc:sldMkLst>
          <pc:docMk/>
          <pc:sldMk cId="3545630654" sldId="73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4820" cy="461010"/>
          </a:xfrm>
          <a:prstGeom prst="rect">
            <a:avLst/>
          </a:prstGeom>
        </p:spPr>
        <p:txBody>
          <a:bodyPr vert="horz" lIns="92307" tIns="46153" rIns="92307" bIns="46153" rtlCol="0"/>
          <a:lstStyle>
            <a:lvl1pPr algn="l">
              <a:defRPr sz="1200"/>
            </a:lvl1pPr>
          </a:lstStyle>
          <a:p>
            <a:endParaRPr lang="en-US" dirty="0"/>
          </a:p>
        </p:txBody>
      </p:sp>
      <p:sp>
        <p:nvSpPr>
          <p:cNvPr id="3" name="Date Placeholder 2"/>
          <p:cNvSpPr>
            <a:spLocks noGrp="1"/>
          </p:cNvSpPr>
          <p:nvPr>
            <p:ph type="dt" sz="quarter" idx="1"/>
          </p:nvPr>
        </p:nvSpPr>
        <p:spPr>
          <a:xfrm>
            <a:off x="3927776" y="0"/>
            <a:ext cx="3004820" cy="461010"/>
          </a:xfrm>
          <a:prstGeom prst="rect">
            <a:avLst/>
          </a:prstGeom>
        </p:spPr>
        <p:txBody>
          <a:bodyPr vert="horz" lIns="92307" tIns="46153" rIns="92307" bIns="46153" rtlCol="0"/>
          <a:lstStyle>
            <a:lvl1pPr algn="r">
              <a:defRPr sz="1200"/>
            </a:lvl1pPr>
          </a:lstStyle>
          <a:p>
            <a:fld id="{51EED160-CCAF-4F80-91F0-8A4C0FDEBF8F}" type="datetimeFigureOut">
              <a:rPr lang="en-US" smtClean="0"/>
              <a:pPr/>
              <a:t>11/12/2025</a:t>
            </a:fld>
            <a:endParaRPr lang="en-US" dirty="0"/>
          </a:p>
        </p:txBody>
      </p:sp>
      <p:sp>
        <p:nvSpPr>
          <p:cNvPr id="4" name="Footer Placeholder 3"/>
          <p:cNvSpPr>
            <a:spLocks noGrp="1"/>
          </p:cNvSpPr>
          <p:nvPr>
            <p:ph type="ftr" sz="quarter" idx="2"/>
          </p:nvPr>
        </p:nvSpPr>
        <p:spPr>
          <a:xfrm>
            <a:off x="0" y="8757590"/>
            <a:ext cx="3004820" cy="461010"/>
          </a:xfrm>
          <a:prstGeom prst="rect">
            <a:avLst/>
          </a:prstGeom>
        </p:spPr>
        <p:txBody>
          <a:bodyPr vert="horz" lIns="92307" tIns="46153" rIns="92307" bIns="46153"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27776" y="8757590"/>
            <a:ext cx="3004820" cy="461010"/>
          </a:xfrm>
          <a:prstGeom prst="rect">
            <a:avLst/>
          </a:prstGeom>
        </p:spPr>
        <p:txBody>
          <a:bodyPr vert="horz" lIns="92307" tIns="46153" rIns="92307" bIns="46153" rtlCol="0" anchor="b"/>
          <a:lstStyle>
            <a:lvl1pPr algn="r">
              <a:defRPr sz="1200"/>
            </a:lvl1pPr>
          </a:lstStyle>
          <a:p>
            <a:fld id="{CDE9BC44-BB94-4369-907F-F6B1D1B58A14}" type="slidenum">
              <a:rPr lang="en-US" smtClean="0"/>
              <a:pPr/>
              <a:t>‹#›</a:t>
            </a:fld>
            <a:endParaRPr lang="en-US" dirty="0"/>
          </a:p>
        </p:txBody>
      </p:sp>
    </p:spTree>
    <p:extLst>
      <p:ext uri="{BB962C8B-B14F-4D97-AF65-F5344CB8AC3E}">
        <p14:creationId xmlns:p14="http://schemas.microsoft.com/office/powerpoint/2010/main" val="186364230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3004820" cy="461010"/>
          </a:xfrm>
          <a:prstGeom prst="rect">
            <a:avLst/>
          </a:prstGeom>
          <a:noFill/>
          <a:ln w="9525">
            <a:noFill/>
            <a:miter lim="800000"/>
            <a:headEnd/>
            <a:tailEnd/>
          </a:ln>
          <a:effectLst/>
        </p:spPr>
        <p:txBody>
          <a:bodyPr vert="horz" wrap="square" lIns="92307" tIns="46153" rIns="92307" bIns="46153" numCol="1" anchor="t" anchorCtr="0" compatLnSpc="1">
            <a:prstTxWarp prst="textNoShape">
              <a:avLst/>
            </a:prstTxWarp>
          </a:bodyPr>
          <a:lstStyle>
            <a:lvl1pPr>
              <a:defRPr sz="1200"/>
            </a:lvl1pPr>
          </a:lstStyle>
          <a:p>
            <a:endParaRPr lang="en-US" dirty="0"/>
          </a:p>
        </p:txBody>
      </p:sp>
      <p:sp>
        <p:nvSpPr>
          <p:cNvPr id="9219" name="Rectangle 3"/>
          <p:cNvSpPr>
            <a:spLocks noGrp="1" noChangeArrowheads="1"/>
          </p:cNvSpPr>
          <p:nvPr>
            <p:ph type="dt" idx="1"/>
          </p:nvPr>
        </p:nvSpPr>
        <p:spPr bwMode="auto">
          <a:xfrm>
            <a:off x="3927776" y="0"/>
            <a:ext cx="3004820" cy="461010"/>
          </a:xfrm>
          <a:prstGeom prst="rect">
            <a:avLst/>
          </a:prstGeom>
          <a:noFill/>
          <a:ln w="9525">
            <a:noFill/>
            <a:miter lim="800000"/>
            <a:headEnd/>
            <a:tailEnd/>
          </a:ln>
          <a:effectLst/>
        </p:spPr>
        <p:txBody>
          <a:bodyPr vert="horz" wrap="square" lIns="92307" tIns="46153" rIns="92307" bIns="46153" numCol="1" anchor="t" anchorCtr="0" compatLnSpc="1">
            <a:prstTxWarp prst="textNoShape">
              <a:avLst/>
            </a:prstTxWarp>
          </a:bodyPr>
          <a:lstStyle>
            <a:lvl1pPr algn="r">
              <a:defRPr sz="1200"/>
            </a:lvl1pPr>
          </a:lstStyle>
          <a:p>
            <a:endParaRPr lang="en-US" dirty="0"/>
          </a:p>
        </p:txBody>
      </p:sp>
      <p:sp>
        <p:nvSpPr>
          <p:cNvPr id="9220" name="Rectangle 4"/>
          <p:cNvSpPr>
            <a:spLocks noGrp="1" noRot="1" noChangeAspect="1" noChangeArrowheads="1" noTextEdit="1"/>
          </p:cNvSpPr>
          <p:nvPr>
            <p:ph type="sldImg" idx="2"/>
          </p:nvPr>
        </p:nvSpPr>
        <p:spPr bwMode="auto">
          <a:xfrm>
            <a:off x="393700" y="692150"/>
            <a:ext cx="6146800" cy="3457575"/>
          </a:xfrm>
          <a:prstGeom prst="rect">
            <a:avLst/>
          </a:prstGeom>
          <a:noFill/>
          <a:ln w="9525">
            <a:solidFill>
              <a:srgbClr val="000000"/>
            </a:solidFill>
            <a:miter lim="800000"/>
            <a:headEnd/>
            <a:tailEnd/>
          </a:ln>
          <a:effectLst/>
        </p:spPr>
      </p:sp>
      <p:sp>
        <p:nvSpPr>
          <p:cNvPr id="9221" name="Rectangle 5"/>
          <p:cNvSpPr>
            <a:spLocks noGrp="1" noChangeArrowheads="1"/>
          </p:cNvSpPr>
          <p:nvPr>
            <p:ph type="body" sz="quarter" idx="3"/>
          </p:nvPr>
        </p:nvSpPr>
        <p:spPr bwMode="auto">
          <a:xfrm>
            <a:off x="693420" y="4379596"/>
            <a:ext cx="5547360" cy="4149090"/>
          </a:xfrm>
          <a:prstGeom prst="rect">
            <a:avLst/>
          </a:prstGeom>
          <a:noFill/>
          <a:ln w="9525">
            <a:noFill/>
            <a:miter lim="800000"/>
            <a:headEnd/>
            <a:tailEnd/>
          </a:ln>
          <a:effectLst/>
        </p:spPr>
        <p:txBody>
          <a:bodyPr vert="horz" wrap="square" lIns="92307" tIns="46153" rIns="92307" bIns="46153"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222" name="Rectangle 6"/>
          <p:cNvSpPr>
            <a:spLocks noGrp="1" noChangeArrowheads="1"/>
          </p:cNvSpPr>
          <p:nvPr>
            <p:ph type="ftr" sz="quarter" idx="4"/>
          </p:nvPr>
        </p:nvSpPr>
        <p:spPr bwMode="auto">
          <a:xfrm>
            <a:off x="0" y="8757590"/>
            <a:ext cx="3004820" cy="461010"/>
          </a:xfrm>
          <a:prstGeom prst="rect">
            <a:avLst/>
          </a:prstGeom>
          <a:noFill/>
          <a:ln w="9525">
            <a:noFill/>
            <a:miter lim="800000"/>
            <a:headEnd/>
            <a:tailEnd/>
          </a:ln>
          <a:effectLst/>
        </p:spPr>
        <p:txBody>
          <a:bodyPr vert="horz" wrap="square" lIns="92307" tIns="46153" rIns="92307" bIns="46153" numCol="1" anchor="b" anchorCtr="0" compatLnSpc="1">
            <a:prstTxWarp prst="textNoShape">
              <a:avLst/>
            </a:prstTxWarp>
          </a:bodyPr>
          <a:lstStyle>
            <a:lvl1pPr>
              <a:defRPr sz="1200"/>
            </a:lvl1pPr>
          </a:lstStyle>
          <a:p>
            <a:endParaRPr lang="en-US" dirty="0"/>
          </a:p>
        </p:txBody>
      </p:sp>
      <p:sp>
        <p:nvSpPr>
          <p:cNvPr id="9223" name="Rectangle 7"/>
          <p:cNvSpPr>
            <a:spLocks noGrp="1" noChangeArrowheads="1"/>
          </p:cNvSpPr>
          <p:nvPr>
            <p:ph type="sldNum" sz="quarter" idx="5"/>
          </p:nvPr>
        </p:nvSpPr>
        <p:spPr bwMode="auto">
          <a:xfrm>
            <a:off x="3927776" y="8757590"/>
            <a:ext cx="3004820" cy="461010"/>
          </a:xfrm>
          <a:prstGeom prst="rect">
            <a:avLst/>
          </a:prstGeom>
          <a:noFill/>
          <a:ln w="9525">
            <a:noFill/>
            <a:miter lim="800000"/>
            <a:headEnd/>
            <a:tailEnd/>
          </a:ln>
          <a:effectLst/>
        </p:spPr>
        <p:txBody>
          <a:bodyPr vert="horz" wrap="square" lIns="92307" tIns="46153" rIns="92307" bIns="46153" numCol="1" anchor="b" anchorCtr="0" compatLnSpc="1">
            <a:prstTxWarp prst="textNoShape">
              <a:avLst/>
            </a:prstTxWarp>
          </a:bodyPr>
          <a:lstStyle>
            <a:lvl1pPr algn="r">
              <a:defRPr sz="1200"/>
            </a:lvl1pPr>
          </a:lstStyle>
          <a:p>
            <a:fld id="{739F009B-AA83-4291-81BE-194F11CE1901}" type="slidenum">
              <a:rPr lang="en-US"/>
              <a:pPr/>
              <a:t>‹#›</a:t>
            </a:fld>
            <a:endParaRPr lang="en-US" dirty="0"/>
          </a:p>
        </p:txBody>
      </p:sp>
    </p:spTree>
    <p:extLst>
      <p:ext uri="{BB962C8B-B14F-4D97-AF65-F5344CB8AC3E}">
        <p14:creationId xmlns:p14="http://schemas.microsoft.com/office/powerpoint/2010/main" val="2069931083"/>
      </p:ext>
    </p:extLst>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en.wikipedia.org/wiki/Power_(statistics"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
        <p:nvSpPr>
          <p:cNvPr id="4" name="Slide Number Placeholder 3"/>
          <p:cNvSpPr>
            <a:spLocks noGrp="1"/>
          </p:cNvSpPr>
          <p:nvPr>
            <p:ph type="sldNum" sz="quarter" idx="10"/>
          </p:nvPr>
        </p:nvSpPr>
        <p:spPr/>
        <p:txBody>
          <a:bodyPr/>
          <a:lstStyle/>
          <a:p>
            <a:fld id="{739F009B-AA83-4291-81BE-194F11CE1901}" type="slidenum">
              <a:rPr lang="en-US" smtClean="0"/>
              <a:pPr/>
              <a:t>1</a:t>
            </a:fld>
            <a:endParaRPr lang="en-US" dirty="0"/>
          </a:p>
        </p:txBody>
      </p:sp>
    </p:spTree>
    <p:extLst>
      <p:ext uri="{BB962C8B-B14F-4D97-AF65-F5344CB8AC3E}">
        <p14:creationId xmlns:p14="http://schemas.microsoft.com/office/powerpoint/2010/main" val="14884561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39F009B-AA83-4291-81BE-194F11CE1901}" type="slidenum">
              <a:rPr lang="en-US" smtClean="0"/>
              <a:pPr/>
              <a:t>2</a:t>
            </a:fld>
            <a:endParaRPr lang="en-US" dirty="0"/>
          </a:p>
        </p:txBody>
      </p:sp>
    </p:spTree>
    <p:extLst>
      <p:ext uri="{BB962C8B-B14F-4D97-AF65-F5344CB8AC3E}">
        <p14:creationId xmlns:p14="http://schemas.microsoft.com/office/powerpoint/2010/main" val="35137213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
        <p:nvSpPr>
          <p:cNvPr id="4" name="Slide Number Placeholder 3"/>
          <p:cNvSpPr>
            <a:spLocks noGrp="1"/>
          </p:cNvSpPr>
          <p:nvPr>
            <p:ph type="sldNum" sz="quarter" idx="10"/>
          </p:nvPr>
        </p:nvSpPr>
        <p:spPr/>
        <p:txBody>
          <a:bodyPr/>
          <a:lstStyle/>
          <a:p>
            <a:fld id="{739F009B-AA83-4291-81BE-194F11CE1901}" type="slidenum">
              <a:rPr lang="en-US" smtClean="0"/>
              <a:pPr/>
              <a:t>3</a:t>
            </a:fld>
            <a:endParaRPr lang="en-US" dirty="0"/>
          </a:p>
        </p:txBody>
      </p:sp>
    </p:spTree>
    <p:extLst>
      <p:ext uri="{BB962C8B-B14F-4D97-AF65-F5344CB8AC3E}">
        <p14:creationId xmlns:p14="http://schemas.microsoft.com/office/powerpoint/2010/main" val="11138738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Arial" charset="0"/>
                <a:ea typeface="+mn-ea"/>
                <a:cs typeface="+mn-cs"/>
              </a:rPr>
              <a:t>divide the entire population into sections or clusters that represent a population.</a:t>
            </a:r>
          </a:p>
          <a:p>
            <a:r>
              <a:rPr lang="en-US" sz="1200" b="0" i="0" kern="1200" dirty="0">
                <a:solidFill>
                  <a:schemeClr val="tx1"/>
                </a:solidFill>
                <a:effectLst/>
                <a:latin typeface="Arial" charset="0"/>
                <a:ea typeface="+mn-ea"/>
                <a:cs typeface="+mn-cs"/>
              </a:rPr>
              <a:t>choose the sample members of a population at regular intervals</a:t>
            </a:r>
          </a:p>
          <a:p>
            <a:r>
              <a:rPr lang="en-US" sz="1200" b="0" i="0" kern="1200" dirty="0">
                <a:solidFill>
                  <a:schemeClr val="tx1"/>
                </a:solidFill>
                <a:effectLst/>
                <a:latin typeface="Arial" charset="0"/>
                <a:ea typeface="+mn-ea"/>
                <a:cs typeface="+mn-cs"/>
              </a:rPr>
              <a:t>Cluster sampling is </a:t>
            </a:r>
            <a:r>
              <a:rPr lang="en-US" sz="1200" b="1" i="0" kern="1200" dirty="0">
                <a:solidFill>
                  <a:schemeClr val="tx1"/>
                </a:solidFill>
                <a:effectLst/>
                <a:latin typeface="Arial" charset="0"/>
                <a:ea typeface="+mn-ea"/>
                <a:cs typeface="+mn-cs"/>
              </a:rPr>
              <a:t>a probability sampling method in which you divide a population into clusters, such as districts or schools, and then randomly select some of these clusters as your sample</a:t>
            </a:r>
            <a:endParaRPr lang="en-US" dirty="0"/>
          </a:p>
        </p:txBody>
      </p:sp>
      <p:sp>
        <p:nvSpPr>
          <p:cNvPr id="4" name="Slide Number Placeholder 3"/>
          <p:cNvSpPr>
            <a:spLocks noGrp="1"/>
          </p:cNvSpPr>
          <p:nvPr>
            <p:ph type="sldNum" sz="quarter" idx="10"/>
          </p:nvPr>
        </p:nvSpPr>
        <p:spPr/>
        <p:txBody>
          <a:bodyPr/>
          <a:lstStyle/>
          <a:p>
            <a:fld id="{739F009B-AA83-4291-81BE-194F11CE1901}" type="slidenum">
              <a:rPr lang="en-US" smtClean="0"/>
              <a:pPr/>
              <a:t>5</a:t>
            </a:fld>
            <a:endParaRPr lang="en-US" dirty="0"/>
          </a:p>
        </p:txBody>
      </p:sp>
    </p:spTree>
    <p:extLst>
      <p:ext uri="{BB962C8B-B14F-4D97-AF65-F5344CB8AC3E}">
        <p14:creationId xmlns:p14="http://schemas.microsoft.com/office/powerpoint/2010/main" val="31367918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Arial" charset="0"/>
                <a:ea typeface="+mn-ea"/>
                <a:cs typeface="+mn-cs"/>
              </a:rPr>
              <a:t>The difference between mutually exclusive and independent events is: a mutually exclusive event can simply be defined as a situation when two events cannot occur at same time whereas independent event occurs when one event remains unaffected by the occurrence of the other event.</a:t>
            </a:r>
            <a:endParaRPr lang="en-US" dirty="0"/>
          </a:p>
        </p:txBody>
      </p:sp>
      <p:sp>
        <p:nvSpPr>
          <p:cNvPr id="4" name="Slide Number Placeholder 3"/>
          <p:cNvSpPr>
            <a:spLocks noGrp="1"/>
          </p:cNvSpPr>
          <p:nvPr>
            <p:ph type="sldNum" sz="quarter" idx="10"/>
          </p:nvPr>
        </p:nvSpPr>
        <p:spPr/>
        <p:txBody>
          <a:bodyPr/>
          <a:lstStyle/>
          <a:p>
            <a:fld id="{739F009B-AA83-4291-81BE-194F11CE1901}" type="slidenum">
              <a:rPr lang="en-US" smtClean="0"/>
              <a:pPr/>
              <a:t>16</a:t>
            </a:fld>
            <a:endParaRPr lang="en-US" dirty="0"/>
          </a:p>
        </p:txBody>
      </p:sp>
    </p:spTree>
    <p:extLst>
      <p:ext uri="{BB962C8B-B14F-4D97-AF65-F5344CB8AC3E}">
        <p14:creationId xmlns:p14="http://schemas.microsoft.com/office/powerpoint/2010/main" val="1063069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dirty="0"/>
              <a:t>Cumulative distribution function </a:t>
            </a:r>
            <a:r>
              <a:rPr lang="en-US" sz="1200" dirty="0"/>
              <a:t>probability that a random variable is less than or equal to a specific value </a:t>
            </a:r>
          </a:p>
          <a:p>
            <a:endParaRPr lang="en-US" dirty="0"/>
          </a:p>
        </p:txBody>
      </p:sp>
      <p:sp>
        <p:nvSpPr>
          <p:cNvPr id="4" name="Slide Number Placeholder 3"/>
          <p:cNvSpPr>
            <a:spLocks noGrp="1"/>
          </p:cNvSpPr>
          <p:nvPr>
            <p:ph type="sldNum" sz="quarter" idx="10"/>
          </p:nvPr>
        </p:nvSpPr>
        <p:spPr/>
        <p:txBody>
          <a:bodyPr/>
          <a:lstStyle/>
          <a:p>
            <a:fld id="{739F009B-AA83-4291-81BE-194F11CE1901}" type="slidenum">
              <a:rPr lang="en-US" smtClean="0"/>
              <a:pPr/>
              <a:t>21</a:t>
            </a:fld>
            <a:endParaRPr lang="en-US" dirty="0"/>
          </a:p>
        </p:txBody>
      </p:sp>
    </p:spTree>
    <p:extLst>
      <p:ext uri="{BB962C8B-B14F-4D97-AF65-F5344CB8AC3E}">
        <p14:creationId xmlns:p14="http://schemas.microsoft.com/office/powerpoint/2010/main" val="25773568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dirty="0"/>
              <a:t>Cumulative distribution function </a:t>
            </a:r>
            <a:r>
              <a:rPr lang="en-US" sz="1200" dirty="0"/>
              <a:t>probability that a random variable is less than or equal to a specific value </a:t>
            </a:r>
          </a:p>
          <a:p>
            <a:endParaRPr lang="en-US" dirty="0"/>
          </a:p>
        </p:txBody>
      </p:sp>
      <p:sp>
        <p:nvSpPr>
          <p:cNvPr id="4" name="Slide Number Placeholder 3"/>
          <p:cNvSpPr>
            <a:spLocks noGrp="1"/>
          </p:cNvSpPr>
          <p:nvPr>
            <p:ph type="sldNum" sz="quarter" idx="10"/>
          </p:nvPr>
        </p:nvSpPr>
        <p:spPr/>
        <p:txBody>
          <a:bodyPr/>
          <a:lstStyle/>
          <a:p>
            <a:fld id="{739F009B-AA83-4291-81BE-194F11CE1901}" type="slidenum">
              <a:rPr lang="en-US" smtClean="0"/>
              <a:pPr/>
              <a:t>22</a:t>
            </a:fld>
            <a:endParaRPr lang="en-US" dirty="0"/>
          </a:p>
        </p:txBody>
      </p:sp>
    </p:spTree>
    <p:extLst>
      <p:ext uri="{BB962C8B-B14F-4D97-AF65-F5344CB8AC3E}">
        <p14:creationId xmlns:p14="http://schemas.microsoft.com/office/powerpoint/2010/main" val="5634906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dirty="0"/>
              <a:t>Cumulative distribution function </a:t>
            </a:r>
            <a:r>
              <a:rPr lang="en-US" sz="1200" dirty="0"/>
              <a:t>probability that a random variable is less than or equal to a specific value </a:t>
            </a:r>
          </a:p>
          <a:p>
            <a:endParaRPr lang="en-US" dirty="0"/>
          </a:p>
        </p:txBody>
      </p:sp>
      <p:sp>
        <p:nvSpPr>
          <p:cNvPr id="4" name="Slide Number Placeholder 3"/>
          <p:cNvSpPr>
            <a:spLocks noGrp="1"/>
          </p:cNvSpPr>
          <p:nvPr>
            <p:ph type="sldNum" sz="quarter" idx="10"/>
          </p:nvPr>
        </p:nvSpPr>
        <p:spPr/>
        <p:txBody>
          <a:bodyPr/>
          <a:lstStyle/>
          <a:p>
            <a:fld id="{739F009B-AA83-4291-81BE-194F11CE1901}" type="slidenum">
              <a:rPr lang="en-US" smtClean="0"/>
              <a:pPr/>
              <a:t>23</a:t>
            </a:fld>
            <a:endParaRPr lang="en-US" dirty="0"/>
          </a:p>
        </p:txBody>
      </p:sp>
    </p:spTree>
    <p:extLst>
      <p:ext uri="{BB962C8B-B14F-4D97-AF65-F5344CB8AC3E}">
        <p14:creationId xmlns:p14="http://schemas.microsoft.com/office/powerpoint/2010/main" val="23406293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example, you might be interested in knowing if a new cancer drug is effective. Or if breakfast helps children perform better in schools.</a:t>
            </a:r>
          </a:p>
          <a:p>
            <a:r>
              <a:rPr lang="en-US" dirty="0"/>
              <a:t>A hypothesis test evaluates two mutually exclusive statements about a population to determine which statement is best supported by the sample data</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dirty="0"/>
          </a:p>
          <a:p>
            <a:r>
              <a:rPr lang="en-US" dirty="0"/>
              <a:t>There are 5 main steps in hypothesis testing:</a:t>
            </a:r>
          </a:p>
          <a:p>
            <a:endParaRPr lang="en-US" dirty="0"/>
          </a:p>
          <a:p>
            <a:pPr marL="549275" lvl="1" indent="-342900">
              <a:buFont typeface="+mj-lt"/>
              <a:buAutoNum type="arabicPeriod"/>
            </a:pPr>
            <a:r>
              <a:rPr lang="en-US" dirty="0"/>
              <a:t>State your research hypothesis as a null hypothesis and alternate hypothesis (Ho) and (Ha or H1).</a:t>
            </a:r>
          </a:p>
          <a:p>
            <a:pPr marL="800100" lvl="2" indent="-342900"/>
            <a:r>
              <a:rPr lang="en-US" dirty="0"/>
              <a:t>A coin is fair</a:t>
            </a:r>
          </a:p>
          <a:p>
            <a:pPr marL="800100" lvl="2" indent="-342900"/>
            <a:r>
              <a:rPr lang="en-US" dirty="0"/>
              <a:t>	No treatment/repair is more effective than another</a:t>
            </a:r>
          </a:p>
          <a:p>
            <a:pPr marL="549275" lvl="1" indent="-342900">
              <a:buFont typeface="+mj-lt"/>
              <a:buAutoNum type="arabicPeriod"/>
            </a:pPr>
            <a:r>
              <a:rPr lang="en-US" dirty="0"/>
              <a:t>Collect sample data in a way designed to test the hypothesis.</a:t>
            </a:r>
          </a:p>
          <a:p>
            <a:pPr marL="549275" lvl="1" indent="-342900">
              <a:buFont typeface="+mj-lt"/>
              <a:buAutoNum type="arabicPeriod"/>
            </a:pPr>
            <a:r>
              <a:rPr lang="en-US" altLang="en-US" dirty="0">
                <a:latin typeface="Arial" panose="020B0604020202020204" pitchFamily="34" charset="0"/>
              </a:rPr>
              <a:t>Set the Significance or confidence level (95%) and </a:t>
            </a:r>
            <a:r>
              <a:rPr lang="en-US" dirty="0"/>
              <a:t>Perform an appropriate statistical test.</a:t>
            </a:r>
          </a:p>
          <a:p>
            <a:pPr marL="549275" lvl="1" indent="-342900">
              <a:buFont typeface="+mj-lt"/>
              <a:buAutoNum type="arabicPeriod"/>
            </a:pPr>
            <a:r>
              <a:rPr lang="en-US" dirty="0"/>
              <a:t>Decide whether to reject or fail to reject your null hypothesis.</a:t>
            </a:r>
          </a:p>
          <a:p>
            <a:pPr marL="549275" lvl="1" indent="-342900">
              <a:buFont typeface="+mj-lt"/>
              <a:buAutoNum type="arabicPeriod"/>
            </a:pPr>
            <a:r>
              <a:rPr lang="en-US" dirty="0"/>
              <a:t>Present the findings in your results and discussion section.</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dirty="0"/>
              <a:t>Confirming or denying the likelihood of a conclusion or an explanation made on the basis of limited evidence</a:t>
            </a:r>
          </a:p>
          <a:p>
            <a:r>
              <a:rPr lang="en-US" sz="1200" b="0" i="0" kern="1200" dirty="0">
                <a:solidFill>
                  <a:schemeClr val="tx1"/>
                </a:solidFill>
                <a:effectLst/>
                <a:latin typeface="Arial" charset="0"/>
                <a:ea typeface="+mn-ea"/>
                <a:cs typeface="+mn-cs"/>
              </a:rPr>
              <a:t>Alpha is </a:t>
            </a:r>
            <a:r>
              <a:rPr lang="en-US" sz="1200" b="1" i="0" kern="1200" dirty="0">
                <a:solidFill>
                  <a:schemeClr val="tx1"/>
                </a:solidFill>
                <a:effectLst/>
                <a:latin typeface="Arial" charset="0"/>
                <a:ea typeface="+mn-ea"/>
                <a:cs typeface="+mn-cs"/>
              </a:rPr>
              <a:t>the probability that the event could have occurred by chance  </a:t>
            </a:r>
          </a:p>
          <a:p>
            <a:r>
              <a:rPr lang="en-US" sz="1400" dirty="0"/>
              <a:t>p-value : The probability of seeing a result as extreme as the one observed due to chance (under the assumption that the H0 is correct)</a:t>
            </a:r>
          </a:p>
          <a:p>
            <a:r>
              <a:rPr lang="en-US" sz="1400" dirty="0"/>
              <a:t>p-value &lt; alpha: reject the null hypothesis in favor of the alternative. </a:t>
            </a:r>
          </a:p>
          <a:p>
            <a:r>
              <a:rPr lang="en-US" sz="1400" dirty="0"/>
              <a:t>T-test is a statistical test used to determine whether a sample mean differs from the population mean or whether two samples differ from one another.</a:t>
            </a:r>
          </a:p>
          <a:p>
            <a:pPr lvl="1"/>
            <a:r>
              <a:rPr lang="en-US" sz="1050" dirty="0"/>
              <a:t>A one-sample t-test checks whether a sample mean differs from the population mean.</a:t>
            </a:r>
          </a:p>
          <a:p>
            <a:pPr lvl="1"/>
            <a:r>
              <a:rPr lang="en-US" sz="1050" dirty="0"/>
              <a:t>A two-sample t-test investigates whether the means of two independent samples differ from one another.</a:t>
            </a:r>
          </a:p>
          <a:p>
            <a:pPr lvl="1"/>
            <a:r>
              <a:rPr lang="en-US" sz="1050" dirty="0"/>
              <a:t>A paired t-test lets you check whether the means of samples from the same group differ</a:t>
            </a:r>
            <a:endParaRPr lang="en-US" sz="1400" dirty="0"/>
          </a:p>
          <a:p>
            <a:r>
              <a:rPr lang="en-US" sz="1400" dirty="0"/>
              <a:t>Type I error (</a:t>
            </a:r>
            <a:r>
              <a:rPr lang="el-GR" sz="1400" dirty="0"/>
              <a:t>α</a:t>
            </a:r>
            <a:r>
              <a:rPr lang="en-US" sz="1400" dirty="0"/>
              <a:t>) describes a situation where you reject the null hypothesis when it is actually true. This type of error is also known as a "false positive" or "false hit". The type 1 error rate is equal to the significance level α, so setting a higher confidence level (and therefore lower alpha) reduces the chances of getting a false positive.</a:t>
            </a:r>
          </a:p>
          <a:p>
            <a:r>
              <a:rPr lang="en-US" sz="1400" dirty="0"/>
              <a:t>Type II error describes a situation where you fail to reject the null hypothesis when it is actually false. Type II error is also known as a "false negative" or "miss". The higher your confidence level, the more likely you are to make a type II error.</a:t>
            </a:r>
          </a:p>
          <a:p>
            <a:r>
              <a:rPr lang="en-US" sz="1400" dirty="0"/>
              <a:t>The </a:t>
            </a:r>
            <a:r>
              <a:rPr lang="en-US" sz="1400" dirty="0">
                <a:hlinkClick r:id="rId3"/>
              </a:rPr>
              <a:t>power</a:t>
            </a:r>
            <a:r>
              <a:rPr lang="en-US" sz="1400" dirty="0"/>
              <a:t> of a statistical test is the probability that the test rejects the null hypothesis when the alternative is actually different from the null. In other words, power is the probability that the test detects that there is something interesting going on when there actually </a:t>
            </a:r>
            <a:r>
              <a:rPr lang="en-US" sz="1400" i="1" dirty="0"/>
              <a:t>is</a:t>
            </a:r>
            <a:r>
              <a:rPr lang="en-US" sz="1400" dirty="0"/>
              <a:t> something interesting going on. Power is equal to one minus the type II error rate. </a:t>
            </a:r>
          </a:p>
          <a:p>
            <a:r>
              <a:rPr lang="en-US" sz="1400" b="1" dirty="0"/>
              <a:t>Z Test</a:t>
            </a:r>
            <a:r>
              <a:rPr lang="en-US" sz="1400" dirty="0"/>
              <a:t> : use it instead of t-test if sample size &gt; 30</a:t>
            </a:r>
          </a:p>
          <a:p>
            <a:r>
              <a:rPr lang="en-US" sz="1400" b="1" dirty="0"/>
              <a:t>ANOVA (F-TEST): T</a:t>
            </a:r>
            <a:r>
              <a:rPr lang="en-US" sz="1400" dirty="0"/>
              <a:t>o compare more than two groups at the same time</a:t>
            </a:r>
          </a:p>
          <a:p>
            <a:r>
              <a:rPr lang="en-US" sz="1400" b="1" dirty="0"/>
              <a:t>Chi-Square Test: </a:t>
            </a:r>
            <a:r>
              <a:rPr lang="en-US" sz="1400" dirty="0"/>
              <a:t>To determine whether there is a significant association between the two categorical variables</a:t>
            </a:r>
            <a:endParaRPr lang="en-US" sz="1400" b="1" dirty="0"/>
          </a:p>
          <a:p>
            <a:endParaRPr lang="en-US" dirty="0"/>
          </a:p>
        </p:txBody>
      </p:sp>
      <p:sp>
        <p:nvSpPr>
          <p:cNvPr id="4" name="Slide Number Placeholder 3"/>
          <p:cNvSpPr>
            <a:spLocks noGrp="1"/>
          </p:cNvSpPr>
          <p:nvPr>
            <p:ph type="sldNum" sz="quarter" idx="10"/>
          </p:nvPr>
        </p:nvSpPr>
        <p:spPr/>
        <p:txBody>
          <a:bodyPr/>
          <a:lstStyle/>
          <a:p>
            <a:fld id="{739F009B-AA83-4291-81BE-194F11CE1901}" type="slidenum">
              <a:rPr lang="en-US" smtClean="0"/>
              <a:pPr/>
              <a:t>25</a:t>
            </a:fld>
            <a:endParaRPr lang="en-US" dirty="0"/>
          </a:p>
        </p:txBody>
      </p:sp>
    </p:spTree>
    <p:extLst>
      <p:ext uri="{BB962C8B-B14F-4D97-AF65-F5344CB8AC3E}">
        <p14:creationId xmlns:p14="http://schemas.microsoft.com/office/powerpoint/2010/main" val="3175352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1" kern="1200" dirty="0">
                <a:solidFill>
                  <a:schemeClr val="tx1"/>
                </a:solidFill>
                <a:effectLst/>
                <a:latin typeface="Arial" charset="0"/>
                <a:ea typeface="+mn-ea"/>
                <a:cs typeface="+mn-cs"/>
              </a:rPr>
              <a:t>Variance</a:t>
            </a:r>
            <a:r>
              <a:rPr lang="en-US" sz="1200" b="0" i="0" kern="1200" dirty="0">
                <a:solidFill>
                  <a:schemeClr val="tx1"/>
                </a:solidFill>
                <a:effectLst/>
                <a:latin typeface="Arial" charset="0"/>
                <a:ea typeface="+mn-ea"/>
                <a:cs typeface="+mn-cs"/>
              </a:rPr>
              <a:t> is a measure of variability from the mean</a:t>
            </a:r>
          </a:p>
          <a:p>
            <a:r>
              <a:rPr lang="en-US" sz="1200" b="0" i="1" kern="1200" dirty="0">
                <a:solidFill>
                  <a:schemeClr val="tx1"/>
                </a:solidFill>
                <a:effectLst/>
                <a:latin typeface="Arial" charset="0"/>
                <a:ea typeface="+mn-ea"/>
                <a:cs typeface="+mn-cs"/>
              </a:rPr>
              <a:t>Covariance</a:t>
            </a:r>
            <a:r>
              <a:rPr lang="en-US" sz="1200" b="0" i="0" kern="1200" dirty="0">
                <a:solidFill>
                  <a:schemeClr val="tx1"/>
                </a:solidFill>
                <a:effectLst/>
                <a:latin typeface="Arial" charset="0"/>
                <a:ea typeface="+mn-ea"/>
                <a:cs typeface="+mn-cs"/>
              </a:rPr>
              <a:t> is a measure of relationship between the variability of 2 variables - covariance is scale dependent because it is not standardized</a:t>
            </a:r>
          </a:p>
          <a:p>
            <a:r>
              <a:rPr lang="en-US" sz="1200" b="0" i="1" kern="1200" dirty="0">
                <a:solidFill>
                  <a:schemeClr val="tx1"/>
                </a:solidFill>
                <a:effectLst/>
                <a:latin typeface="Arial" charset="0"/>
                <a:ea typeface="+mn-ea"/>
                <a:cs typeface="+mn-cs"/>
              </a:rPr>
              <a:t>Correlation</a:t>
            </a:r>
            <a:r>
              <a:rPr lang="en-US" sz="1200" b="0" i="0" kern="1200" dirty="0">
                <a:solidFill>
                  <a:schemeClr val="tx1"/>
                </a:solidFill>
                <a:effectLst/>
                <a:latin typeface="Arial" charset="0"/>
                <a:ea typeface="+mn-ea"/>
                <a:cs typeface="+mn-cs"/>
              </a:rPr>
              <a:t> is a of relationship between the variability of </a:t>
            </a:r>
            <a:r>
              <a:rPr lang="en-US" sz="1200" b="0" i="0" kern="1200" dirty="0" err="1">
                <a:solidFill>
                  <a:schemeClr val="tx1"/>
                </a:solidFill>
                <a:effectLst/>
                <a:latin typeface="Arial" charset="0"/>
                <a:ea typeface="+mn-ea"/>
                <a:cs typeface="+mn-cs"/>
              </a:rPr>
              <a:t>of</a:t>
            </a:r>
            <a:r>
              <a:rPr lang="en-US" sz="1200" b="0" i="0" kern="1200" dirty="0">
                <a:solidFill>
                  <a:schemeClr val="tx1"/>
                </a:solidFill>
                <a:effectLst/>
                <a:latin typeface="Arial" charset="0"/>
                <a:ea typeface="+mn-ea"/>
                <a:cs typeface="+mn-cs"/>
              </a:rPr>
              <a:t> 2 variables - correlation is standardized making it not scale dependent</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Arial" charset="0"/>
                <a:ea typeface="+mn-ea"/>
                <a:cs typeface="+mn-cs"/>
              </a:rPr>
              <a:t> (</a:t>
            </a:r>
            <a:r>
              <a:rPr lang="en-US" sz="1200" b="0" i="0" kern="1200" dirty="0" err="1">
                <a:solidFill>
                  <a:schemeClr val="tx1"/>
                </a:solidFill>
                <a:effectLst/>
                <a:latin typeface="Arial" charset="0"/>
                <a:ea typeface="+mn-ea"/>
                <a:cs typeface="+mn-cs"/>
              </a:rPr>
              <a:t>bxy</a:t>
            </a:r>
            <a:r>
              <a:rPr lang="en-US" sz="1200" b="0" i="0" kern="1200" dirty="0">
                <a:solidFill>
                  <a:schemeClr val="tx1"/>
                </a:solidFill>
                <a:effectLst/>
                <a:latin typeface="Arial" charset="0"/>
                <a:ea typeface="+mn-ea"/>
                <a:cs typeface="+mn-cs"/>
              </a:rPr>
              <a:t>​,</a:t>
            </a:r>
            <a:r>
              <a:rPr lang="en-US" sz="1200" b="0" i="0" kern="1200" dirty="0" err="1">
                <a:solidFill>
                  <a:schemeClr val="tx1"/>
                </a:solidFill>
                <a:effectLst/>
                <a:latin typeface="Arial" charset="0"/>
                <a:ea typeface="+mn-ea"/>
                <a:cs typeface="+mn-cs"/>
              </a:rPr>
              <a:t>byx</a:t>
            </a:r>
            <a:r>
              <a:rPr lang="en-US" sz="1200" b="0" i="0" kern="1200" dirty="0">
                <a:solidFill>
                  <a:schemeClr val="tx1"/>
                </a:solidFill>
                <a:effectLst/>
                <a:latin typeface="Arial" charset="0"/>
                <a:ea typeface="+mn-ea"/>
                <a:cs typeface="+mn-cs"/>
              </a:rPr>
              <a:t>​)</a:t>
            </a:r>
          </a:p>
          <a:p>
            <a:endParaRPr lang="en-US" sz="1200" b="0" i="0" kern="1200" dirty="0">
              <a:solidFill>
                <a:schemeClr val="tx1"/>
              </a:solidFill>
              <a:effectLst/>
              <a:latin typeface="Arial" charset="0"/>
              <a:ea typeface="+mn-ea"/>
              <a:cs typeface="+mn-cs"/>
            </a:endParaRPr>
          </a:p>
          <a:p>
            <a:endParaRPr lang="en-US" dirty="0"/>
          </a:p>
        </p:txBody>
      </p:sp>
      <p:sp>
        <p:nvSpPr>
          <p:cNvPr id="4" name="Slide Number Placeholder 3"/>
          <p:cNvSpPr>
            <a:spLocks noGrp="1"/>
          </p:cNvSpPr>
          <p:nvPr>
            <p:ph type="sldNum" sz="quarter" idx="10"/>
          </p:nvPr>
        </p:nvSpPr>
        <p:spPr/>
        <p:txBody>
          <a:bodyPr/>
          <a:lstStyle/>
          <a:p>
            <a:fld id="{739F009B-AA83-4291-81BE-194F11CE1901}" type="slidenum">
              <a:rPr lang="en-US" smtClean="0"/>
              <a:pPr/>
              <a:t>26</a:t>
            </a:fld>
            <a:endParaRPr lang="en-US" dirty="0"/>
          </a:p>
        </p:txBody>
      </p:sp>
    </p:spTree>
    <p:extLst>
      <p:ext uri="{BB962C8B-B14F-4D97-AF65-F5344CB8AC3E}">
        <p14:creationId xmlns:p14="http://schemas.microsoft.com/office/powerpoint/2010/main" val="9500824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Arial" charset="0"/>
                <a:ea typeface="+mn-ea"/>
                <a:cs typeface="+mn-cs"/>
              </a:rPr>
              <a:t>A margin of error </a:t>
            </a:r>
            <a:r>
              <a:rPr lang="en-US" sz="1200" b="1" i="0" kern="1200" dirty="0">
                <a:solidFill>
                  <a:schemeClr val="tx1"/>
                </a:solidFill>
                <a:effectLst/>
                <a:latin typeface="Arial" charset="0"/>
                <a:ea typeface="+mn-ea"/>
                <a:cs typeface="+mn-cs"/>
              </a:rPr>
              <a:t>tells you how many percentage points your results will differ from the real population value  </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Margin of error is based on your desired confidence level, the spread of the data and the size of your sample.</a:t>
            </a:r>
          </a:p>
          <a:p>
            <a:endParaRPr lang="en-US" sz="1200" b="1" i="0" kern="1200" dirty="0">
              <a:solidFill>
                <a:schemeClr val="tx1"/>
              </a:solidFill>
              <a:effectLst/>
              <a:latin typeface="Arial" charset="0"/>
              <a:ea typeface="+mn-ea"/>
              <a:cs typeface="+mn-cs"/>
            </a:endParaRPr>
          </a:p>
          <a:p>
            <a:endParaRPr lang="en-US" dirty="0"/>
          </a:p>
        </p:txBody>
      </p:sp>
      <p:sp>
        <p:nvSpPr>
          <p:cNvPr id="4" name="Slide Number Placeholder 3"/>
          <p:cNvSpPr>
            <a:spLocks noGrp="1"/>
          </p:cNvSpPr>
          <p:nvPr>
            <p:ph type="sldNum" sz="quarter" idx="10"/>
          </p:nvPr>
        </p:nvSpPr>
        <p:spPr/>
        <p:txBody>
          <a:bodyPr/>
          <a:lstStyle/>
          <a:p>
            <a:fld id="{739F009B-AA83-4291-81BE-194F11CE1901}" type="slidenum">
              <a:rPr lang="en-US" smtClean="0"/>
              <a:pPr/>
              <a:t>27</a:t>
            </a:fld>
            <a:endParaRPr lang="en-US" dirty="0"/>
          </a:p>
        </p:txBody>
      </p:sp>
    </p:spTree>
    <p:extLst>
      <p:ext uri="{BB962C8B-B14F-4D97-AF65-F5344CB8AC3E}">
        <p14:creationId xmlns:p14="http://schemas.microsoft.com/office/powerpoint/2010/main" val="39880069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Arial" charset="0"/>
                <a:ea typeface="+mn-ea"/>
                <a:cs typeface="+mn-cs"/>
              </a:rPr>
              <a:t>Alpha is </a:t>
            </a:r>
            <a:r>
              <a:rPr lang="en-US" sz="1200" b="1" i="0" kern="1200" dirty="0">
                <a:solidFill>
                  <a:schemeClr val="tx1"/>
                </a:solidFill>
                <a:effectLst/>
                <a:latin typeface="Arial" charset="0"/>
                <a:ea typeface="+mn-ea"/>
                <a:cs typeface="+mn-cs"/>
              </a:rPr>
              <a:t>the probability that the event could have occurred by chance</a:t>
            </a:r>
            <a:endParaRPr lang="en-US" dirty="0"/>
          </a:p>
        </p:txBody>
      </p:sp>
      <p:sp>
        <p:nvSpPr>
          <p:cNvPr id="4" name="Slide Number Placeholder 3"/>
          <p:cNvSpPr>
            <a:spLocks noGrp="1"/>
          </p:cNvSpPr>
          <p:nvPr>
            <p:ph type="sldNum" sz="quarter" idx="10"/>
          </p:nvPr>
        </p:nvSpPr>
        <p:spPr/>
        <p:txBody>
          <a:bodyPr/>
          <a:lstStyle/>
          <a:p>
            <a:fld id="{739F009B-AA83-4291-81BE-194F11CE1901}" type="slidenum">
              <a:rPr lang="en-US" smtClean="0"/>
              <a:pPr/>
              <a:t>34</a:t>
            </a:fld>
            <a:endParaRPr lang="en-US" dirty="0"/>
          </a:p>
        </p:txBody>
      </p:sp>
    </p:spTree>
    <p:extLst>
      <p:ext uri="{BB962C8B-B14F-4D97-AF65-F5344CB8AC3E}">
        <p14:creationId xmlns:p14="http://schemas.microsoft.com/office/powerpoint/2010/main" val="187965962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side_Page_HeaderBar_1Conten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48FFE6E1-85EB-9E42-824B-7CC9267ED8B9}" type="slidenum">
              <a:rPr lang="en-US" smtClean="0"/>
              <a:pPr/>
              <a:t>‹#›</a:t>
            </a:fld>
            <a:endParaRPr lang="en-US" dirty="0"/>
          </a:p>
        </p:txBody>
      </p:sp>
      <p:pic>
        <p:nvPicPr>
          <p:cNvPr id="4" name="Picture 3"/>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533400"/>
          </a:xfrm>
          <a:prstGeom prst="rect">
            <a:avLst/>
          </a:prstGeom>
        </p:spPr>
      </p:pic>
      <p:sp>
        <p:nvSpPr>
          <p:cNvPr id="6" name="Rectangle 5"/>
          <p:cNvSpPr>
            <a:spLocks noChangeArrowheads="1"/>
          </p:cNvSpPr>
          <p:nvPr userDrawn="1"/>
        </p:nvSpPr>
        <p:spPr bwMode="auto">
          <a:xfrm>
            <a:off x="457200" y="6493880"/>
            <a:ext cx="2753783" cy="123111"/>
          </a:xfrm>
          <a:prstGeom prst="rect">
            <a:avLst/>
          </a:prstGeom>
          <a:noFill/>
          <a:ln w="12700">
            <a:noFill/>
            <a:miter lim="800000"/>
            <a:headEnd type="none" w="sm" len="sm"/>
            <a:tailEnd type="none" w="sm" len="sm"/>
          </a:ln>
          <a:effectLst/>
        </p:spPr>
        <p:txBody>
          <a:bodyPr lIns="0" tIns="0" rIns="0" bIns="0" anchor="ctr" anchorCtr="0">
            <a:spAutoFit/>
          </a:bodyPr>
          <a:lstStyle/>
          <a:p>
            <a:pPr defTabSz="820738" eaLnBrk="0" hangingPunct="0"/>
            <a:r>
              <a:rPr lang="en-US" sz="800" dirty="0">
                <a:solidFill>
                  <a:srgbClr val="A3AAAE"/>
                </a:solidFill>
              </a:rPr>
              <a:t>Copyright © 2019 Boeing. All rights reserved.</a:t>
            </a:r>
          </a:p>
        </p:txBody>
      </p:sp>
      <p:sp>
        <p:nvSpPr>
          <p:cNvPr id="7" name="Content Placeholder 2">
            <a:extLst>
              <a:ext uri="{FF2B5EF4-FFF2-40B4-BE49-F238E27FC236}">
                <a16:creationId xmlns:a16="http://schemas.microsoft.com/office/drawing/2014/main" id="{BA49E8DD-FF81-1940-903D-167F491627D1}"/>
              </a:ext>
            </a:extLst>
          </p:cNvPr>
          <p:cNvSpPr>
            <a:spLocks noGrp="1"/>
          </p:cNvSpPr>
          <p:nvPr>
            <p:ph idx="1" hasCustomPrompt="1"/>
          </p:nvPr>
        </p:nvSpPr>
        <p:spPr>
          <a:xfrm>
            <a:off x="457484" y="1432908"/>
            <a:ext cx="10980835" cy="1477328"/>
          </a:xfrm>
        </p:spPr>
        <p:txBody>
          <a:bodyPr/>
          <a:lstStyle>
            <a:lvl1pPr marL="169863" indent="-169863">
              <a:lnSpc>
                <a:spcPct val="100000"/>
              </a:lnSpc>
              <a:buFont typeface="Wingdings" pitchFamily="2" charset="2"/>
              <a:buChar char="§"/>
              <a:defRPr sz="1800">
                <a:solidFill>
                  <a:srgbClr val="5B6770"/>
                </a:solidFill>
              </a:defRPr>
            </a:lvl1pPr>
            <a:lvl2pPr marL="376238" indent="-204788">
              <a:lnSpc>
                <a:spcPct val="100000"/>
              </a:lnSpc>
              <a:buFont typeface="Wingdings" pitchFamily="2" charset="2"/>
              <a:buChar char="§"/>
              <a:defRPr sz="1600">
                <a:solidFill>
                  <a:srgbClr val="5B6770"/>
                </a:solidFill>
              </a:defRPr>
            </a:lvl2pPr>
            <a:lvl3pPr marL="627063" indent="-185738">
              <a:lnSpc>
                <a:spcPct val="100000"/>
              </a:lnSpc>
              <a:buFont typeface="Wingdings" pitchFamily="2" charset="2"/>
              <a:buChar char="§"/>
              <a:defRPr sz="1600">
                <a:solidFill>
                  <a:srgbClr val="5B6770"/>
                </a:solidFill>
              </a:defRPr>
            </a:lvl3pPr>
            <a:lvl4pPr marL="792163" indent="-163513">
              <a:lnSpc>
                <a:spcPct val="100000"/>
              </a:lnSpc>
              <a:buFont typeface="Wingdings" pitchFamily="2" charset="2"/>
              <a:buChar char="§"/>
              <a:defRPr sz="1400">
                <a:solidFill>
                  <a:srgbClr val="5B6770"/>
                </a:solidFill>
              </a:defRPr>
            </a:lvl4pPr>
            <a:lvl5pPr marL="957263" indent="-163513">
              <a:lnSpc>
                <a:spcPct val="100000"/>
              </a:lnSpc>
              <a:buFont typeface="Wingdings" pitchFamily="2" charset="2"/>
              <a:buChar char="§"/>
              <a:defRPr sz="1400">
                <a:solidFill>
                  <a:srgbClr val="5B6770"/>
                </a:solidFill>
              </a:defRPr>
            </a:lvl5pPr>
          </a:lstStyle>
          <a:p>
            <a:pPr lvl="0"/>
            <a:r>
              <a:rPr lang="en-US" dirty="0"/>
              <a:t>Click to edit Master text styles</a:t>
            </a:r>
          </a:p>
          <a:p>
            <a:pPr lvl="1"/>
            <a:r>
              <a:rPr lang="en-US" dirty="0"/>
              <a:t>Second level</a:t>
            </a:r>
          </a:p>
          <a:p>
            <a:pPr lvl="2"/>
            <a:r>
              <a:rPr lang="en-US" dirty="0"/>
              <a:t> Third level</a:t>
            </a:r>
          </a:p>
          <a:p>
            <a:pPr lvl="3"/>
            <a:r>
              <a:rPr lang="en-US" dirty="0"/>
              <a:t> Fourth level</a:t>
            </a:r>
          </a:p>
          <a:p>
            <a:pPr lvl="4"/>
            <a:r>
              <a:rPr lang="en-US" dirty="0"/>
              <a:t> Fifth level</a:t>
            </a:r>
          </a:p>
        </p:txBody>
      </p:sp>
      <p:sp>
        <p:nvSpPr>
          <p:cNvPr id="8" name="Footer Placeholder 82">
            <a:extLst>
              <a:ext uri="{FF2B5EF4-FFF2-40B4-BE49-F238E27FC236}">
                <a16:creationId xmlns:a16="http://schemas.microsoft.com/office/drawing/2014/main" id="{C68FC903-7584-354B-BEBC-16207367C765}"/>
              </a:ext>
            </a:extLst>
          </p:cNvPr>
          <p:cNvSpPr txBox="1">
            <a:spLocks/>
          </p:cNvSpPr>
          <p:nvPr userDrawn="1"/>
        </p:nvSpPr>
        <p:spPr bwMode="auto">
          <a:xfrm>
            <a:off x="3971405" y="6251768"/>
            <a:ext cx="4267200" cy="374650"/>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defPPr>
              <a:defRPr lang="en-US"/>
            </a:defPPr>
            <a:lvl1pPr algn="ctr" rtl="0" eaLnBrk="0" fontAlgn="base" hangingPunct="0">
              <a:spcBef>
                <a:spcPct val="0"/>
              </a:spcBef>
              <a:spcAft>
                <a:spcPct val="0"/>
              </a:spcAft>
              <a:defRPr sz="1000" b="1" kern="1200">
                <a:solidFill>
                  <a:srgbClr val="A3AAAE"/>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800" dirty="0">
                <a:solidFill>
                  <a:srgbClr val="A3AAAE"/>
                </a:solidFill>
              </a:rPr>
              <a:t>BOEING PROPRIETARY</a:t>
            </a:r>
          </a:p>
        </p:txBody>
      </p:sp>
      <p:sp>
        <p:nvSpPr>
          <p:cNvPr id="11" name="Text Placeholder 11">
            <a:extLst>
              <a:ext uri="{FF2B5EF4-FFF2-40B4-BE49-F238E27FC236}">
                <a16:creationId xmlns:a16="http://schemas.microsoft.com/office/drawing/2014/main" id="{8D37AAF8-24EE-0342-993F-8BF332F0E0E3}"/>
              </a:ext>
            </a:extLst>
          </p:cNvPr>
          <p:cNvSpPr>
            <a:spLocks noGrp="1"/>
          </p:cNvSpPr>
          <p:nvPr>
            <p:ph type="body" sz="quarter" idx="13"/>
          </p:nvPr>
        </p:nvSpPr>
        <p:spPr>
          <a:xfrm>
            <a:off x="466628" y="188083"/>
            <a:ext cx="7772400" cy="193899"/>
          </a:xfrm>
        </p:spPr>
        <p:txBody>
          <a:bodyPr anchor="ctr" anchorCtr="0"/>
          <a:lstStyle>
            <a:lvl1pPr marL="0" indent="0">
              <a:buNone/>
              <a:defRPr sz="1400">
                <a:solidFill>
                  <a:schemeClr val="bg1"/>
                </a:solidFill>
              </a:defRPr>
            </a:lvl1pPr>
          </a:lstStyle>
          <a:p>
            <a:pPr lvl="0"/>
            <a:r>
              <a:rPr lang="en-US" dirty="0"/>
              <a:t>Click to edit Master text styles</a:t>
            </a:r>
          </a:p>
        </p:txBody>
      </p:sp>
      <p:sp>
        <p:nvSpPr>
          <p:cNvPr id="10" name="Title 1">
            <a:extLst>
              <a:ext uri="{FF2B5EF4-FFF2-40B4-BE49-F238E27FC236}">
                <a16:creationId xmlns:a16="http://schemas.microsoft.com/office/drawing/2014/main" id="{101AB674-AA43-3C41-A5B8-C461D1785485}"/>
              </a:ext>
            </a:extLst>
          </p:cNvPr>
          <p:cNvSpPr>
            <a:spLocks noGrp="1"/>
          </p:cNvSpPr>
          <p:nvPr>
            <p:ph type="title"/>
          </p:nvPr>
        </p:nvSpPr>
        <p:spPr>
          <a:xfrm>
            <a:off x="466628" y="952500"/>
            <a:ext cx="10976889" cy="304699"/>
          </a:xfrm>
        </p:spPr>
        <p:txBody>
          <a:bodyPr/>
          <a:lstStyle>
            <a:lvl1pPr>
              <a:defRPr sz="2200">
                <a:solidFill>
                  <a:srgbClr val="5B6770"/>
                </a:solidFill>
              </a:defRPr>
            </a:lvl1pPr>
          </a:lstStyle>
          <a:p>
            <a:r>
              <a:rPr lang="en-US" dirty="0"/>
              <a:t>Click to edit Master title style</a:t>
            </a:r>
          </a:p>
        </p:txBody>
      </p:sp>
      <p:sp>
        <p:nvSpPr>
          <p:cNvPr id="12" name="Text Placeholder 3">
            <a:extLst>
              <a:ext uri="{FF2B5EF4-FFF2-40B4-BE49-F238E27FC236}">
                <a16:creationId xmlns:a16="http://schemas.microsoft.com/office/drawing/2014/main" id="{5CEB4F12-802E-D643-81B6-02F8AAD3A281}"/>
              </a:ext>
            </a:extLst>
          </p:cNvPr>
          <p:cNvSpPr>
            <a:spLocks noGrp="1"/>
          </p:cNvSpPr>
          <p:nvPr>
            <p:ph type="body" sz="quarter" idx="14" hasCustomPrompt="1"/>
          </p:nvPr>
        </p:nvSpPr>
        <p:spPr>
          <a:xfrm>
            <a:off x="5672137" y="188083"/>
            <a:ext cx="6024563" cy="193899"/>
          </a:xfrm>
        </p:spPr>
        <p:txBody>
          <a:bodyPr/>
          <a:lstStyle>
            <a:lvl1pPr marL="0" indent="0" algn="r">
              <a:buNone/>
              <a:defRPr sz="1400">
                <a:solidFill>
                  <a:schemeClr val="bg1"/>
                </a:solidFill>
              </a:defRPr>
            </a:lvl1pPr>
            <a:lvl2pPr marL="171450" indent="0" algn="r">
              <a:buNone/>
              <a:defRPr/>
            </a:lvl2pPr>
            <a:lvl3pPr marL="441325" indent="0" algn="r">
              <a:buNone/>
              <a:defRPr/>
            </a:lvl3pPr>
            <a:lvl4pPr marL="628650" indent="0" algn="r">
              <a:buNone/>
              <a:defRPr/>
            </a:lvl4pPr>
            <a:lvl5pPr marL="793750" indent="0" algn="r">
              <a:buNone/>
              <a:defRPr/>
            </a:lvl5pPr>
          </a:lstStyle>
          <a:p>
            <a:pPr lvl="0"/>
            <a:r>
              <a:rPr lang="en-US"/>
              <a:t>Click to edit Organization Name</a:t>
            </a:r>
          </a:p>
        </p:txBody>
      </p:sp>
    </p:spTree>
    <p:extLst>
      <p:ext uri="{BB962C8B-B14F-4D97-AF65-F5344CB8AC3E}">
        <p14:creationId xmlns:p14="http://schemas.microsoft.com/office/powerpoint/2010/main" val="1450361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267" name="Rectangle 3"/>
          <p:cNvSpPr>
            <a:spLocks noGrp="1" noChangeArrowheads="1"/>
          </p:cNvSpPr>
          <p:nvPr>
            <p:ph type="title"/>
          </p:nvPr>
        </p:nvSpPr>
        <p:spPr bwMode="auto">
          <a:xfrm>
            <a:off x="457201" y="900499"/>
            <a:ext cx="10976889" cy="304699"/>
          </a:xfrm>
          <a:prstGeom prst="rect">
            <a:avLst/>
          </a:prstGeom>
          <a:noFill/>
          <a:ln w="9525">
            <a:noFill/>
            <a:miter lim="800000"/>
            <a:headEnd/>
            <a:tailEnd/>
          </a:ln>
          <a:effectLst/>
        </p:spPr>
        <p:txBody>
          <a:bodyPr vert="horz" wrap="square" lIns="0" tIns="0" rIns="0" bIns="0" numCol="1" anchor="b" anchorCtr="0" compatLnSpc="1">
            <a:prstTxWarp prst="textNoShape">
              <a:avLst/>
            </a:prstTxWarp>
            <a:spAutoFit/>
          </a:bodyPr>
          <a:lstStyle/>
          <a:p>
            <a:pPr lvl="0"/>
            <a:r>
              <a:rPr lang="en-US" dirty="0"/>
              <a:t>Click to edit Master title style</a:t>
            </a:r>
          </a:p>
        </p:txBody>
      </p:sp>
      <p:sp>
        <p:nvSpPr>
          <p:cNvPr id="11268" name="Rectangle 4"/>
          <p:cNvSpPr>
            <a:spLocks noGrp="1" noChangeArrowheads="1"/>
          </p:cNvSpPr>
          <p:nvPr>
            <p:ph type="body" idx="1"/>
          </p:nvPr>
        </p:nvSpPr>
        <p:spPr bwMode="auto">
          <a:xfrm>
            <a:off x="457200" y="2021174"/>
            <a:ext cx="10980835" cy="1477328"/>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Slide Number Placeholder 1"/>
          <p:cNvSpPr>
            <a:spLocks noGrp="1"/>
          </p:cNvSpPr>
          <p:nvPr>
            <p:ph type="sldNum" sz="quarter" idx="4"/>
          </p:nvPr>
        </p:nvSpPr>
        <p:spPr>
          <a:xfrm>
            <a:off x="10142220" y="6515100"/>
            <a:ext cx="1554480" cy="91440"/>
          </a:xfrm>
          <a:prstGeom prst="rect">
            <a:avLst/>
          </a:prstGeom>
        </p:spPr>
        <p:txBody>
          <a:bodyPr vert="horz" lIns="0" tIns="0" rIns="0" bIns="0" rtlCol="0" anchor="ctr"/>
          <a:lstStyle>
            <a:lvl1pPr algn="r">
              <a:defRPr sz="800" b="1">
                <a:solidFill>
                  <a:srgbClr val="A3AAAE"/>
                </a:solidFill>
              </a:defRPr>
            </a:lvl1pPr>
          </a:lstStyle>
          <a:p>
            <a:fld id="{48FFE6E1-85EB-9E42-824B-7CC9267ED8B9}" type="slidenum">
              <a:rPr lang="en-US" smtClean="0"/>
              <a:pPr/>
              <a:t>‹#›</a:t>
            </a:fld>
            <a:endParaRPr lang="en-US" dirty="0"/>
          </a:p>
        </p:txBody>
      </p:sp>
    </p:spTree>
    <p:extLst>
      <p:ext uri="{BB962C8B-B14F-4D97-AF65-F5344CB8AC3E}">
        <p14:creationId xmlns:p14="http://schemas.microsoft.com/office/powerpoint/2010/main" val="3332785547"/>
      </p:ext>
    </p:extLst>
  </p:cSld>
  <p:clrMap bg1="lt1" tx1="dk1" bg2="lt2" tx2="dk2" accent1="accent1" accent2="accent2" accent3="accent3" accent4="accent4" accent5="accent5" accent6="accent6" hlink="hlink" folHlink="folHlink"/>
  <p:sldLayoutIdLst>
    <p:sldLayoutId id="2147483819" r:id="rId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1020763" rtl="0" eaLnBrk="1" fontAlgn="base" hangingPunct="1">
        <a:lnSpc>
          <a:spcPct val="90000"/>
        </a:lnSpc>
        <a:spcBef>
          <a:spcPct val="0"/>
        </a:spcBef>
        <a:spcAft>
          <a:spcPct val="0"/>
        </a:spcAft>
        <a:defRPr sz="2200" b="0">
          <a:solidFill>
            <a:schemeClr val="tx2"/>
          </a:solidFill>
          <a:latin typeface="Arial" charset="0"/>
          <a:ea typeface="Arial" charset="0"/>
          <a:cs typeface="Arial" charset="0"/>
        </a:defRPr>
      </a:lvl1pPr>
      <a:lvl2pPr algn="l" defTabSz="1020763" rtl="0" eaLnBrk="1" fontAlgn="base" hangingPunct="1">
        <a:lnSpc>
          <a:spcPct val="90000"/>
        </a:lnSpc>
        <a:spcBef>
          <a:spcPct val="0"/>
        </a:spcBef>
        <a:spcAft>
          <a:spcPct val="0"/>
        </a:spcAft>
        <a:defRPr sz="3200" b="1">
          <a:solidFill>
            <a:schemeClr val="tx2"/>
          </a:solidFill>
          <a:latin typeface="Arial" charset="0"/>
        </a:defRPr>
      </a:lvl2pPr>
      <a:lvl3pPr algn="l" defTabSz="1020763" rtl="0" eaLnBrk="1" fontAlgn="base" hangingPunct="1">
        <a:lnSpc>
          <a:spcPct val="90000"/>
        </a:lnSpc>
        <a:spcBef>
          <a:spcPct val="0"/>
        </a:spcBef>
        <a:spcAft>
          <a:spcPct val="0"/>
        </a:spcAft>
        <a:defRPr sz="3200" b="1">
          <a:solidFill>
            <a:schemeClr val="tx2"/>
          </a:solidFill>
          <a:latin typeface="Arial" charset="0"/>
        </a:defRPr>
      </a:lvl3pPr>
      <a:lvl4pPr algn="l" defTabSz="1020763" rtl="0" eaLnBrk="1" fontAlgn="base" hangingPunct="1">
        <a:lnSpc>
          <a:spcPct val="90000"/>
        </a:lnSpc>
        <a:spcBef>
          <a:spcPct val="0"/>
        </a:spcBef>
        <a:spcAft>
          <a:spcPct val="0"/>
        </a:spcAft>
        <a:defRPr sz="3200" b="1">
          <a:solidFill>
            <a:schemeClr val="tx2"/>
          </a:solidFill>
          <a:latin typeface="Arial" charset="0"/>
        </a:defRPr>
      </a:lvl4pPr>
      <a:lvl5pPr algn="l" defTabSz="1020763" rtl="0" eaLnBrk="1" fontAlgn="base" hangingPunct="1">
        <a:lnSpc>
          <a:spcPct val="90000"/>
        </a:lnSpc>
        <a:spcBef>
          <a:spcPct val="0"/>
        </a:spcBef>
        <a:spcAft>
          <a:spcPct val="0"/>
        </a:spcAft>
        <a:defRPr sz="3200" b="1">
          <a:solidFill>
            <a:schemeClr val="tx2"/>
          </a:solidFill>
          <a:latin typeface="Arial" charset="0"/>
        </a:defRPr>
      </a:lvl5pPr>
      <a:lvl6pPr marL="457200" algn="l" defTabSz="1020763" rtl="0" eaLnBrk="1" fontAlgn="base" hangingPunct="1">
        <a:lnSpc>
          <a:spcPct val="90000"/>
        </a:lnSpc>
        <a:spcBef>
          <a:spcPct val="0"/>
        </a:spcBef>
        <a:spcAft>
          <a:spcPct val="0"/>
        </a:spcAft>
        <a:defRPr sz="3200" b="1">
          <a:solidFill>
            <a:schemeClr val="tx2"/>
          </a:solidFill>
          <a:latin typeface="Arial" charset="0"/>
        </a:defRPr>
      </a:lvl6pPr>
      <a:lvl7pPr marL="914400" algn="l" defTabSz="1020763" rtl="0" eaLnBrk="1" fontAlgn="base" hangingPunct="1">
        <a:lnSpc>
          <a:spcPct val="90000"/>
        </a:lnSpc>
        <a:spcBef>
          <a:spcPct val="0"/>
        </a:spcBef>
        <a:spcAft>
          <a:spcPct val="0"/>
        </a:spcAft>
        <a:defRPr sz="3200" b="1">
          <a:solidFill>
            <a:schemeClr val="tx2"/>
          </a:solidFill>
          <a:latin typeface="Arial" charset="0"/>
        </a:defRPr>
      </a:lvl7pPr>
      <a:lvl8pPr marL="1371600" algn="l" defTabSz="1020763" rtl="0" eaLnBrk="1" fontAlgn="base" hangingPunct="1">
        <a:lnSpc>
          <a:spcPct val="90000"/>
        </a:lnSpc>
        <a:spcBef>
          <a:spcPct val="0"/>
        </a:spcBef>
        <a:spcAft>
          <a:spcPct val="0"/>
        </a:spcAft>
        <a:defRPr sz="3200" b="1">
          <a:solidFill>
            <a:schemeClr val="tx2"/>
          </a:solidFill>
          <a:latin typeface="Arial" charset="0"/>
        </a:defRPr>
      </a:lvl8pPr>
      <a:lvl9pPr marL="1828800" algn="l" defTabSz="1020763" rtl="0" eaLnBrk="1" fontAlgn="base" hangingPunct="1">
        <a:lnSpc>
          <a:spcPct val="90000"/>
        </a:lnSpc>
        <a:spcBef>
          <a:spcPct val="0"/>
        </a:spcBef>
        <a:spcAft>
          <a:spcPct val="0"/>
        </a:spcAft>
        <a:defRPr sz="3200" b="1">
          <a:solidFill>
            <a:schemeClr val="tx2"/>
          </a:solidFill>
          <a:latin typeface="Arial" charset="0"/>
        </a:defRPr>
      </a:lvl9pPr>
    </p:titleStyle>
    <p:bodyStyle>
      <a:lvl1pPr marL="169863" indent="-169863" algn="l" defTabSz="820738" rtl="0" eaLnBrk="1" fontAlgn="base" hangingPunct="1">
        <a:lnSpc>
          <a:spcPct val="100000"/>
        </a:lnSpc>
        <a:spcBef>
          <a:spcPct val="30000"/>
        </a:spcBef>
        <a:spcAft>
          <a:spcPct val="0"/>
        </a:spcAft>
        <a:buClr>
          <a:schemeClr val="tx2"/>
        </a:buClr>
        <a:buFont typeface="Wingdings" pitchFamily="2" charset="2"/>
        <a:buChar char="§"/>
        <a:defRPr sz="1800" b="0">
          <a:solidFill>
            <a:srgbClr val="5B6770"/>
          </a:solidFill>
          <a:latin typeface="Arial" charset="0"/>
          <a:ea typeface="Arial" charset="0"/>
          <a:cs typeface="Arial" charset="0"/>
        </a:defRPr>
      </a:lvl1pPr>
      <a:lvl2pPr marL="376238" indent="-204788" algn="l" defTabSz="820738" rtl="0" eaLnBrk="1" fontAlgn="base" hangingPunct="1">
        <a:lnSpc>
          <a:spcPct val="100000"/>
        </a:lnSpc>
        <a:spcBef>
          <a:spcPct val="30000"/>
        </a:spcBef>
        <a:spcAft>
          <a:spcPct val="0"/>
        </a:spcAft>
        <a:buClr>
          <a:schemeClr val="tx2"/>
        </a:buClr>
        <a:buFont typeface="Wingdings" pitchFamily="2" charset="2"/>
        <a:buChar char="§"/>
        <a:defRPr sz="1600">
          <a:solidFill>
            <a:srgbClr val="5B6770"/>
          </a:solidFill>
          <a:latin typeface="Arial" charset="0"/>
          <a:ea typeface="Arial" charset="0"/>
          <a:cs typeface="Arial" charset="0"/>
        </a:defRPr>
      </a:lvl2pPr>
      <a:lvl3pPr marL="627063" indent="-185738" algn="l" defTabSz="820738" rtl="0" eaLnBrk="1" fontAlgn="base" hangingPunct="1">
        <a:lnSpc>
          <a:spcPct val="100000"/>
        </a:lnSpc>
        <a:spcBef>
          <a:spcPct val="30000"/>
        </a:spcBef>
        <a:spcAft>
          <a:spcPct val="0"/>
        </a:spcAft>
        <a:buClr>
          <a:schemeClr val="tx2"/>
        </a:buClr>
        <a:buFont typeface="Arial" charset="0"/>
        <a:buChar char="–"/>
        <a:defRPr sz="1600">
          <a:solidFill>
            <a:srgbClr val="5B6770"/>
          </a:solidFill>
          <a:latin typeface="Arial" charset="0"/>
          <a:ea typeface="Arial" charset="0"/>
          <a:cs typeface="Arial" charset="0"/>
        </a:defRPr>
      </a:lvl3pPr>
      <a:lvl4pPr marL="792163" indent="-163513" algn="l" defTabSz="820738" rtl="0" eaLnBrk="1" fontAlgn="base" hangingPunct="1">
        <a:lnSpc>
          <a:spcPct val="100000"/>
        </a:lnSpc>
        <a:spcBef>
          <a:spcPct val="30000"/>
        </a:spcBef>
        <a:spcAft>
          <a:spcPct val="0"/>
        </a:spcAft>
        <a:buClr>
          <a:schemeClr val="tx2"/>
        </a:buClr>
        <a:buFont typeface="Arial" charset="0"/>
        <a:buChar char="–"/>
        <a:defRPr sz="1400">
          <a:solidFill>
            <a:srgbClr val="5B6770"/>
          </a:solidFill>
          <a:latin typeface="Arial" charset="0"/>
          <a:ea typeface="Arial" charset="0"/>
          <a:cs typeface="Arial" charset="0"/>
        </a:defRPr>
      </a:lvl4pPr>
      <a:lvl5pPr marL="957263" indent="-163513" algn="l" defTabSz="820738" rtl="0" eaLnBrk="1" fontAlgn="base" hangingPunct="1">
        <a:lnSpc>
          <a:spcPct val="100000"/>
        </a:lnSpc>
        <a:spcBef>
          <a:spcPct val="30000"/>
        </a:spcBef>
        <a:spcAft>
          <a:spcPct val="0"/>
        </a:spcAft>
        <a:buClr>
          <a:schemeClr val="tx2"/>
        </a:buClr>
        <a:buFont typeface="Arial" charset="0"/>
        <a:buChar char="–"/>
        <a:defRPr sz="1400">
          <a:solidFill>
            <a:srgbClr val="5B6770"/>
          </a:solidFill>
          <a:latin typeface="Arial" charset="0"/>
          <a:ea typeface="Arial" charset="0"/>
          <a:cs typeface="Arial" charset="0"/>
        </a:defRPr>
      </a:lvl5pPr>
      <a:lvl6pPr marL="14144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solidFill>
          <a:latin typeface="+mn-lt"/>
        </a:defRPr>
      </a:lvl6pPr>
      <a:lvl7pPr marL="18716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solidFill>
          <a:latin typeface="+mn-lt"/>
        </a:defRPr>
      </a:lvl7pPr>
      <a:lvl8pPr marL="23288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solidFill>
          <a:latin typeface="+mn-lt"/>
        </a:defRPr>
      </a:lvl8pPr>
      <a:lvl9pPr marL="27860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userDrawn="1">
          <p15:clr>
            <a:srgbClr val="F26B43"/>
          </p15:clr>
        </p15:guide>
        <p15:guide id="2" pos="3840" userDrawn="1">
          <p15:clr>
            <a:srgbClr val="F26B43"/>
          </p15:clr>
        </p15:guide>
        <p15:guide id="3" pos="288" userDrawn="1">
          <p15:clr>
            <a:srgbClr val="F26B43"/>
          </p15:clr>
        </p15:guide>
        <p15:guide id="4" pos="7368" userDrawn="1">
          <p15:clr>
            <a:srgbClr val="F26B43"/>
          </p15:clr>
        </p15:guide>
        <p15:guide id="5" orient="horz" pos="4104" userDrawn="1">
          <p15:clr>
            <a:srgbClr val="F26B43"/>
          </p15:clr>
        </p15:guide>
        <p15:guide id="6" orient="horz" pos="336" userDrawn="1">
          <p15:clr>
            <a:srgbClr val="F26B43"/>
          </p15:clr>
        </p15:guide>
        <p15:guide id="7" orient="horz" pos="2160" userDrawn="1">
          <p15:clr>
            <a:srgbClr val="F26B43"/>
          </p15:clr>
        </p15:guide>
        <p15:guide id="8" orient="horz" pos="480" userDrawn="1">
          <p15:clr>
            <a:srgbClr val="F26B43"/>
          </p15:clr>
        </p15:guide>
        <p15:guide id="9" orient="horz" pos="60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jpe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9.png"/><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45.emf"/><Relationship Id="rId4" Type="http://schemas.openxmlformats.org/officeDocument/2006/relationships/image" Target="../media/image44.png"/></Relationships>
</file>

<file path=ppt/slides/_rels/slide2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hyperlink" Target="https://en.wikipedia.org/wiki/Power_(statistics"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71784" y="2499708"/>
            <a:ext cx="10980835" cy="553998"/>
          </a:xfrm>
        </p:spPr>
        <p:txBody>
          <a:bodyPr/>
          <a:lstStyle/>
          <a:p>
            <a:pPr marL="0" indent="0" algn="ctr">
              <a:buNone/>
            </a:pPr>
            <a:r>
              <a:rPr lang="en-US" sz="3600" b="1" dirty="0">
                <a:solidFill>
                  <a:schemeClr val="tx1"/>
                </a:solidFill>
              </a:rPr>
              <a:t>DESCRIPTIVE &amp; INFERENTIAL STATISTICS</a:t>
            </a:r>
          </a:p>
        </p:txBody>
      </p:sp>
      <p:sp>
        <p:nvSpPr>
          <p:cNvPr id="41" name="Title 1"/>
          <p:cNvSpPr>
            <a:spLocks noGrp="1"/>
          </p:cNvSpPr>
          <p:nvPr>
            <p:ph type="title"/>
          </p:nvPr>
        </p:nvSpPr>
        <p:spPr/>
        <p:txBody>
          <a:bodyPr/>
          <a:lstStyle/>
          <a:p>
            <a:pPr>
              <a:spcBef>
                <a:spcPct val="50000"/>
              </a:spcBef>
            </a:pPr>
            <a:r>
              <a:rPr lang="en-US" b="1" kern="1200" dirty="0">
                <a:solidFill>
                  <a:schemeClr val="bg1"/>
                </a:solidFill>
              </a:rPr>
              <a:t>Health Index Creation</a:t>
            </a:r>
          </a:p>
        </p:txBody>
      </p:sp>
    </p:spTree>
    <p:extLst>
      <p:ext uri="{BB962C8B-B14F-4D97-AF65-F5344CB8AC3E}">
        <p14:creationId xmlns:p14="http://schemas.microsoft.com/office/powerpoint/2010/main" val="2864265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a:xfrm>
            <a:off x="466628" y="131145"/>
            <a:ext cx="7772400" cy="307777"/>
          </a:xfrm>
        </p:spPr>
        <p:txBody>
          <a:bodyPr/>
          <a:lstStyle/>
          <a:p>
            <a:r>
              <a:rPr lang="en-US" sz="2000" b="1" dirty="0"/>
              <a:t>Descriptive and Inferential Statistics</a:t>
            </a:r>
          </a:p>
        </p:txBody>
      </p:sp>
      <p:sp>
        <p:nvSpPr>
          <p:cNvPr id="4" name="Title 3"/>
          <p:cNvSpPr>
            <a:spLocks noGrp="1"/>
          </p:cNvSpPr>
          <p:nvPr>
            <p:ph type="title"/>
          </p:nvPr>
        </p:nvSpPr>
        <p:spPr>
          <a:xfrm>
            <a:off x="462682" y="682354"/>
            <a:ext cx="10976889" cy="526298"/>
          </a:xfrm>
        </p:spPr>
        <p:txBody>
          <a:bodyPr/>
          <a:lstStyle/>
          <a:p>
            <a:r>
              <a:rPr lang="en-US" b="1" dirty="0"/>
              <a:t>Statistics</a:t>
            </a:r>
            <a:r>
              <a:rPr lang="en-US" dirty="0"/>
              <a:t> </a:t>
            </a:r>
            <a:r>
              <a:rPr lang="en-US" sz="1600" dirty="0"/>
              <a:t>is the branch of mathematics that helps us spot trends and patterns in the bulk of numerical data. Statistical techniques can be categorized as Descriptive Statistics and Inferential Statistics</a:t>
            </a:r>
            <a:endParaRPr lang="en-US" dirty="0"/>
          </a:p>
        </p:txBody>
      </p:sp>
      <p:sp>
        <p:nvSpPr>
          <p:cNvPr id="9" name="Flowchart: Alternate Process 8"/>
          <p:cNvSpPr/>
          <p:nvPr/>
        </p:nvSpPr>
        <p:spPr>
          <a:xfrm>
            <a:off x="4924425" y="1373845"/>
            <a:ext cx="2314575" cy="314325"/>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Statistics</a:t>
            </a:r>
          </a:p>
        </p:txBody>
      </p:sp>
      <p:sp>
        <p:nvSpPr>
          <p:cNvPr id="10" name="Flowchart: Alternate Process 9"/>
          <p:cNvSpPr/>
          <p:nvPr/>
        </p:nvSpPr>
        <p:spPr>
          <a:xfrm>
            <a:off x="4214812" y="3574744"/>
            <a:ext cx="1719263" cy="863906"/>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Frequency </a:t>
            </a:r>
          </a:p>
          <a:p>
            <a:pPr algn="ctr"/>
            <a:r>
              <a:rPr lang="en-US" sz="1600" b="1" dirty="0"/>
              <a:t>distribution</a:t>
            </a:r>
          </a:p>
        </p:txBody>
      </p:sp>
      <p:sp>
        <p:nvSpPr>
          <p:cNvPr id="11" name="Flowchart: Alternate Process 10"/>
          <p:cNvSpPr/>
          <p:nvPr/>
        </p:nvSpPr>
        <p:spPr>
          <a:xfrm>
            <a:off x="2109787" y="3594501"/>
            <a:ext cx="1843088" cy="851173"/>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Measures of variability</a:t>
            </a:r>
          </a:p>
        </p:txBody>
      </p:sp>
      <p:sp>
        <p:nvSpPr>
          <p:cNvPr id="12" name="Flowchart: Alternate Process 11"/>
          <p:cNvSpPr/>
          <p:nvPr/>
        </p:nvSpPr>
        <p:spPr>
          <a:xfrm>
            <a:off x="6443709" y="3574743"/>
            <a:ext cx="1795319" cy="863907"/>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Hypothesis testing</a:t>
            </a:r>
            <a:r>
              <a:rPr lang="en-US" sz="1600" dirty="0"/>
              <a:t> </a:t>
            </a:r>
          </a:p>
        </p:txBody>
      </p:sp>
      <p:sp>
        <p:nvSpPr>
          <p:cNvPr id="13" name="Flowchart: Alternate Process 12"/>
          <p:cNvSpPr/>
          <p:nvPr/>
        </p:nvSpPr>
        <p:spPr>
          <a:xfrm>
            <a:off x="238125" y="3588424"/>
            <a:ext cx="1381079" cy="850226"/>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rPr>
              <a:t> Measures of central tendency </a:t>
            </a:r>
          </a:p>
        </p:txBody>
      </p:sp>
      <p:sp>
        <p:nvSpPr>
          <p:cNvPr id="14" name="Flowchart: Alternate Process 13"/>
          <p:cNvSpPr/>
          <p:nvPr/>
        </p:nvSpPr>
        <p:spPr>
          <a:xfrm>
            <a:off x="7862789" y="2168332"/>
            <a:ext cx="2805211" cy="314325"/>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Inferential Statistics</a:t>
            </a:r>
          </a:p>
        </p:txBody>
      </p:sp>
      <p:sp>
        <p:nvSpPr>
          <p:cNvPr id="15" name="Flowchart: Alternate Process 14"/>
          <p:cNvSpPr/>
          <p:nvPr/>
        </p:nvSpPr>
        <p:spPr>
          <a:xfrm>
            <a:off x="1495425" y="2149283"/>
            <a:ext cx="3071812" cy="333374"/>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Descriptive Statistics</a:t>
            </a:r>
          </a:p>
        </p:txBody>
      </p:sp>
      <p:sp>
        <p:nvSpPr>
          <p:cNvPr id="16" name="Flowchart: Alternate Process 15"/>
          <p:cNvSpPr/>
          <p:nvPr/>
        </p:nvSpPr>
        <p:spPr>
          <a:xfrm>
            <a:off x="8382046" y="3574743"/>
            <a:ext cx="1795319" cy="863907"/>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Regression and correlation analysis</a:t>
            </a:r>
            <a:endParaRPr lang="en-US" sz="1600" dirty="0"/>
          </a:p>
        </p:txBody>
      </p:sp>
      <p:sp>
        <p:nvSpPr>
          <p:cNvPr id="17" name="Flowchart: Alternate Process 16"/>
          <p:cNvSpPr/>
          <p:nvPr/>
        </p:nvSpPr>
        <p:spPr>
          <a:xfrm>
            <a:off x="10320384" y="3574743"/>
            <a:ext cx="1795319" cy="863907"/>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Confidence Intervals</a:t>
            </a:r>
            <a:endParaRPr lang="en-US" sz="1600" dirty="0"/>
          </a:p>
        </p:txBody>
      </p:sp>
      <p:sp>
        <p:nvSpPr>
          <p:cNvPr id="19" name="Rectangular Callout 18"/>
          <p:cNvSpPr/>
          <p:nvPr/>
        </p:nvSpPr>
        <p:spPr>
          <a:xfrm>
            <a:off x="238125" y="1531797"/>
            <a:ext cx="1257300" cy="530536"/>
          </a:xfrm>
          <a:prstGeom prst="wedgeRectCallout">
            <a:avLst>
              <a:gd name="adj1" fmla="val 68088"/>
              <a:gd name="adj2" fmla="val 5711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Describe and summarize data;</a:t>
            </a:r>
          </a:p>
          <a:p>
            <a:pPr algn="ctr"/>
            <a:r>
              <a:rPr lang="en-US" sz="1050" dirty="0"/>
              <a:t>Stating facts</a:t>
            </a:r>
          </a:p>
        </p:txBody>
      </p:sp>
      <p:sp>
        <p:nvSpPr>
          <p:cNvPr id="20" name="Rectangular Callout 19"/>
          <p:cNvSpPr/>
          <p:nvPr/>
        </p:nvSpPr>
        <p:spPr>
          <a:xfrm>
            <a:off x="10177364" y="1373845"/>
            <a:ext cx="1405035" cy="504686"/>
          </a:xfrm>
          <a:prstGeom prst="wedgeRectCallout">
            <a:avLst>
              <a:gd name="adj1" fmla="val -50130"/>
              <a:gd name="adj2" fmla="val 10658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To predict about a large data based on sample</a:t>
            </a:r>
          </a:p>
        </p:txBody>
      </p:sp>
      <p:sp>
        <p:nvSpPr>
          <p:cNvPr id="21" name="TextBox 20"/>
          <p:cNvSpPr txBox="1"/>
          <p:nvPr/>
        </p:nvSpPr>
        <p:spPr>
          <a:xfrm>
            <a:off x="498898" y="4581525"/>
            <a:ext cx="859531" cy="646331"/>
          </a:xfrm>
          <a:prstGeom prst="rect">
            <a:avLst/>
          </a:prstGeom>
          <a:noFill/>
        </p:spPr>
        <p:txBody>
          <a:bodyPr wrap="none" rtlCol="0">
            <a:spAutoFit/>
          </a:bodyPr>
          <a:lstStyle/>
          <a:p>
            <a:pPr marL="171450" indent="-171450">
              <a:buFont typeface="Arial" panose="020B0604020202020204" pitchFamily="34" charset="0"/>
              <a:buChar char="•"/>
            </a:pPr>
            <a:r>
              <a:rPr lang="en-US" sz="1200" dirty="0"/>
              <a:t>Mean</a:t>
            </a:r>
          </a:p>
          <a:p>
            <a:pPr marL="171450" indent="-171450">
              <a:buFont typeface="Arial" panose="020B0604020202020204" pitchFamily="34" charset="0"/>
              <a:buChar char="•"/>
            </a:pPr>
            <a:r>
              <a:rPr lang="en-US" sz="1200" dirty="0"/>
              <a:t>Median</a:t>
            </a:r>
          </a:p>
          <a:p>
            <a:pPr marL="171450" indent="-171450">
              <a:buFont typeface="Arial" panose="020B0604020202020204" pitchFamily="34" charset="0"/>
              <a:buChar char="•"/>
            </a:pPr>
            <a:r>
              <a:rPr lang="en-US" sz="1200" dirty="0"/>
              <a:t>Mode</a:t>
            </a:r>
          </a:p>
        </p:txBody>
      </p:sp>
      <p:sp>
        <p:nvSpPr>
          <p:cNvPr id="22" name="TextBox 21"/>
          <p:cNvSpPr txBox="1"/>
          <p:nvPr/>
        </p:nvSpPr>
        <p:spPr>
          <a:xfrm>
            <a:off x="2398207" y="4533820"/>
            <a:ext cx="1056700" cy="1384995"/>
          </a:xfrm>
          <a:prstGeom prst="rect">
            <a:avLst/>
          </a:prstGeom>
          <a:noFill/>
        </p:spPr>
        <p:txBody>
          <a:bodyPr wrap="none" rtlCol="0">
            <a:spAutoFit/>
          </a:bodyPr>
          <a:lstStyle>
            <a:defPPr>
              <a:defRPr lang="en-US"/>
            </a:defPPr>
            <a:lvl1pPr marL="171450" indent="-171450">
              <a:buFont typeface="Arial" panose="020B0604020202020204" pitchFamily="34" charset="0"/>
              <a:buChar char="•"/>
              <a:defRPr sz="1200"/>
            </a:lvl1pPr>
          </a:lstStyle>
          <a:p>
            <a:r>
              <a:rPr lang="en-US" dirty="0"/>
              <a:t>Range</a:t>
            </a:r>
          </a:p>
          <a:p>
            <a:r>
              <a:rPr lang="en-US" dirty="0"/>
              <a:t>Variance</a:t>
            </a:r>
          </a:p>
          <a:p>
            <a:r>
              <a:rPr lang="en-US" dirty="0" err="1"/>
              <a:t>Std</a:t>
            </a:r>
            <a:r>
              <a:rPr lang="en-US" dirty="0"/>
              <a:t> Dev</a:t>
            </a:r>
          </a:p>
          <a:p>
            <a:r>
              <a:rPr lang="en-US" dirty="0"/>
              <a:t>Skewness</a:t>
            </a:r>
          </a:p>
          <a:p>
            <a:r>
              <a:rPr lang="en-US" dirty="0"/>
              <a:t>Kurtosis</a:t>
            </a:r>
          </a:p>
          <a:p>
            <a:r>
              <a:rPr lang="en-US" dirty="0"/>
              <a:t>IQR</a:t>
            </a:r>
          </a:p>
          <a:p>
            <a:r>
              <a:rPr lang="en-US" dirty="0"/>
              <a:t>MAD</a:t>
            </a:r>
          </a:p>
        </p:txBody>
      </p:sp>
      <p:sp>
        <p:nvSpPr>
          <p:cNvPr id="23" name="TextBox 22"/>
          <p:cNvSpPr txBox="1"/>
          <p:nvPr/>
        </p:nvSpPr>
        <p:spPr>
          <a:xfrm>
            <a:off x="4352828" y="4533820"/>
            <a:ext cx="2448106" cy="1015663"/>
          </a:xfrm>
          <a:prstGeom prst="rect">
            <a:avLst/>
          </a:prstGeom>
          <a:noFill/>
        </p:spPr>
        <p:txBody>
          <a:bodyPr wrap="none" rtlCol="0">
            <a:spAutoFit/>
          </a:bodyPr>
          <a:lstStyle>
            <a:defPPr>
              <a:defRPr lang="en-US"/>
            </a:defPPr>
            <a:lvl1pPr marL="171450" indent="-171450">
              <a:buFont typeface="Arial" panose="020B0604020202020204" pitchFamily="34" charset="0"/>
              <a:buChar char="•"/>
              <a:defRPr sz="1200"/>
            </a:lvl1pPr>
          </a:lstStyle>
          <a:p>
            <a:r>
              <a:rPr lang="en-US" dirty="0"/>
              <a:t>Histogram</a:t>
            </a:r>
          </a:p>
          <a:p>
            <a:r>
              <a:rPr lang="en-US" dirty="0"/>
              <a:t>Bar chart</a:t>
            </a:r>
          </a:p>
          <a:p>
            <a:r>
              <a:rPr lang="en-US" dirty="0"/>
              <a:t>Line chart</a:t>
            </a:r>
          </a:p>
          <a:p>
            <a:r>
              <a:rPr lang="en-US" dirty="0"/>
              <a:t>Pie chart</a:t>
            </a:r>
          </a:p>
          <a:p>
            <a:r>
              <a:rPr lang="en-US" dirty="0" err="1"/>
              <a:t>Freq</a:t>
            </a:r>
            <a:r>
              <a:rPr lang="en-US" dirty="0"/>
              <a:t> table of count/percentage</a:t>
            </a:r>
          </a:p>
        </p:txBody>
      </p:sp>
      <p:cxnSp>
        <p:nvCxnSpPr>
          <p:cNvPr id="25" name="Straight Arrow Connector 24"/>
          <p:cNvCxnSpPr>
            <a:stCxn id="9" idx="2"/>
          </p:cNvCxnSpPr>
          <p:nvPr/>
        </p:nvCxnSpPr>
        <p:spPr>
          <a:xfrm flipH="1">
            <a:off x="6081712" y="1688170"/>
            <a:ext cx="1" cy="62780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9" name="Straight Arrow Connector 28"/>
          <p:cNvCxnSpPr>
            <a:stCxn id="15" idx="2"/>
          </p:cNvCxnSpPr>
          <p:nvPr/>
        </p:nvCxnSpPr>
        <p:spPr>
          <a:xfrm>
            <a:off x="3031331" y="2482657"/>
            <a:ext cx="0" cy="55647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5" name="Straight Arrow Connector 34"/>
          <p:cNvCxnSpPr>
            <a:stCxn id="15" idx="3"/>
            <a:endCxn id="14" idx="1"/>
          </p:cNvCxnSpPr>
          <p:nvPr/>
        </p:nvCxnSpPr>
        <p:spPr>
          <a:xfrm>
            <a:off x="4567237" y="2315970"/>
            <a:ext cx="3295552" cy="9525"/>
          </a:xfrm>
          <a:prstGeom prst="straightConnector1">
            <a:avLst/>
          </a:prstGeom>
          <a:ln>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38" name="Straight Connector 37"/>
          <p:cNvCxnSpPr/>
          <p:nvPr/>
        </p:nvCxnSpPr>
        <p:spPr>
          <a:xfrm>
            <a:off x="928663" y="3011192"/>
            <a:ext cx="4145780" cy="27941"/>
          </a:xfrm>
          <a:prstGeom prst="line">
            <a:avLst/>
          </a:prstGeom>
        </p:spPr>
        <p:style>
          <a:lnRef idx="3">
            <a:schemeClr val="accent1"/>
          </a:lnRef>
          <a:fillRef idx="0">
            <a:schemeClr val="accent1"/>
          </a:fillRef>
          <a:effectRef idx="2">
            <a:schemeClr val="accent1"/>
          </a:effectRef>
          <a:fontRef idx="minor">
            <a:schemeClr val="tx1"/>
          </a:fontRef>
        </p:style>
      </p:cxnSp>
      <p:cxnSp>
        <p:nvCxnSpPr>
          <p:cNvPr id="43" name="Straight Arrow Connector 42"/>
          <p:cNvCxnSpPr>
            <a:endCxn id="11" idx="0"/>
          </p:cNvCxnSpPr>
          <p:nvPr/>
        </p:nvCxnSpPr>
        <p:spPr>
          <a:xfrm>
            <a:off x="3031331" y="3039133"/>
            <a:ext cx="0" cy="55536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4" name="Straight Arrow Connector 43"/>
          <p:cNvCxnSpPr>
            <a:endCxn id="13" idx="0"/>
          </p:cNvCxnSpPr>
          <p:nvPr/>
        </p:nvCxnSpPr>
        <p:spPr>
          <a:xfrm flipH="1">
            <a:off x="928665" y="3033799"/>
            <a:ext cx="17270" cy="55462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9" name="Straight Arrow Connector 48"/>
          <p:cNvCxnSpPr>
            <a:endCxn id="10" idx="0"/>
          </p:cNvCxnSpPr>
          <p:nvPr/>
        </p:nvCxnSpPr>
        <p:spPr>
          <a:xfrm>
            <a:off x="5074443" y="3039133"/>
            <a:ext cx="1" cy="53561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63" name="Straight Arrow Connector 62"/>
          <p:cNvCxnSpPr>
            <a:stCxn id="14" idx="2"/>
          </p:cNvCxnSpPr>
          <p:nvPr/>
        </p:nvCxnSpPr>
        <p:spPr>
          <a:xfrm flipH="1">
            <a:off x="9261991" y="2482657"/>
            <a:ext cx="3404" cy="50877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64" name="Straight Connector 63"/>
          <p:cNvCxnSpPr/>
          <p:nvPr/>
        </p:nvCxnSpPr>
        <p:spPr>
          <a:xfrm>
            <a:off x="7341368" y="2991432"/>
            <a:ext cx="3876675" cy="3775"/>
          </a:xfrm>
          <a:prstGeom prst="line">
            <a:avLst/>
          </a:prstGeom>
        </p:spPr>
        <p:style>
          <a:lnRef idx="3">
            <a:schemeClr val="accent1"/>
          </a:lnRef>
          <a:fillRef idx="0">
            <a:schemeClr val="accent1"/>
          </a:fillRef>
          <a:effectRef idx="2">
            <a:schemeClr val="accent1"/>
          </a:effectRef>
          <a:fontRef idx="minor">
            <a:schemeClr val="tx1"/>
          </a:fontRef>
        </p:style>
      </p:cxnSp>
      <p:cxnSp>
        <p:nvCxnSpPr>
          <p:cNvPr id="65" name="Straight Arrow Connector 64"/>
          <p:cNvCxnSpPr>
            <a:endCxn id="16" idx="0"/>
          </p:cNvCxnSpPr>
          <p:nvPr/>
        </p:nvCxnSpPr>
        <p:spPr>
          <a:xfrm>
            <a:off x="9261990" y="2991432"/>
            <a:ext cx="17716" cy="58331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66" name="Straight Arrow Connector 65"/>
          <p:cNvCxnSpPr>
            <a:endCxn id="12" idx="0"/>
          </p:cNvCxnSpPr>
          <p:nvPr/>
        </p:nvCxnSpPr>
        <p:spPr>
          <a:xfrm>
            <a:off x="7341369" y="2991432"/>
            <a:ext cx="0" cy="58331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67" name="Straight Arrow Connector 66"/>
          <p:cNvCxnSpPr>
            <a:endCxn id="17" idx="0"/>
          </p:cNvCxnSpPr>
          <p:nvPr/>
        </p:nvCxnSpPr>
        <p:spPr>
          <a:xfrm>
            <a:off x="11218043" y="2991432"/>
            <a:ext cx="1" cy="58331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62000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71784" y="2499708"/>
            <a:ext cx="10980835" cy="553998"/>
          </a:xfrm>
        </p:spPr>
        <p:txBody>
          <a:bodyPr/>
          <a:lstStyle/>
          <a:p>
            <a:pPr marL="0" indent="0" algn="ctr">
              <a:buNone/>
            </a:pPr>
            <a:r>
              <a:rPr lang="en-US" sz="3600" b="1" dirty="0">
                <a:solidFill>
                  <a:schemeClr val="tx1"/>
                </a:solidFill>
              </a:rPr>
              <a:t>DESCRIPTIVE STATISTICS</a:t>
            </a:r>
          </a:p>
        </p:txBody>
      </p:sp>
      <p:sp>
        <p:nvSpPr>
          <p:cNvPr id="41" name="Title 1"/>
          <p:cNvSpPr>
            <a:spLocks noGrp="1"/>
          </p:cNvSpPr>
          <p:nvPr>
            <p:ph type="title"/>
          </p:nvPr>
        </p:nvSpPr>
        <p:spPr/>
        <p:txBody>
          <a:bodyPr/>
          <a:lstStyle/>
          <a:p>
            <a:pPr>
              <a:spcBef>
                <a:spcPct val="50000"/>
              </a:spcBef>
            </a:pPr>
            <a:r>
              <a:rPr lang="en-US" b="1" kern="1200" dirty="0">
                <a:solidFill>
                  <a:schemeClr val="bg1"/>
                </a:solidFill>
              </a:rPr>
              <a:t>Health Index Creation</a:t>
            </a:r>
          </a:p>
        </p:txBody>
      </p:sp>
    </p:spTree>
    <p:extLst>
      <p:ext uri="{BB962C8B-B14F-4D97-AF65-F5344CB8AC3E}">
        <p14:creationId xmlns:p14="http://schemas.microsoft.com/office/powerpoint/2010/main" val="3659522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p:cNvGrpSpPr/>
          <p:nvPr/>
        </p:nvGrpSpPr>
        <p:grpSpPr>
          <a:xfrm>
            <a:off x="800101" y="600848"/>
            <a:ext cx="10016091" cy="4240551"/>
            <a:chOff x="819151" y="800873"/>
            <a:chExt cx="10016091" cy="4240551"/>
          </a:xfrm>
        </p:grpSpPr>
        <p:pic>
          <p:nvPicPr>
            <p:cNvPr id="1026" name="Picture 2" descr="Categorical Variables: Nominal or Ordinal; Definition, Exampl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9151" y="800873"/>
              <a:ext cx="10016091" cy="377888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8496185" y="4519265"/>
              <a:ext cx="2143240" cy="276999"/>
            </a:xfrm>
            <a:prstGeom prst="rect">
              <a:avLst/>
            </a:prstGeom>
            <a:noFill/>
          </p:spPr>
          <p:txBody>
            <a:bodyPr wrap="square" rtlCol="0">
              <a:spAutoFit/>
            </a:bodyPr>
            <a:lstStyle/>
            <a:p>
              <a:r>
                <a:rPr lang="en-US" sz="1200" b="1" dirty="0"/>
                <a:t>Gender</a:t>
              </a:r>
              <a:r>
                <a:rPr lang="en-US" sz="1200" dirty="0"/>
                <a:t>: Male, Female</a:t>
              </a:r>
            </a:p>
          </p:txBody>
        </p:sp>
        <p:sp>
          <p:nvSpPr>
            <p:cNvPr id="8" name="TextBox 7"/>
            <p:cNvSpPr txBox="1"/>
            <p:nvPr/>
          </p:nvSpPr>
          <p:spPr>
            <a:xfrm>
              <a:off x="6252373" y="4579759"/>
              <a:ext cx="1986655" cy="461665"/>
            </a:xfrm>
            <a:prstGeom prst="rect">
              <a:avLst/>
            </a:prstGeom>
            <a:noFill/>
          </p:spPr>
          <p:txBody>
            <a:bodyPr wrap="square" rtlCol="0">
              <a:spAutoFit/>
            </a:bodyPr>
            <a:lstStyle/>
            <a:p>
              <a:r>
                <a:rPr lang="en-US" sz="1200" b="1" dirty="0"/>
                <a:t>Feedback</a:t>
              </a:r>
              <a:r>
                <a:rPr lang="en-US" sz="1200" dirty="0"/>
                <a:t>: very bad, bad, average, good, very good</a:t>
              </a:r>
            </a:p>
          </p:txBody>
        </p:sp>
        <p:sp>
          <p:nvSpPr>
            <p:cNvPr id="9" name="TextBox 8"/>
            <p:cNvSpPr txBox="1"/>
            <p:nvPr/>
          </p:nvSpPr>
          <p:spPr>
            <a:xfrm>
              <a:off x="3690033" y="4540084"/>
              <a:ext cx="2467090" cy="480729"/>
            </a:xfrm>
            <a:prstGeom prst="rect">
              <a:avLst/>
            </a:prstGeom>
            <a:noFill/>
          </p:spPr>
          <p:txBody>
            <a:bodyPr wrap="square" rtlCol="0">
              <a:spAutoFit/>
            </a:bodyPr>
            <a:lstStyle/>
            <a:p>
              <a:r>
                <a:rPr lang="en-US" sz="1200" b="1" dirty="0"/>
                <a:t># of children</a:t>
              </a:r>
              <a:r>
                <a:rPr lang="en-US" sz="1200" dirty="0"/>
                <a:t>: 0, 1, 2, 3, 4, 5</a:t>
              </a:r>
            </a:p>
          </p:txBody>
        </p:sp>
        <p:sp>
          <p:nvSpPr>
            <p:cNvPr id="10" name="TextBox 9"/>
            <p:cNvSpPr txBox="1"/>
            <p:nvPr/>
          </p:nvSpPr>
          <p:spPr>
            <a:xfrm>
              <a:off x="922562" y="4526146"/>
              <a:ext cx="2767472" cy="480729"/>
            </a:xfrm>
            <a:prstGeom prst="rect">
              <a:avLst/>
            </a:prstGeom>
            <a:noFill/>
          </p:spPr>
          <p:txBody>
            <a:bodyPr wrap="square" rtlCol="0">
              <a:spAutoFit/>
            </a:bodyPr>
            <a:lstStyle/>
            <a:p>
              <a:r>
                <a:rPr lang="en-US" sz="1200" b="1" dirty="0"/>
                <a:t>Weight </a:t>
              </a:r>
              <a:r>
                <a:rPr lang="en-US" sz="1200" dirty="0"/>
                <a:t>: 40, 52.5, 63.2, 74.1, 95.7</a:t>
              </a:r>
            </a:p>
          </p:txBody>
        </p:sp>
      </p:grpSp>
      <p:sp>
        <p:nvSpPr>
          <p:cNvPr id="12" name="Text Placeholder 2"/>
          <p:cNvSpPr>
            <a:spLocks noGrp="1"/>
          </p:cNvSpPr>
          <p:nvPr>
            <p:ph type="body" sz="quarter" idx="13"/>
          </p:nvPr>
        </p:nvSpPr>
        <p:spPr>
          <a:xfrm>
            <a:off x="466628" y="131145"/>
            <a:ext cx="7772400" cy="307777"/>
          </a:xfrm>
        </p:spPr>
        <p:txBody>
          <a:bodyPr/>
          <a:lstStyle/>
          <a:p>
            <a:r>
              <a:rPr lang="en-US" sz="2000" b="1" dirty="0"/>
              <a:t>Types of Variables</a:t>
            </a:r>
          </a:p>
        </p:txBody>
      </p:sp>
      <p:sp>
        <p:nvSpPr>
          <p:cNvPr id="14" name="TextBox 13"/>
          <p:cNvSpPr txBox="1"/>
          <p:nvPr/>
        </p:nvSpPr>
        <p:spPr>
          <a:xfrm>
            <a:off x="527822" y="4806850"/>
            <a:ext cx="10968853" cy="1661993"/>
          </a:xfrm>
          <a:prstGeom prst="rect">
            <a:avLst/>
          </a:prstGeom>
          <a:noFill/>
        </p:spPr>
        <p:txBody>
          <a:bodyPr wrap="square" rtlCol="0">
            <a:spAutoFit/>
          </a:bodyPr>
          <a:lstStyle/>
          <a:p>
            <a:r>
              <a:rPr lang="en-US" b="1" dirty="0"/>
              <a:t>Types of Data</a:t>
            </a:r>
          </a:p>
          <a:p>
            <a:r>
              <a:rPr lang="en-US" b="1" dirty="0"/>
              <a:t>Structured Data</a:t>
            </a:r>
            <a:r>
              <a:rPr lang="en-US" dirty="0"/>
              <a:t>: </a:t>
            </a:r>
            <a:r>
              <a:rPr lang="en-US" sz="1400" dirty="0"/>
              <a:t>Data that is organized and fits tidily into spreadsheets and relational databases</a:t>
            </a:r>
          </a:p>
          <a:p>
            <a:r>
              <a:rPr lang="en-US" sz="1400" b="1" dirty="0"/>
              <a:t>Ex</a:t>
            </a:r>
            <a:r>
              <a:rPr lang="en-US" sz="1400" dirty="0"/>
              <a:t>: Numeric data</a:t>
            </a:r>
          </a:p>
          <a:p>
            <a:r>
              <a:rPr lang="en-US" b="1" dirty="0"/>
              <a:t>Unstructured Data</a:t>
            </a:r>
            <a:r>
              <a:rPr lang="en-US" dirty="0"/>
              <a:t>: </a:t>
            </a:r>
            <a:r>
              <a:rPr lang="en-US" sz="1400" dirty="0"/>
              <a:t>Data that is either does not have a pre-defined schema and therefore cannot be stored in a traditional relational database or RDBMS</a:t>
            </a:r>
          </a:p>
          <a:p>
            <a:r>
              <a:rPr lang="en-US" sz="1400" b="1" dirty="0"/>
              <a:t>Ex</a:t>
            </a:r>
            <a:r>
              <a:rPr lang="en-US" sz="1400" dirty="0"/>
              <a:t>:  email messages, videos, photos, webpages, and audio files</a:t>
            </a:r>
            <a:r>
              <a:rPr lang="en-US" dirty="0"/>
              <a:t>.</a:t>
            </a:r>
          </a:p>
        </p:txBody>
      </p:sp>
    </p:spTree>
    <p:extLst>
      <p:ext uri="{BB962C8B-B14F-4D97-AF65-F5344CB8AC3E}">
        <p14:creationId xmlns:p14="http://schemas.microsoft.com/office/powerpoint/2010/main" val="2181394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Sampling Methods | Types, Techniques &amp; Examples"/>
          <p:cNvPicPr>
            <a:picLocks noChangeAspect="1" noChangeArrowheads="1"/>
          </p:cNvPicPr>
          <p:nvPr/>
        </p:nvPicPr>
        <p:blipFill rotWithShape="1">
          <a:blip r:embed="rId3">
            <a:extLst>
              <a:ext uri="{28A0092B-C50C-407E-A947-70E740481C1C}">
                <a14:useLocalDpi xmlns:a14="http://schemas.microsoft.com/office/drawing/2010/main" val="0"/>
              </a:ext>
            </a:extLst>
          </a:blip>
          <a:srcRect l="6683" b="14063"/>
          <a:stretch/>
        </p:blipFill>
        <p:spPr bwMode="auto">
          <a:xfrm>
            <a:off x="5534025" y="1006228"/>
            <a:ext cx="5870575" cy="499452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tatistics for Rookies: Learn Data-Driven Decision-Making the Fun Way -  DZone Big Data"/>
          <p:cNvPicPr>
            <a:picLocks noChangeAspect="1" noChangeArrowheads="1"/>
          </p:cNvPicPr>
          <p:nvPr/>
        </p:nvPicPr>
        <p:blipFill rotWithShape="1">
          <a:blip r:embed="rId4">
            <a:extLst>
              <a:ext uri="{28A0092B-C50C-407E-A947-70E740481C1C}">
                <a14:useLocalDpi xmlns:a14="http://schemas.microsoft.com/office/drawing/2010/main" val="0"/>
              </a:ext>
            </a:extLst>
          </a:blip>
          <a:srcRect l="-1" r="50856" b="6973"/>
          <a:stretch/>
        </p:blipFill>
        <p:spPr bwMode="auto">
          <a:xfrm>
            <a:off x="466628" y="1019538"/>
            <a:ext cx="4276822" cy="4981212"/>
          </a:xfrm>
          <a:prstGeom prst="rect">
            <a:avLst/>
          </a:prstGeom>
          <a:noFill/>
          <a:extLst>
            <a:ext uri="{909E8E84-426E-40DD-AFC4-6F175D3DCCD1}">
              <a14:hiddenFill xmlns:a14="http://schemas.microsoft.com/office/drawing/2010/main">
                <a:solidFill>
                  <a:srgbClr val="FFFFFF"/>
                </a:solidFill>
              </a14:hiddenFill>
            </a:ext>
          </a:extLst>
        </p:spPr>
      </p:pic>
      <p:sp>
        <p:nvSpPr>
          <p:cNvPr id="4" name="Text Placeholder 2"/>
          <p:cNvSpPr>
            <a:spLocks noGrp="1"/>
          </p:cNvSpPr>
          <p:nvPr>
            <p:ph type="body" sz="quarter" idx="13"/>
          </p:nvPr>
        </p:nvSpPr>
        <p:spPr>
          <a:xfrm>
            <a:off x="466628" y="131145"/>
            <a:ext cx="7772400" cy="307777"/>
          </a:xfrm>
        </p:spPr>
        <p:txBody>
          <a:bodyPr/>
          <a:lstStyle/>
          <a:p>
            <a:r>
              <a:rPr lang="en-US" sz="2000" b="1" dirty="0"/>
              <a:t>Sampling Methods</a:t>
            </a:r>
          </a:p>
        </p:txBody>
      </p:sp>
      <p:sp>
        <p:nvSpPr>
          <p:cNvPr id="2" name="Rectangle 1"/>
          <p:cNvSpPr/>
          <p:nvPr/>
        </p:nvSpPr>
        <p:spPr>
          <a:xfrm>
            <a:off x="316144" y="544564"/>
            <a:ext cx="11609155" cy="369332"/>
          </a:xfrm>
          <a:prstGeom prst="rect">
            <a:avLst/>
          </a:prstGeom>
        </p:spPr>
        <p:txBody>
          <a:bodyPr wrap="square">
            <a:spAutoFit/>
          </a:bodyPr>
          <a:lstStyle/>
          <a:p>
            <a:r>
              <a:rPr lang="en-US" b="1" dirty="0">
                <a:solidFill>
                  <a:srgbClr val="4D5156"/>
                </a:solidFill>
                <a:latin typeface="arial" panose="020B0604020202020204" pitchFamily="34" charset="0"/>
              </a:rPr>
              <a:t>Sampling</a:t>
            </a:r>
            <a:r>
              <a:rPr lang="en-US" dirty="0">
                <a:solidFill>
                  <a:srgbClr val="4D5156"/>
                </a:solidFill>
                <a:latin typeface="arial" panose="020B0604020202020204" pitchFamily="34" charset="0"/>
              </a:rPr>
              <a:t> is </a:t>
            </a:r>
            <a:r>
              <a:rPr lang="en-US" dirty="0">
                <a:solidFill>
                  <a:srgbClr val="5F6368"/>
                </a:solidFill>
                <a:latin typeface="arial" panose="020B0604020202020204" pitchFamily="34" charset="0"/>
              </a:rPr>
              <a:t>a process of selecting a predetermined number of observations from a larger population</a:t>
            </a:r>
            <a:endParaRPr lang="en-US" dirty="0"/>
          </a:p>
        </p:txBody>
      </p:sp>
    </p:spTree>
    <p:extLst>
      <p:ext uri="{BB962C8B-B14F-4D97-AF65-F5344CB8AC3E}">
        <p14:creationId xmlns:p14="http://schemas.microsoft.com/office/powerpoint/2010/main" val="1379259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817672" y="1119784"/>
            <a:ext cx="10296525" cy="876300"/>
          </a:xfrm>
          <a:prstGeom prst="rect">
            <a:avLst/>
          </a:prstGeom>
        </p:spPr>
      </p:pic>
      <p:sp>
        <p:nvSpPr>
          <p:cNvPr id="10" name="Text Placeholder 2"/>
          <p:cNvSpPr>
            <a:spLocks noGrp="1"/>
          </p:cNvSpPr>
          <p:nvPr>
            <p:ph type="body" sz="quarter" idx="13"/>
          </p:nvPr>
        </p:nvSpPr>
        <p:spPr>
          <a:xfrm>
            <a:off x="466628" y="131145"/>
            <a:ext cx="7772400" cy="307777"/>
          </a:xfrm>
        </p:spPr>
        <p:txBody>
          <a:bodyPr/>
          <a:lstStyle/>
          <a:p>
            <a:r>
              <a:rPr lang="en-US" sz="2000" b="1" dirty="0"/>
              <a:t>Measures of Central Tendency : Mean </a:t>
            </a:r>
          </a:p>
        </p:txBody>
      </p:sp>
      <p:sp>
        <p:nvSpPr>
          <p:cNvPr id="2" name="TextBox 1"/>
          <p:cNvSpPr txBox="1"/>
          <p:nvPr/>
        </p:nvSpPr>
        <p:spPr>
          <a:xfrm>
            <a:off x="2047875" y="1953311"/>
            <a:ext cx="4047903" cy="276999"/>
          </a:xfrm>
          <a:prstGeom prst="rect">
            <a:avLst/>
          </a:prstGeom>
          <a:noFill/>
        </p:spPr>
        <p:txBody>
          <a:bodyPr wrap="none" rtlCol="0">
            <a:spAutoFit/>
          </a:bodyPr>
          <a:lstStyle/>
          <a:p>
            <a:pPr marL="285750" indent="-285750">
              <a:buFont typeface="Arial" panose="020B0604020202020204" pitchFamily="34" charset="0"/>
              <a:buChar char="•"/>
            </a:pPr>
            <a:r>
              <a:rPr lang="en-US" sz="1200" dirty="0"/>
              <a:t>Sensitive to extreme values so Influenced by outliers</a:t>
            </a:r>
          </a:p>
        </p:txBody>
      </p:sp>
      <p:sp>
        <p:nvSpPr>
          <p:cNvPr id="3" name="Rectangle 2"/>
          <p:cNvSpPr/>
          <p:nvPr/>
        </p:nvSpPr>
        <p:spPr>
          <a:xfrm>
            <a:off x="609600" y="594687"/>
            <a:ext cx="8839200" cy="369332"/>
          </a:xfrm>
          <a:prstGeom prst="rect">
            <a:avLst/>
          </a:prstGeom>
        </p:spPr>
        <p:txBody>
          <a:bodyPr wrap="square">
            <a:spAutoFit/>
          </a:bodyPr>
          <a:lstStyle/>
          <a:p>
            <a:r>
              <a:rPr lang="en-US" dirty="0">
                <a:solidFill>
                  <a:srgbClr val="333333"/>
                </a:solidFill>
                <a:latin typeface="-apple-system"/>
              </a:rPr>
              <a:t>Talks about which values are “in the middle” or “popular” in the data</a:t>
            </a:r>
            <a:endParaRPr lang="en-US" dirty="0"/>
          </a:p>
        </p:txBody>
      </p:sp>
      <p:sp>
        <p:nvSpPr>
          <p:cNvPr id="5" name="TextBox 4"/>
          <p:cNvSpPr txBox="1"/>
          <p:nvPr/>
        </p:nvSpPr>
        <p:spPr>
          <a:xfrm>
            <a:off x="837287" y="2644945"/>
            <a:ext cx="7661072" cy="2862322"/>
          </a:xfrm>
          <a:prstGeom prst="rect">
            <a:avLst/>
          </a:prstGeom>
          <a:noFill/>
        </p:spPr>
        <p:txBody>
          <a:bodyPr wrap="none" rtlCol="0">
            <a:spAutoFit/>
          </a:bodyPr>
          <a:lstStyle/>
          <a:p>
            <a:r>
              <a:rPr lang="en-US" dirty="0"/>
              <a:t>Example: sales of a product in a  week 20, 25, 25, 30, 35, 40, 42</a:t>
            </a:r>
          </a:p>
          <a:p>
            <a:endParaRPr lang="en-US" dirty="0"/>
          </a:p>
          <a:p>
            <a:r>
              <a:rPr lang="en-US" dirty="0"/>
              <a:t>Total Sales = 217	</a:t>
            </a:r>
          </a:p>
          <a:p>
            <a:r>
              <a:rPr lang="en-US" dirty="0"/>
              <a:t>Mean = 31</a:t>
            </a:r>
          </a:p>
          <a:p>
            <a:endParaRPr lang="en-US" dirty="0"/>
          </a:p>
          <a:p>
            <a:r>
              <a:rPr lang="en-US" dirty="0"/>
              <a:t>If there is an unexpected demand on Sunday : 20, 25, 25, 30, 35, 40, 420</a:t>
            </a:r>
          </a:p>
          <a:p>
            <a:endParaRPr lang="en-US" dirty="0"/>
          </a:p>
          <a:p>
            <a:r>
              <a:rPr lang="en-US" dirty="0"/>
              <a:t>Total Sales = 595</a:t>
            </a:r>
          </a:p>
          <a:p>
            <a:r>
              <a:rPr lang="en-US" dirty="0"/>
              <a:t>Mean = 85</a:t>
            </a:r>
          </a:p>
          <a:p>
            <a:endParaRPr lang="en-US" dirty="0"/>
          </a:p>
        </p:txBody>
      </p:sp>
    </p:spTree>
    <p:extLst>
      <p:ext uri="{BB962C8B-B14F-4D97-AF65-F5344CB8AC3E}">
        <p14:creationId xmlns:p14="http://schemas.microsoft.com/office/powerpoint/2010/main" val="1498952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776287" y="802665"/>
            <a:ext cx="6829425" cy="733425"/>
          </a:xfrm>
          <a:prstGeom prst="rect">
            <a:avLst/>
          </a:prstGeom>
        </p:spPr>
      </p:pic>
      <p:pic>
        <p:nvPicPr>
          <p:cNvPr id="8" name="Picture 7"/>
          <p:cNvPicPr>
            <a:picLocks noChangeAspect="1"/>
          </p:cNvPicPr>
          <p:nvPr/>
        </p:nvPicPr>
        <p:blipFill>
          <a:blip r:embed="rId3"/>
          <a:stretch>
            <a:fillRect/>
          </a:stretch>
        </p:blipFill>
        <p:spPr>
          <a:xfrm>
            <a:off x="776287" y="4014671"/>
            <a:ext cx="5991225" cy="409575"/>
          </a:xfrm>
          <a:prstGeom prst="rect">
            <a:avLst/>
          </a:prstGeom>
        </p:spPr>
      </p:pic>
      <p:pic>
        <p:nvPicPr>
          <p:cNvPr id="9" name="Picture 8"/>
          <p:cNvPicPr>
            <a:picLocks noChangeAspect="1"/>
          </p:cNvPicPr>
          <p:nvPr/>
        </p:nvPicPr>
        <p:blipFill>
          <a:blip r:embed="rId4"/>
          <a:stretch>
            <a:fillRect/>
          </a:stretch>
        </p:blipFill>
        <p:spPr>
          <a:xfrm>
            <a:off x="7998618" y="630374"/>
            <a:ext cx="3346552" cy="1574848"/>
          </a:xfrm>
          <a:prstGeom prst="rect">
            <a:avLst/>
          </a:prstGeom>
        </p:spPr>
      </p:pic>
      <p:sp>
        <p:nvSpPr>
          <p:cNvPr id="10" name="Text Placeholder 2"/>
          <p:cNvSpPr>
            <a:spLocks noGrp="1"/>
          </p:cNvSpPr>
          <p:nvPr>
            <p:ph type="body" sz="quarter" idx="13"/>
          </p:nvPr>
        </p:nvSpPr>
        <p:spPr>
          <a:xfrm>
            <a:off x="466628" y="131145"/>
            <a:ext cx="7772400" cy="307777"/>
          </a:xfrm>
        </p:spPr>
        <p:txBody>
          <a:bodyPr/>
          <a:lstStyle/>
          <a:p>
            <a:r>
              <a:rPr lang="en-US" sz="2000" b="1" dirty="0"/>
              <a:t>Measures of Central Tendency : Median &amp; Mode</a:t>
            </a:r>
          </a:p>
        </p:txBody>
      </p:sp>
      <p:sp>
        <p:nvSpPr>
          <p:cNvPr id="11" name="TextBox 10"/>
          <p:cNvSpPr txBox="1"/>
          <p:nvPr/>
        </p:nvSpPr>
        <p:spPr>
          <a:xfrm>
            <a:off x="1862234" y="4615698"/>
            <a:ext cx="3278462" cy="276999"/>
          </a:xfrm>
          <a:prstGeom prst="rect">
            <a:avLst/>
          </a:prstGeom>
          <a:noFill/>
        </p:spPr>
        <p:txBody>
          <a:bodyPr wrap="none" rtlCol="0">
            <a:spAutoFit/>
          </a:bodyPr>
          <a:lstStyle/>
          <a:p>
            <a:pPr marL="285750" indent="-285750">
              <a:buFont typeface="Arial" panose="020B0604020202020204" pitchFamily="34" charset="0"/>
              <a:buChar char="•"/>
            </a:pPr>
            <a:r>
              <a:rPr lang="en-US" sz="1200" dirty="0"/>
              <a:t>Best suited when data is in nominal scale</a:t>
            </a:r>
          </a:p>
        </p:txBody>
      </p:sp>
      <p:sp>
        <p:nvSpPr>
          <p:cNvPr id="12" name="TextBox 11"/>
          <p:cNvSpPr txBox="1"/>
          <p:nvPr/>
        </p:nvSpPr>
        <p:spPr>
          <a:xfrm>
            <a:off x="1925075" y="1589042"/>
            <a:ext cx="3918060" cy="276999"/>
          </a:xfrm>
          <a:prstGeom prst="rect">
            <a:avLst/>
          </a:prstGeom>
          <a:noFill/>
        </p:spPr>
        <p:txBody>
          <a:bodyPr wrap="none" rtlCol="0">
            <a:spAutoFit/>
          </a:bodyPr>
          <a:lstStyle/>
          <a:p>
            <a:pPr marL="285750" indent="-285750">
              <a:buFont typeface="Arial" panose="020B0604020202020204" pitchFamily="34" charset="0"/>
              <a:buChar char="•"/>
            </a:pPr>
            <a:r>
              <a:rPr lang="en-US" sz="1200" dirty="0"/>
              <a:t>Best suited when data is in ordinal or interval scale</a:t>
            </a:r>
          </a:p>
        </p:txBody>
      </p:sp>
      <p:sp>
        <p:nvSpPr>
          <p:cNvPr id="4" name="Rectangle 3"/>
          <p:cNvSpPr/>
          <p:nvPr/>
        </p:nvSpPr>
        <p:spPr>
          <a:xfrm>
            <a:off x="673325" y="2103063"/>
            <a:ext cx="9239347" cy="1815882"/>
          </a:xfrm>
          <a:prstGeom prst="rect">
            <a:avLst/>
          </a:prstGeom>
        </p:spPr>
        <p:txBody>
          <a:bodyPr wrap="square">
            <a:spAutoFit/>
          </a:bodyPr>
          <a:lstStyle/>
          <a:p>
            <a:r>
              <a:rPr lang="en-US" sz="1600" dirty="0"/>
              <a:t>Example: sales of a product in a  week 20, 25, 30, 25, 35, 40, 42;</a:t>
            </a:r>
          </a:p>
          <a:p>
            <a:r>
              <a:rPr lang="en-US" sz="1600" dirty="0"/>
              <a:t>Sorted: 20, 25, 25, 30, 35, 40, 42</a:t>
            </a:r>
          </a:p>
          <a:p>
            <a:r>
              <a:rPr lang="en-US" sz="1600" dirty="0"/>
              <a:t>Median = 30</a:t>
            </a:r>
          </a:p>
          <a:p>
            <a:endParaRPr lang="en-US" sz="1600" dirty="0"/>
          </a:p>
          <a:p>
            <a:r>
              <a:rPr lang="en-US" sz="1600" dirty="0"/>
              <a:t>If there is an unexpected demand on Sunday : 20, 25, 30, 25, 35, 40, 420</a:t>
            </a:r>
          </a:p>
          <a:p>
            <a:r>
              <a:rPr lang="en-US" sz="1600" dirty="0"/>
              <a:t>Sorted: 20, 25, 25, 30, 35, 40, 420</a:t>
            </a:r>
          </a:p>
          <a:p>
            <a:r>
              <a:rPr lang="en-US" sz="1600" dirty="0"/>
              <a:t>Median = 30</a:t>
            </a:r>
          </a:p>
        </p:txBody>
      </p:sp>
      <p:sp>
        <p:nvSpPr>
          <p:cNvPr id="13" name="Rectangle 12"/>
          <p:cNvSpPr/>
          <p:nvPr/>
        </p:nvSpPr>
        <p:spPr>
          <a:xfrm>
            <a:off x="630463" y="4900782"/>
            <a:ext cx="9239347" cy="1354217"/>
          </a:xfrm>
          <a:prstGeom prst="rect">
            <a:avLst/>
          </a:prstGeom>
        </p:spPr>
        <p:txBody>
          <a:bodyPr wrap="square">
            <a:spAutoFit/>
          </a:bodyPr>
          <a:lstStyle/>
          <a:p>
            <a:r>
              <a:rPr lang="en-US" sz="1600" dirty="0"/>
              <a:t>Example: sales of a product in a  week 20, 25, 30, 25, 35, 40, 42</a:t>
            </a:r>
          </a:p>
          <a:p>
            <a:r>
              <a:rPr lang="en-US" sz="1600" dirty="0"/>
              <a:t>Mode = 25</a:t>
            </a:r>
          </a:p>
          <a:p>
            <a:endParaRPr lang="en-US" sz="1600" dirty="0"/>
          </a:p>
          <a:p>
            <a:r>
              <a:rPr lang="en-US" sz="1600" dirty="0"/>
              <a:t>If there is an unexpected demand on Sunday : 20, 25, 30, 25, 35, 40, 420</a:t>
            </a:r>
          </a:p>
          <a:p>
            <a:r>
              <a:rPr lang="en-US" sz="1600" dirty="0"/>
              <a:t>Mode = 25</a:t>
            </a:r>
          </a:p>
        </p:txBody>
      </p:sp>
      <p:pic>
        <p:nvPicPr>
          <p:cNvPr id="14" name="Picture 13"/>
          <p:cNvPicPr>
            <a:picLocks noChangeAspect="1"/>
          </p:cNvPicPr>
          <p:nvPr/>
        </p:nvPicPr>
        <p:blipFill>
          <a:blip r:embed="rId5"/>
          <a:stretch>
            <a:fillRect/>
          </a:stretch>
        </p:blipFill>
        <p:spPr>
          <a:xfrm>
            <a:off x="7605712" y="3282136"/>
            <a:ext cx="4236759" cy="2352204"/>
          </a:xfrm>
          <a:prstGeom prst="rect">
            <a:avLst/>
          </a:prstGeom>
        </p:spPr>
      </p:pic>
    </p:spTree>
    <p:extLst>
      <p:ext uri="{BB962C8B-B14F-4D97-AF65-F5344CB8AC3E}">
        <p14:creationId xmlns:p14="http://schemas.microsoft.com/office/powerpoint/2010/main" val="488564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2"/>
          <p:cNvSpPr>
            <a:spLocks noGrp="1"/>
          </p:cNvSpPr>
          <p:nvPr>
            <p:ph type="body" sz="quarter" idx="13"/>
          </p:nvPr>
        </p:nvSpPr>
        <p:spPr>
          <a:xfrm>
            <a:off x="466628" y="131145"/>
            <a:ext cx="7772400" cy="307777"/>
          </a:xfrm>
        </p:spPr>
        <p:txBody>
          <a:bodyPr/>
          <a:lstStyle/>
          <a:p>
            <a:r>
              <a:rPr lang="en-US" sz="2000" b="1" dirty="0"/>
              <a:t>Measures of Dispersion: Range</a:t>
            </a:r>
          </a:p>
        </p:txBody>
      </p:sp>
      <p:sp>
        <p:nvSpPr>
          <p:cNvPr id="14" name="Content Placeholder 2"/>
          <p:cNvSpPr>
            <a:spLocks noGrp="1"/>
          </p:cNvSpPr>
          <p:nvPr>
            <p:ph idx="1"/>
          </p:nvPr>
        </p:nvSpPr>
        <p:spPr>
          <a:xfrm>
            <a:off x="466628" y="587435"/>
            <a:ext cx="11725372" cy="4435060"/>
          </a:xfrm>
        </p:spPr>
        <p:txBody>
          <a:bodyPr/>
          <a:lstStyle/>
          <a:p>
            <a:pPr marL="0" indent="0">
              <a:buNone/>
            </a:pPr>
            <a:r>
              <a:rPr lang="en-US" b="1" dirty="0"/>
              <a:t>Dispersion: </a:t>
            </a:r>
            <a:r>
              <a:rPr lang="en-US" dirty="0">
                <a:solidFill>
                  <a:srgbClr val="333333"/>
                </a:solidFill>
                <a:latin typeface="+mn-lt"/>
              </a:rPr>
              <a:t>Explains how “spread out” is the data? How “far” away from the mean or median do the observed values tend to be? </a:t>
            </a:r>
            <a:endParaRPr lang="en-US" dirty="0">
              <a:latin typeface="+mn-lt"/>
            </a:endParaRPr>
          </a:p>
          <a:p>
            <a:pPr marL="0" indent="0">
              <a:buNone/>
            </a:pPr>
            <a:endParaRPr lang="en-US" b="1" dirty="0"/>
          </a:p>
          <a:p>
            <a:pPr marL="0" indent="0">
              <a:buNone/>
            </a:pPr>
            <a:r>
              <a:rPr lang="en-US" b="1" dirty="0"/>
              <a:t>Range</a:t>
            </a:r>
            <a:r>
              <a:rPr lang="en-US" b="0" dirty="0"/>
              <a:t> is the difference between the largest and smallest values </a:t>
            </a:r>
          </a:p>
          <a:p>
            <a:pPr lvl="1"/>
            <a:r>
              <a:rPr lang="en-US" dirty="0">
                <a:solidFill>
                  <a:srgbClr val="333333"/>
                </a:solidFill>
                <a:latin typeface="-apple-system"/>
              </a:rPr>
              <a:t>Range = Maximum – Minimum</a:t>
            </a:r>
          </a:p>
          <a:p>
            <a:pPr lvl="1"/>
            <a:r>
              <a:rPr lang="en-US" dirty="0">
                <a:solidFill>
                  <a:srgbClr val="333333"/>
                </a:solidFill>
                <a:latin typeface="-apple-system"/>
              </a:rPr>
              <a:t>It is not robust as it is influenced by outliers</a:t>
            </a:r>
            <a:endParaRPr lang="en-US" dirty="0"/>
          </a:p>
          <a:p>
            <a:pPr marL="0" indent="0">
              <a:buNone/>
            </a:pPr>
            <a:endParaRPr lang="en-US" dirty="0"/>
          </a:p>
          <a:p>
            <a:pPr marL="0" indent="0">
              <a:buNone/>
            </a:pPr>
            <a:r>
              <a:rPr lang="en-US" dirty="0"/>
              <a:t>Example: sales of a product in a  week 20, 25, 30, 25, 35, 40, 42</a:t>
            </a:r>
          </a:p>
          <a:p>
            <a:pPr marL="0" indent="0">
              <a:buNone/>
            </a:pPr>
            <a:r>
              <a:rPr lang="en-US" dirty="0"/>
              <a:t>Range = 22</a:t>
            </a:r>
          </a:p>
          <a:p>
            <a:pPr marL="0" indent="0">
              <a:buNone/>
            </a:pPr>
            <a:endParaRPr lang="en-US" dirty="0"/>
          </a:p>
          <a:p>
            <a:pPr marL="0" indent="0">
              <a:buNone/>
            </a:pPr>
            <a:r>
              <a:rPr lang="en-US" dirty="0"/>
              <a:t>If there is an unexpected demand on Sunday : 20, 25, 30, 25, 35, 40, 420</a:t>
            </a:r>
          </a:p>
          <a:p>
            <a:pPr marL="0" indent="0">
              <a:buNone/>
            </a:pPr>
            <a:r>
              <a:rPr lang="en-US" dirty="0"/>
              <a:t>Range = 400</a:t>
            </a:r>
          </a:p>
          <a:p>
            <a:endParaRPr lang="en-US" b="0" dirty="0"/>
          </a:p>
        </p:txBody>
      </p:sp>
      <p:pic>
        <p:nvPicPr>
          <p:cNvPr id="3" name="Picture 2"/>
          <p:cNvPicPr>
            <a:picLocks noChangeAspect="1"/>
          </p:cNvPicPr>
          <p:nvPr/>
        </p:nvPicPr>
        <p:blipFill>
          <a:blip r:embed="rId2"/>
          <a:stretch>
            <a:fillRect/>
          </a:stretch>
        </p:blipFill>
        <p:spPr>
          <a:xfrm>
            <a:off x="6619875" y="4576762"/>
            <a:ext cx="4686300" cy="1762125"/>
          </a:xfrm>
          <a:prstGeom prst="rect">
            <a:avLst/>
          </a:prstGeom>
        </p:spPr>
      </p:pic>
    </p:spTree>
    <p:extLst>
      <p:ext uri="{BB962C8B-B14F-4D97-AF65-F5344CB8AC3E}">
        <p14:creationId xmlns:p14="http://schemas.microsoft.com/office/powerpoint/2010/main" val="2775920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2"/>
          <p:cNvSpPr>
            <a:spLocks noGrp="1"/>
          </p:cNvSpPr>
          <p:nvPr>
            <p:ph type="body" sz="quarter" idx="13"/>
          </p:nvPr>
        </p:nvSpPr>
        <p:spPr>
          <a:xfrm>
            <a:off x="466628" y="131145"/>
            <a:ext cx="7772400" cy="307777"/>
          </a:xfrm>
        </p:spPr>
        <p:txBody>
          <a:bodyPr/>
          <a:lstStyle/>
          <a:p>
            <a:r>
              <a:rPr lang="en-US" sz="2000" b="1" dirty="0"/>
              <a:t>Measures of Dispersion: Variance and Standard Deviation</a:t>
            </a:r>
          </a:p>
        </p:txBody>
      </p:sp>
      <p:sp>
        <p:nvSpPr>
          <p:cNvPr id="15" name="Slide Number Placeholder 4"/>
          <p:cNvSpPr>
            <a:spLocks noGrp="1"/>
          </p:cNvSpPr>
          <p:nvPr>
            <p:ph type="sldNum" sz="quarter" idx="14"/>
          </p:nvPr>
        </p:nvSpPr>
        <p:spPr>
          <a:xfrm>
            <a:off x="8856345" y="6353175"/>
            <a:ext cx="1554480" cy="91440"/>
          </a:xfrm>
        </p:spPr>
        <p:txBody>
          <a:bodyPr/>
          <a:lstStyle/>
          <a:p>
            <a:r>
              <a:rPr lang="en-US"/>
              <a:t>Author, </a:t>
            </a:r>
            <a:fld id="{D72BAC86-7CA1-47DD-8EAD-39EA91178256}" type="datetime1">
              <a:rPr lang="en-US" smtClean="0"/>
              <a:pPr/>
              <a:t>11/12/2025</a:t>
            </a:fld>
            <a:r>
              <a:rPr lang="en-US"/>
              <a:t>, Filename.ppt </a:t>
            </a:r>
            <a:r>
              <a:rPr lang="en-US" sz="1000"/>
              <a:t>| </a:t>
            </a:r>
            <a:fld id="{689318A1-174D-4DEE-8106-03A37B9BCF15}" type="slidenum">
              <a:rPr lang="en-US" sz="1000"/>
              <a:pPr/>
              <a:t>9</a:t>
            </a:fld>
            <a:endParaRPr lang="en-US" sz="1000" dirty="0"/>
          </a:p>
        </p:txBody>
      </p:sp>
      <p:pic>
        <p:nvPicPr>
          <p:cNvPr id="16" name="Picture 15"/>
          <p:cNvPicPr>
            <a:picLocks noChangeAspect="1"/>
          </p:cNvPicPr>
          <p:nvPr/>
        </p:nvPicPr>
        <p:blipFill rotWithShape="1">
          <a:blip r:embed="rId2"/>
          <a:srcRect b="58104"/>
          <a:stretch/>
        </p:blipFill>
        <p:spPr>
          <a:xfrm>
            <a:off x="656405" y="1182950"/>
            <a:ext cx="2857500" cy="718310"/>
          </a:xfrm>
          <a:prstGeom prst="rect">
            <a:avLst/>
          </a:prstGeom>
        </p:spPr>
      </p:pic>
      <p:grpSp>
        <p:nvGrpSpPr>
          <p:cNvPr id="17" name="Group 16"/>
          <p:cNvGrpSpPr/>
          <p:nvPr/>
        </p:nvGrpSpPr>
        <p:grpSpPr>
          <a:xfrm>
            <a:off x="7067999" y="973540"/>
            <a:ext cx="4466776" cy="2817412"/>
            <a:chOff x="4031140" y="2806728"/>
            <a:chExt cx="4466776" cy="3300773"/>
          </a:xfrm>
        </p:grpSpPr>
        <p:pic>
          <p:nvPicPr>
            <p:cNvPr id="18" name="Picture 17"/>
            <p:cNvPicPr>
              <a:picLocks noChangeAspect="1"/>
            </p:cNvPicPr>
            <p:nvPr/>
          </p:nvPicPr>
          <p:blipFill>
            <a:blip r:embed="rId3"/>
            <a:stretch>
              <a:fillRect/>
            </a:stretch>
          </p:blipFill>
          <p:spPr>
            <a:xfrm>
              <a:off x="4031140" y="2806728"/>
              <a:ext cx="4466776" cy="3300773"/>
            </a:xfrm>
            <a:prstGeom prst="rect">
              <a:avLst/>
            </a:prstGeom>
          </p:spPr>
        </p:pic>
        <p:sp>
          <p:nvSpPr>
            <p:cNvPr id="19" name="TextBox 18"/>
            <p:cNvSpPr txBox="1"/>
            <p:nvPr/>
          </p:nvSpPr>
          <p:spPr>
            <a:xfrm>
              <a:off x="4827052" y="3102428"/>
              <a:ext cx="977319" cy="584775"/>
            </a:xfrm>
            <a:prstGeom prst="rect">
              <a:avLst/>
            </a:prstGeom>
            <a:noFill/>
          </p:spPr>
          <p:txBody>
            <a:bodyPr wrap="none" rtlCol="0">
              <a:spAutoFit/>
            </a:bodyPr>
            <a:lstStyle/>
            <a:p>
              <a:pPr algn="ctr"/>
              <a:r>
                <a:rPr lang="en-US" sz="1600" dirty="0"/>
                <a:t>Low </a:t>
              </a:r>
            </a:p>
            <a:p>
              <a:pPr algn="ctr"/>
              <a:r>
                <a:rPr lang="en-US" sz="1600" dirty="0"/>
                <a:t>Variance</a:t>
              </a:r>
            </a:p>
          </p:txBody>
        </p:sp>
        <p:sp>
          <p:nvSpPr>
            <p:cNvPr id="20" name="TextBox 19"/>
            <p:cNvSpPr txBox="1"/>
            <p:nvPr/>
          </p:nvSpPr>
          <p:spPr>
            <a:xfrm>
              <a:off x="6753824" y="4457114"/>
              <a:ext cx="977319" cy="584775"/>
            </a:xfrm>
            <a:prstGeom prst="rect">
              <a:avLst/>
            </a:prstGeom>
            <a:noFill/>
          </p:spPr>
          <p:txBody>
            <a:bodyPr wrap="none" rtlCol="0">
              <a:spAutoFit/>
            </a:bodyPr>
            <a:lstStyle/>
            <a:p>
              <a:pPr algn="ctr"/>
              <a:r>
                <a:rPr lang="en-US" sz="1600" dirty="0"/>
                <a:t>High</a:t>
              </a:r>
            </a:p>
            <a:p>
              <a:pPr algn="ctr"/>
              <a:r>
                <a:rPr lang="en-US" sz="1600" dirty="0"/>
                <a:t>Variance</a:t>
              </a:r>
            </a:p>
          </p:txBody>
        </p:sp>
        <p:cxnSp>
          <p:nvCxnSpPr>
            <p:cNvPr id="21" name="Straight Arrow Connector 20"/>
            <p:cNvCxnSpPr/>
            <p:nvPr/>
          </p:nvCxnSpPr>
          <p:spPr>
            <a:xfrm>
              <a:off x="5412921" y="3687203"/>
              <a:ext cx="465365" cy="3622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a:off x="7144948" y="5025524"/>
              <a:ext cx="97535" cy="4892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23" name="TextBox 22"/>
          <p:cNvSpPr txBox="1"/>
          <p:nvPr/>
        </p:nvSpPr>
        <p:spPr>
          <a:xfrm>
            <a:off x="465905" y="680387"/>
            <a:ext cx="11068870" cy="369332"/>
          </a:xfrm>
          <a:prstGeom prst="rect">
            <a:avLst/>
          </a:prstGeom>
          <a:noFill/>
        </p:spPr>
        <p:txBody>
          <a:bodyPr wrap="square" rtlCol="0">
            <a:spAutoFit/>
          </a:bodyPr>
          <a:lstStyle/>
          <a:p>
            <a:r>
              <a:rPr lang="en-US" b="1" dirty="0"/>
              <a:t>Variance</a:t>
            </a:r>
            <a:r>
              <a:rPr lang="en-US" dirty="0"/>
              <a:t> is an indication of how far a set of values are spread out from its average</a:t>
            </a:r>
          </a:p>
        </p:txBody>
      </p:sp>
      <p:pic>
        <p:nvPicPr>
          <p:cNvPr id="5122" name="Picture 2" descr="Variance in statistics | Lunatic Laboratorie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51607" y="3790952"/>
            <a:ext cx="4356100" cy="2466974"/>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08582" y="1879694"/>
            <a:ext cx="6096000" cy="2462213"/>
          </a:xfrm>
          <a:prstGeom prst="rect">
            <a:avLst/>
          </a:prstGeom>
        </p:spPr>
        <p:txBody>
          <a:bodyPr>
            <a:spAutoFit/>
          </a:bodyPr>
          <a:lstStyle/>
          <a:p>
            <a:r>
              <a:rPr lang="en-US" sz="1600" dirty="0">
                <a:solidFill>
                  <a:srgbClr val="333333"/>
                </a:solidFill>
                <a:latin typeface="+mn-lt"/>
              </a:rPr>
              <a:t>It’s completely uninterpretable because it doesn’t use the same units as the data</a:t>
            </a:r>
          </a:p>
          <a:p>
            <a:r>
              <a:rPr lang="en-US" dirty="0">
                <a:solidFill>
                  <a:srgbClr val="333333"/>
                </a:solidFill>
                <a:latin typeface="-apple-system"/>
              </a:rPr>
              <a:t>Ex: </a:t>
            </a:r>
            <a:r>
              <a:rPr lang="en-US" dirty="0"/>
              <a:t>20, 25, 30, 25, 35, 40, 42; Variance = 58.8</a:t>
            </a:r>
          </a:p>
          <a:p>
            <a:endParaRPr lang="en-US" dirty="0">
              <a:solidFill>
                <a:srgbClr val="333333"/>
              </a:solidFill>
              <a:latin typeface="-apple-system"/>
            </a:endParaRPr>
          </a:p>
          <a:p>
            <a:r>
              <a:rPr lang="en-US" dirty="0"/>
              <a:t>Ex: 20, 25, 30, 25, 35, 40, 420; Variance = 18742.8</a:t>
            </a:r>
            <a:endParaRPr lang="en-US" dirty="0">
              <a:solidFill>
                <a:srgbClr val="333333"/>
              </a:solidFill>
              <a:latin typeface="-apple-system"/>
            </a:endParaRPr>
          </a:p>
          <a:p>
            <a:endParaRPr lang="en-US" b="1" dirty="0">
              <a:solidFill>
                <a:srgbClr val="333333"/>
              </a:solidFill>
              <a:latin typeface="-apple-system"/>
            </a:endParaRPr>
          </a:p>
          <a:p>
            <a:r>
              <a:rPr lang="en-US" b="1" dirty="0">
                <a:solidFill>
                  <a:srgbClr val="333333"/>
                </a:solidFill>
                <a:latin typeface="-apple-system"/>
              </a:rPr>
              <a:t>Standard Deviation</a:t>
            </a:r>
            <a:r>
              <a:rPr lang="en-US" dirty="0">
                <a:solidFill>
                  <a:srgbClr val="333333"/>
                </a:solidFill>
                <a:latin typeface="-apple-system"/>
              </a:rPr>
              <a:t>: square root of variance</a:t>
            </a:r>
          </a:p>
          <a:p>
            <a:r>
              <a:rPr lang="en-US" sz="1600" dirty="0"/>
              <a:t>Both measures reflect variability in a distribution, but their units differ</a:t>
            </a:r>
            <a:endParaRPr lang="en-US" sz="1600" dirty="0">
              <a:solidFill>
                <a:srgbClr val="333333"/>
              </a:solidFill>
              <a:latin typeface="-apple-system"/>
            </a:endParaRPr>
          </a:p>
        </p:txBody>
      </p:sp>
      <p:pic>
        <p:nvPicPr>
          <p:cNvPr id="24" name="Picture 23"/>
          <p:cNvPicPr>
            <a:picLocks noChangeAspect="1"/>
          </p:cNvPicPr>
          <p:nvPr/>
        </p:nvPicPr>
        <p:blipFill rotWithShape="1">
          <a:blip r:embed="rId5"/>
          <a:srcRect l="73142"/>
          <a:stretch/>
        </p:blipFill>
        <p:spPr>
          <a:xfrm>
            <a:off x="1685741" y="4132244"/>
            <a:ext cx="2581274" cy="892195"/>
          </a:xfrm>
          <a:prstGeom prst="rect">
            <a:avLst/>
          </a:prstGeom>
        </p:spPr>
      </p:pic>
      <p:sp>
        <p:nvSpPr>
          <p:cNvPr id="4" name="Rectangle 3"/>
          <p:cNvSpPr/>
          <p:nvPr/>
        </p:nvSpPr>
        <p:spPr>
          <a:xfrm>
            <a:off x="508582" y="5315532"/>
            <a:ext cx="6096000" cy="923330"/>
          </a:xfrm>
          <a:prstGeom prst="rect">
            <a:avLst/>
          </a:prstGeom>
        </p:spPr>
        <p:txBody>
          <a:bodyPr>
            <a:spAutoFit/>
          </a:bodyPr>
          <a:lstStyle/>
          <a:p>
            <a:r>
              <a:rPr lang="en-US" dirty="0">
                <a:solidFill>
                  <a:srgbClr val="333333"/>
                </a:solidFill>
                <a:latin typeface="-apple-system"/>
              </a:rPr>
              <a:t>Ex: </a:t>
            </a:r>
            <a:r>
              <a:rPr lang="en-US" dirty="0"/>
              <a:t>20, 25, 30, 25, 35, 40, 42; SD = 7.6</a:t>
            </a:r>
          </a:p>
          <a:p>
            <a:endParaRPr lang="en-US" dirty="0">
              <a:solidFill>
                <a:srgbClr val="333333"/>
              </a:solidFill>
              <a:latin typeface="-apple-system"/>
            </a:endParaRPr>
          </a:p>
          <a:p>
            <a:r>
              <a:rPr lang="en-US" dirty="0"/>
              <a:t>Ex: 20, 25, 30, 25, 35, 40, 420; SD = 136.9</a:t>
            </a:r>
            <a:endParaRPr lang="en-US" dirty="0">
              <a:solidFill>
                <a:srgbClr val="333333"/>
              </a:solidFill>
              <a:latin typeface="-apple-system"/>
            </a:endParaRPr>
          </a:p>
        </p:txBody>
      </p:sp>
    </p:spTree>
    <p:extLst>
      <p:ext uri="{BB962C8B-B14F-4D97-AF65-F5344CB8AC3E}">
        <p14:creationId xmlns:p14="http://schemas.microsoft.com/office/powerpoint/2010/main" val="2707889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2"/>
          <p:cNvSpPr>
            <a:spLocks noGrp="1"/>
          </p:cNvSpPr>
          <p:nvPr>
            <p:ph type="body" sz="quarter" idx="13"/>
          </p:nvPr>
        </p:nvSpPr>
        <p:spPr>
          <a:xfrm>
            <a:off x="466628" y="131145"/>
            <a:ext cx="7772400" cy="307777"/>
          </a:xfrm>
        </p:spPr>
        <p:txBody>
          <a:bodyPr/>
          <a:lstStyle/>
          <a:p>
            <a:r>
              <a:rPr lang="en-US" sz="2000" b="1" dirty="0"/>
              <a:t>Measures of Dispersion: Skewness</a:t>
            </a:r>
          </a:p>
        </p:txBody>
      </p:sp>
      <p:sp>
        <p:nvSpPr>
          <p:cNvPr id="3" name="Slide Number Placeholder 4"/>
          <p:cNvSpPr>
            <a:spLocks noGrp="1"/>
          </p:cNvSpPr>
          <p:nvPr>
            <p:ph type="sldNum" sz="quarter" idx="14"/>
          </p:nvPr>
        </p:nvSpPr>
        <p:spPr>
          <a:xfrm>
            <a:off x="8846820" y="6276975"/>
            <a:ext cx="1554480" cy="91440"/>
          </a:xfrm>
        </p:spPr>
        <p:txBody>
          <a:bodyPr/>
          <a:lstStyle/>
          <a:p>
            <a:r>
              <a:rPr lang="en-US"/>
              <a:t>Author, </a:t>
            </a:r>
            <a:fld id="{D72BAC86-7CA1-47DD-8EAD-39EA91178256}" type="datetime1">
              <a:rPr lang="en-US" smtClean="0"/>
              <a:pPr/>
              <a:t>11/12/2025</a:t>
            </a:fld>
            <a:r>
              <a:rPr lang="en-US"/>
              <a:t>, Filename.ppt </a:t>
            </a:r>
            <a:r>
              <a:rPr lang="en-US" sz="1000"/>
              <a:t>| </a:t>
            </a:r>
            <a:fld id="{689318A1-174D-4DEE-8106-03A37B9BCF15}" type="slidenum">
              <a:rPr lang="en-US" sz="1000"/>
              <a:pPr/>
              <a:t>10</a:t>
            </a:fld>
            <a:endParaRPr lang="en-US" sz="1000" dirty="0"/>
          </a:p>
        </p:txBody>
      </p:sp>
      <p:pic>
        <p:nvPicPr>
          <p:cNvPr id="4" name="Picture 3"/>
          <p:cNvPicPr>
            <a:picLocks noChangeAspect="1"/>
          </p:cNvPicPr>
          <p:nvPr/>
        </p:nvPicPr>
        <p:blipFill>
          <a:blip r:embed="rId2"/>
          <a:stretch>
            <a:fillRect/>
          </a:stretch>
        </p:blipFill>
        <p:spPr>
          <a:xfrm>
            <a:off x="685801" y="1677141"/>
            <a:ext cx="7746521" cy="1318895"/>
          </a:xfrm>
          <a:prstGeom prst="rect">
            <a:avLst/>
          </a:prstGeom>
        </p:spPr>
      </p:pic>
      <p:pic>
        <p:nvPicPr>
          <p:cNvPr id="5" name="Picture 4"/>
          <p:cNvPicPr>
            <a:picLocks noChangeAspect="1"/>
          </p:cNvPicPr>
          <p:nvPr/>
        </p:nvPicPr>
        <p:blipFill>
          <a:blip r:embed="rId3"/>
          <a:stretch>
            <a:fillRect/>
          </a:stretch>
        </p:blipFill>
        <p:spPr>
          <a:xfrm>
            <a:off x="1095195" y="2922536"/>
            <a:ext cx="7048500" cy="3200400"/>
          </a:xfrm>
          <a:prstGeom prst="rect">
            <a:avLst/>
          </a:prstGeom>
        </p:spPr>
      </p:pic>
      <p:sp>
        <p:nvSpPr>
          <p:cNvPr id="6" name="TextBox 5"/>
          <p:cNvSpPr txBox="1"/>
          <p:nvPr/>
        </p:nvSpPr>
        <p:spPr>
          <a:xfrm>
            <a:off x="466628" y="735044"/>
            <a:ext cx="10772774" cy="369332"/>
          </a:xfrm>
          <a:prstGeom prst="rect">
            <a:avLst/>
          </a:prstGeom>
          <a:noFill/>
        </p:spPr>
        <p:txBody>
          <a:bodyPr wrap="square" rtlCol="0">
            <a:spAutoFit/>
          </a:bodyPr>
          <a:lstStyle/>
          <a:p>
            <a:r>
              <a:rPr lang="en-US" b="1" dirty="0"/>
              <a:t>Skewness</a:t>
            </a:r>
            <a:r>
              <a:rPr lang="en-US" dirty="0"/>
              <a:t> is a measure of the asymmetry of the probability distribution about its mean. </a:t>
            </a:r>
          </a:p>
        </p:txBody>
      </p:sp>
      <p:sp>
        <p:nvSpPr>
          <p:cNvPr id="7" name="TextBox 6"/>
          <p:cNvSpPr txBox="1"/>
          <p:nvPr/>
        </p:nvSpPr>
        <p:spPr>
          <a:xfrm>
            <a:off x="466628" y="1400498"/>
            <a:ext cx="2146742" cy="369332"/>
          </a:xfrm>
          <a:prstGeom prst="rect">
            <a:avLst/>
          </a:prstGeom>
          <a:noFill/>
        </p:spPr>
        <p:txBody>
          <a:bodyPr wrap="none" rtlCol="0">
            <a:spAutoFit/>
          </a:bodyPr>
          <a:lstStyle/>
          <a:p>
            <a:r>
              <a:rPr lang="en-US" i="1" dirty="0"/>
              <a:t>Skewness Formula</a:t>
            </a:r>
          </a:p>
        </p:txBody>
      </p:sp>
    </p:spTree>
    <p:extLst>
      <p:ext uri="{BB962C8B-B14F-4D97-AF65-F5344CB8AC3E}">
        <p14:creationId xmlns:p14="http://schemas.microsoft.com/office/powerpoint/2010/main" val="1897720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2"/>
          <p:cNvSpPr>
            <a:spLocks noGrp="1"/>
          </p:cNvSpPr>
          <p:nvPr>
            <p:ph type="body" sz="quarter" idx="13"/>
          </p:nvPr>
        </p:nvSpPr>
        <p:spPr>
          <a:xfrm>
            <a:off x="466628" y="131145"/>
            <a:ext cx="7772400" cy="307777"/>
          </a:xfrm>
        </p:spPr>
        <p:txBody>
          <a:bodyPr/>
          <a:lstStyle/>
          <a:p>
            <a:r>
              <a:rPr lang="en-US" sz="2000" b="1" dirty="0"/>
              <a:t>Measures of Dispersion: Kurtosis</a:t>
            </a:r>
          </a:p>
        </p:txBody>
      </p:sp>
      <p:sp>
        <p:nvSpPr>
          <p:cNvPr id="3" name="Slide Number Placeholder 4"/>
          <p:cNvSpPr>
            <a:spLocks noGrp="1"/>
          </p:cNvSpPr>
          <p:nvPr>
            <p:ph type="sldNum" sz="quarter" idx="14"/>
          </p:nvPr>
        </p:nvSpPr>
        <p:spPr>
          <a:xfrm>
            <a:off x="10142220" y="6515100"/>
            <a:ext cx="1554480" cy="91440"/>
          </a:xfrm>
        </p:spPr>
        <p:txBody>
          <a:bodyPr/>
          <a:lstStyle/>
          <a:p>
            <a:r>
              <a:rPr lang="en-US"/>
              <a:t>Author, </a:t>
            </a:r>
            <a:fld id="{D72BAC86-7CA1-47DD-8EAD-39EA91178256}" type="datetime1">
              <a:rPr lang="en-US" smtClean="0"/>
              <a:pPr/>
              <a:t>11/12/2025</a:t>
            </a:fld>
            <a:r>
              <a:rPr lang="en-US"/>
              <a:t>, Filename.ppt </a:t>
            </a:r>
            <a:r>
              <a:rPr lang="en-US" sz="1000"/>
              <a:t>| </a:t>
            </a:r>
            <a:fld id="{689318A1-174D-4DEE-8106-03A37B9BCF15}" type="slidenum">
              <a:rPr lang="en-US" sz="1000"/>
              <a:pPr/>
              <a:t>11</a:t>
            </a:fld>
            <a:endParaRPr lang="en-US" sz="1000" dirty="0"/>
          </a:p>
        </p:txBody>
      </p:sp>
      <p:pic>
        <p:nvPicPr>
          <p:cNvPr id="4" name="Picture 3"/>
          <p:cNvPicPr>
            <a:picLocks noChangeAspect="1"/>
          </p:cNvPicPr>
          <p:nvPr/>
        </p:nvPicPr>
        <p:blipFill>
          <a:blip r:embed="rId2"/>
          <a:stretch>
            <a:fillRect/>
          </a:stretch>
        </p:blipFill>
        <p:spPr>
          <a:xfrm>
            <a:off x="240819" y="1798287"/>
            <a:ext cx="7255356" cy="1419225"/>
          </a:xfrm>
          <a:prstGeom prst="rect">
            <a:avLst/>
          </a:prstGeom>
        </p:spPr>
      </p:pic>
      <p:pic>
        <p:nvPicPr>
          <p:cNvPr id="5" name="Picture 4"/>
          <p:cNvPicPr>
            <a:picLocks noChangeAspect="1"/>
          </p:cNvPicPr>
          <p:nvPr/>
        </p:nvPicPr>
        <p:blipFill>
          <a:blip r:embed="rId3"/>
          <a:stretch>
            <a:fillRect/>
          </a:stretch>
        </p:blipFill>
        <p:spPr>
          <a:xfrm>
            <a:off x="7616946" y="1278567"/>
            <a:ext cx="4451229" cy="3194042"/>
          </a:xfrm>
          <a:prstGeom prst="rect">
            <a:avLst/>
          </a:prstGeom>
        </p:spPr>
      </p:pic>
      <p:sp>
        <p:nvSpPr>
          <p:cNvPr id="6" name="TextBox 5"/>
          <p:cNvSpPr txBox="1"/>
          <p:nvPr/>
        </p:nvSpPr>
        <p:spPr>
          <a:xfrm>
            <a:off x="323850" y="595351"/>
            <a:ext cx="8267700" cy="923330"/>
          </a:xfrm>
          <a:prstGeom prst="rect">
            <a:avLst/>
          </a:prstGeom>
          <a:noFill/>
        </p:spPr>
        <p:txBody>
          <a:bodyPr wrap="square" rtlCol="0">
            <a:spAutoFit/>
          </a:bodyPr>
          <a:lstStyle/>
          <a:p>
            <a:r>
              <a:rPr lang="en-US" b="1" dirty="0"/>
              <a:t>Kurtosis</a:t>
            </a:r>
            <a:r>
              <a:rPr lang="en-US" dirty="0"/>
              <a:t> is a measure of the “</a:t>
            </a:r>
            <a:r>
              <a:rPr lang="en-US" dirty="0" err="1"/>
              <a:t>tailedness</a:t>
            </a:r>
            <a:r>
              <a:rPr lang="en-US" dirty="0"/>
              <a:t>” of the probability distribution.</a:t>
            </a:r>
          </a:p>
          <a:p>
            <a:r>
              <a:rPr lang="en-US" dirty="0"/>
              <a:t>Is the data heavy-tailed or light-tailed relative to a normal distribution. how much data is in the tails of a distribution </a:t>
            </a:r>
            <a:r>
              <a:rPr lang="en-US" dirty="0" err="1"/>
              <a:t>v.s</a:t>
            </a:r>
            <a:r>
              <a:rPr lang="en-US" dirty="0"/>
              <a:t>. the center </a:t>
            </a:r>
          </a:p>
        </p:txBody>
      </p:sp>
      <p:sp>
        <p:nvSpPr>
          <p:cNvPr id="7" name="TextBox 6"/>
          <p:cNvSpPr txBox="1"/>
          <p:nvPr/>
        </p:nvSpPr>
        <p:spPr>
          <a:xfrm>
            <a:off x="323850" y="1490444"/>
            <a:ext cx="1928733" cy="369332"/>
          </a:xfrm>
          <a:prstGeom prst="rect">
            <a:avLst/>
          </a:prstGeom>
          <a:noFill/>
        </p:spPr>
        <p:txBody>
          <a:bodyPr wrap="none" rtlCol="0">
            <a:spAutoFit/>
          </a:bodyPr>
          <a:lstStyle/>
          <a:p>
            <a:r>
              <a:rPr lang="en-US" i="1" dirty="0"/>
              <a:t>Kurtosis Formula</a:t>
            </a:r>
          </a:p>
        </p:txBody>
      </p:sp>
      <p:pic>
        <p:nvPicPr>
          <p:cNvPr id="8" name="Picture 7"/>
          <p:cNvPicPr>
            <a:picLocks noChangeAspect="1"/>
          </p:cNvPicPr>
          <p:nvPr/>
        </p:nvPicPr>
        <p:blipFill>
          <a:blip r:embed="rId4"/>
          <a:stretch>
            <a:fillRect/>
          </a:stretch>
        </p:blipFill>
        <p:spPr>
          <a:xfrm>
            <a:off x="1010997" y="3419475"/>
            <a:ext cx="5715000" cy="2857500"/>
          </a:xfrm>
          <a:prstGeom prst="rect">
            <a:avLst/>
          </a:prstGeom>
        </p:spPr>
      </p:pic>
    </p:spTree>
    <p:extLst>
      <p:ext uri="{BB962C8B-B14F-4D97-AF65-F5344CB8AC3E}">
        <p14:creationId xmlns:p14="http://schemas.microsoft.com/office/powerpoint/2010/main" val="3147177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A) Pie chart showing gender distribution in the study. (B) Histogram... |  Download Scientific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6499" y="1419225"/>
            <a:ext cx="6505576" cy="4709404"/>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361949" y="523786"/>
            <a:ext cx="11439525" cy="646331"/>
          </a:xfrm>
          <a:prstGeom prst="rect">
            <a:avLst/>
          </a:prstGeom>
        </p:spPr>
        <p:txBody>
          <a:bodyPr wrap="square">
            <a:spAutoFit/>
          </a:bodyPr>
          <a:lstStyle/>
          <a:p>
            <a:r>
              <a:rPr lang="en-US" b="1" dirty="0">
                <a:solidFill>
                  <a:srgbClr val="202124"/>
                </a:solidFill>
                <a:latin typeface="arial" panose="020B0604020202020204" pitchFamily="34" charset="0"/>
              </a:rPr>
              <a:t>Frequency distributions </a:t>
            </a:r>
            <a:r>
              <a:rPr lang="en-US" dirty="0">
                <a:solidFill>
                  <a:srgbClr val="202124"/>
                </a:solidFill>
                <a:latin typeface="arial" panose="020B0604020202020204" pitchFamily="34" charset="0"/>
              </a:rPr>
              <a:t>are portrayed as frequency tables or charts. Frequency distributions can show either the actual number of observations falling in each range or the percentage of observations</a:t>
            </a:r>
            <a:endParaRPr lang="en-US" dirty="0"/>
          </a:p>
        </p:txBody>
      </p:sp>
      <p:sp>
        <p:nvSpPr>
          <p:cNvPr id="8" name="Text Placeholder 2"/>
          <p:cNvSpPr>
            <a:spLocks noGrp="1"/>
          </p:cNvSpPr>
          <p:nvPr>
            <p:ph type="body" sz="quarter" idx="13"/>
          </p:nvPr>
        </p:nvSpPr>
        <p:spPr>
          <a:xfrm>
            <a:off x="466628" y="131145"/>
            <a:ext cx="7772400" cy="307777"/>
          </a:xfrm>
        </p:spPr>
        <p:txBody>
          <a:bodyPr/>
          <a:lstStyle/>
          <a:p>
            <a:r>
              <a:rPr lang="en-US" sz="2000" b="1" dirty="0"/>
              <a:t>Frequency Distribution</a:t>
            </a:r>
          </a:p>
        </p:txBody>
      </p:sp>
    </p:spTree>
    <p:extLst>
      <p:ext uri="{BB962C8B-B14F-4D97-AF65-F5344CB8AC3E}">
        <p14:creationId xmlns:p14="http://schemas.microsoft.com/office/powerpoint/2010/main" val="1155758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2"/>
          <p:cNvSpPr>
            <a:spLocks noGrp="1"/>
          </p:cNvSpPr>
          <p:nvPr>
            <p:ph type="body" sz="quarter" idx="13"/>
          </p:nvPr>
        </p:nvSpPr>
        <p:spPr>
          <a:xfrm>
            <a:off x="2571653" y="2758557"/>
            <a:ext cx="7772400" cy="615553"/>
          </a:xfrm>
        </p:spPr>
        <p:txBody>
          <a:bodyPr/>
          <a:lstStyle/>
          <a:p>
            <a:pPr algn="ctr"/>
            <a:r>
              <a:rPr lang="en-US" sz="4000" b="1" dirty="0">
                <a:solidFill>
                  <a:schemeClr val="tx1"/>
                </a:solidFill>
              </a:rPr>
              <a:t>Python Exercise</a:t>
            </a:r>
          </a:p>
        </p:txBody>
      </p:sp>
    </p:spTree>
    <p:extLst>
      <p:ext uri="{BB962C8B-B14F-4D97-AF65-F5344CB8AC3E}">
        <p14:creationId xmlns:p14="http://schemas.microsoft.com/office/powerpoint/2010/main" val="1562368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43209" y="2880708"/>
            <a:ext cx="10980835" cy="677108"/>
          </a:xfrm>
        </p:spPr>
        <p:txBody>
          <a:bodyPr/>
          <a:lstStyle/>
          <a:p>
            <a:pPr marL="0" indent="0" algn="ctr">
              <a:buNone/>
            </a:pPr>
            <a:r>
              <a:rPr lang="en-US" sz="4400" dirty="0">
                <a:solidFill>
                  <a:schemeClr val="tx1"/>
                </a:solidFill>
              </a:rPr>
              <a:t>Probability</a:t>
            </a:r>
          </a:p>
        </p:txBody>
      </p:sp>
    </p:spTree>
    <p:extLst>
      <p:ext uri="{BB962C8B-B14F-4D97-AF65-F5344CB8AC3E}">
        <p14:creationId xmlns:p14="http://schemas.microsoft.com/office/powerpoint/2010/main" val="2444455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a:xfrm>
            <a:off x="466628" y="131145"/>
            <a:ext cx="8601172" cy="307777"/>
          </a:xfrm>
        </p:spPr>
        <p:txBody>
          <a:bodyPr/>
          <a:lstStyle/>
          <a:p>
            <a:r>
              <a:rPr lang="en-US" sz="2000" b="1" dirty="0"/>
              <a:t>Introduction to Probability</a:t>
            </a:r>
          </a:p>
        </p:txBody>
      </p:sp>
      <p:pic>
        <p:nvPicPr>
          <p:cNvPr id="4" name="Picture 3"/>
          <p:cNvPicPr>
            <a:picLocks noChangeAspect="1"/>
          </p:cNvPicPr>
          <p:nvPr/>
        </p:nvPicPr>
        <p:blipFill>
          <a:blip r:embed="rId2"/>
          <a:stretch>
            <a:fillRect/>
          </a:stretch>
        </p:blipFill>
        <p:spPr>
          <a:xfrm>
            <a:off x="1400175" y="1256349"/>
            <a:ext cx="9791700" cy="4876800"/>
          </a:xfrm>
          <a:prstGeom prst="rect">
            <a:avLst/>
          </a:prstGeom>
        </p:spPr>
      </p:pic>
      <p:sp>
        <p:nvSpPr>
          <p:cNvPr id="2" name="Rectangle 1"/>
          <p:cNvSpPr/>
          <p:nvPr/>
        </p:nvSpPr>
        <p:spPr>
          <a:xfrm>
            <a:off x="838199" y="524470"/>
            <a:ext cx="10734676" cy="646331"/>
          </a:xfrm>
          <a:prstGeom prst="rect">
            <a:avLst/>
          </a:prstGeom>
        </p:spPr>
        <p:txBody>
          <a:bodyPr wrap="square">
            <a:spAutoFit/>
          </a:bodyPr>
          <a:lstStyle/>
          <a:p>
            <a:r>
              <a:rPr lang="en-US" b="1" dirty="0"/>
              <a:t>Probability</a:t>
            </a:r>
            <a:r>
              <a:rPr lang="en-US" dirty="0"/>
              <a:t> is the study of chance. It is measured by the ratio of the favorable cases to the whole number of cases possible</a:t>
            </a:r>
          </a:p>
        </p:txBody>
      </p:sp>
    </p:spTree>
    <p:extLst>
      <p:ext uri="{BB962C8B-B14F-4D97-AF65-F5344CB8AC3E}">
        <p14:creationId xmlns:p14="http://schemas.microsoft.com/office/powerpoint/2010/main" val="3840618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a:xfrm>
            <a:off x="466628" y="131145"/>
            <a:ext cx="8601172" cy="307777"/>
          </a:xfrm>
        </p:spPr>
        <p:txBody>
          <a:bodyPr/>
          <a:lstStyle/>
          <a:p>
            <a:r>
              <a:rPr lang="en-US" sz="2000" b="1" dirty="0"/>
              <a:t>Event Types</a:t>
            </a:r>
          </a:p>
        </p:txBody>
      </p:sp>
      <p:pic>
        <p:nvPicPr>
          <p:cNvPr id="2" name="Picture 1"/>
          <p:cNvPicPr>
            <a:picLocks noChangeAspect="1"/>
          </p:cNvPicPr>
          <p:nvPr/>
        </p:nvPicPr>
        <p:blipFill>
          <a:blip r:embed="rId3"/>
          <a:stretch>
            <a:fillRect/>
          </a:stretch>
        </p:blipFill>
        <p:spPr>
          <a:xfrm>
            <a:off x="733329" y="1099914"/>
            <a:ext cx="9658350" cy="552450"/>
          </a:xfrm>
          <a:prstGeom prst="rect">
            <a:avLst/>
          </a:prstGeom>
        </p:spPr>
      </p:pic>
      <p:pic>
        <p:nvPicPr>
          <p:cNvPr id="5" name="Picture 4"/>
          <p:cNvPicPr>
            <a:picLocks noChangeAspect="1"/>
          </p:cNvPicPr>
          <p:nvPr/>
        </p:nvPicPr>
        <p:blipFill>
          <a:blip r:embed="rId4"/>
          <a:stretch>
            <a:fillRect/>
          </a:stretch>
        </p:blipFill>
        <p:spPr>
          <a:xfrm>
            <a:off x="685704" y="2202158"/>
            <a:ext cx="9658350" cy="590550"/>
          </a:xfrm>
          <a:prstGeom prst="rect">
            <a:avLst/>
          </a:prstGeom>
        </p:spPr>
      </p:pic>
      <p:pic>
        <p:nvPicPr>
          <p:cNvPr id="6" name="Picture 5"/>
          <p:cNvPicPr>
            <a:picLocks noChangeAspect="1"/>
          </p:cNvPicPr>
          <p:nvPr/>
        </p:nvPicPr>
        <p:blipFill>
          <a:blip r:embed="rId5"/>
          <a:stretch>
            <a:fillRect/>
          </a:stretch>
        </p:blipFill>
        <p:spPr>
          <a:xfrm>
            <a:off x="685704" y="3546294"/>
            <a:ext cx="9010650" cy="533400"/>
          </a:xfrm>
          <a:prstGeom prst="rect">
            <a:avLst/>
          </a:prstGeom>
        </p:spPr>
      </p:pic>
    </p:spTree>
    <p:extLst>
      <p:ext uri="{BB962C8B-B14F-4D97-AF65-F5344CB8AC3E}">
        <p14:creationId xmlns:p14="http://schemas.microsoft.com/office/powerpoint/2010/main" val="3236241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a:xfrm>
            <a:off x="466628" y="131145"/>
            <a:ext cx="8601172" cy="307777"/>
          </a:xfrm>
        </p:spPr>
        <p:txBody>
          <a:bodyPr/>
          <a:lstStyle/>
          <a:p>
            <a:r>
              <a:rPr lang="en-US" sz="2000" b="1" dirty="0"/>
              <a:t>Independent Events</a:t>
            </a:r>
          </a:p>
        </p:txBody>
      </p:sp>
      <p:pic>
        <p:nvPicPr>
          <p:cNvPr id="2" name="Picture 1"/>
          <p:cNvPicPr>
            <a:picLocks noChangeAspect="1"/>
          </p:cNvPicPr>
          <p:nvPr/>
        </p:nvPicPr>
        <p:blipFill rotWithShape="1">
          <a:blip r:embed="rId2"/>
          <a:srcRect b="26655"/>
          <a:stretch/>
        </p:blipFill>
        <p:spPr>
          <a:xfrm>
            <a:off x="1009650" y="2210447"/>
            <a:ext cx="10267950" cy="4210050"/>
          </a:xfrm>
          <a:prstGeom prst="rect">
            <a:avLst/>
          </a:prstGeom>
        </p:spPr>
      </p:pic>
      <p:sp>
        <p:nvSpPr>
          <p:cNvPr id="4" name="Rectangle 3"/>
          <p:cNvSpPr/>
          <p:nvPr/>
        </p:nvSpPr>
        <p:spPr>
          <a:xfrm>
            <a:off x="542924" y="566362"/>
            <a:ext cx="10734676" cy="923330"/>
          </a:xfrm>
          <a:prstGeom prst="rect">
            <a:avLst/>
          </a:prstGeom>
        </p:spPr>
        <p:txBody>
          <a:bodyPr wrap="square">
            <a:spAutoFit/>
          </a:bodyPr>
          <a:lstStyle/>
          <a:p>
            <a:r>
              <a:rPr lang="en-US" b="1" dirty="0">
                <a:solidFill>
                  <a:srgbClr val="232629"/>
                </a:solidFill>
                <a:latin typeface="Georgia" panose="02040502050405020303" pitchFamily="18" charset="0"/>
              </a:rPr>
              <a:t>Independent event</a:t>
            </a:r>
            <a:r>
              <a:rPr lang="en-US" dirty="0">
                <a:solidFill>
                  <a:srgbClr val="232629"/>
                </a:solidFill>
                <a:latin typeface="Georgia" panose="02040502050405020303" pitchFamily="18" charset="0"/>
              </a:rPr>
              <a:t> :- The occurrence of one event does not affect the occurrence of the others </a:t>
            </a:r>
            <a:r>
              <a:rPr lang="en-US" dirty="0" err="1">
                <a:solidFill>
                  <a:srgbClr val="232629"/>
                </a:solidFill>
                <a:latin typeface="Georgia" panose="02040502050405020303" pitchFamily="18" charset="0"/>
              </a:rPr>
              <a:t>e.g</a:t>
            </a:r>
            <a:r>
              <a:rPr lang="en-US" dirty="0">
                <a:solidFill>
                  <a:srgbClr val="232629"/>
                </a:solidFill>
                <a:latin typeface="Georgia" panose="02040502050405020303" pitchFamily="18" charset="0"/>
              </a:rPr>
              <a:t> if we flip a coin two times, the first time may show a head, but this does not guarantee that the next time when we flip the coin the outcome will also be heads</a:t>
            </a:r>
            <a:endParaRPr lang="en-US" dirty="0"/>
          </a:p>
        </p:txBody>
      </p:sp>
      <p:pic>
        <p:nvPicPr>
          <p:cNvPr id="5" name="Picture 4"/>
          <p:cNvPicPr>
            <a:picLocks noChangeAspect="1"/>
          </p:cNvPicPr>
          <p:nvPr/>
        </p:nvPicPr>
        <p:blipFill rotWithShape="1">
          <a:blip r:embed="rId3"/>
          <a:srcRect b="25621"/>
          <a:stretch/>
        </p:blipFill>
        <p:spPr>
          <a:xfrm>
            <a:off x="1293784" y="1553412"/>
            <a:ext cx="5438775" cy="602193"/>
          </a:xfrm>
          <a:prstGeom prst="rect">
            <a:avLst/>
          </a:prstGeom>
        </p:spPr>
      </p:pic>
    </p:spTree>
    <p:extLst>
      <p:ext uri="{BB962C8B-B14F-4D97-AF65-F5344CB8AC3E}">
        <p14:creationId xmlns:p14="http://schemas.microsoft.com/office/powerpoint/2010/main" val="1846364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a:xfrm>
            <a:off x="466628" y="131145"/>
            <a:ext cx="8601172" cy="307777"/>
          </a:xfrm>
        </p:spPr>
        <p:txBody>
          <a:bodyPr/>
          <a:lstStyle/>
          <a:p>
            <a:r>
              <a:rPr lang="en-US" sz="2000" b="1" dirty="0"/>
              <a:t>Dependent Events</a:t>
            </a:r>
          </a:p>
        </p:txBody>
      </p:sp>
      <p:pic>
        <p:nvPicPr>
          <p:cNvPr id="4" name="Picture 3"/>
          <p:cNvPicPr>
            <a:picLocks noChangeAspect="1"/>
          </p:cNvPicPr>
          <p:nvPr/>
        </p:nvPicPr>
        <p:blipFill>
          <a:blip r:embed="rId2"/>
          <a:stretch>
            <a:fillRect/>
          </a:stretch>
        </p:blipFill>
        <p:spPr>
          <a:xfrm>
            <a:off x="1684907" y="1056444"/>
            <a:ext cx="9229725" cy="4714041"/>
          </a:xfrm>
          <a:prstGeom prst="rect">
            <a:avLst/>
          </a:prstGeom>
        </p:spPr>
      </p:pic>
      <p:sp>
        <p:nvSpPr>
          <p:cNvPr id="2" name="Rectangle 1"/>
          <p:cNvSpPr/>
          <p:nvPr/>
        </p:nvSpPr>
        <p:spPr>
          <a:xfrm>
            <a:off x="466627" y="552609"/>
            <a:ext cx="11349551" cy="646331"/>
          </a:xfrm>
          <a:prstGeom prst="rect">
            <a:avLst/>
          </a:prstGeom>
        </p:spPr>
        <p:txBody>
          <a:bodyPr wrap="square">
            <a:spAutoFit/>
          </a:bodyPr>
          <a:lstStyle/>
          <a:p>
            <a:r>
              <a:rPr lang="en-US" dirty="0">
                <a:solidFill>
                  <a:srgbClr val="202124"/>
                </a:solidFill>
                <a:latin typeface="arial" panose="020B0604020202020204" pitchFamily="34" charset="0"/>
              </a:rPr>
              <a:t>Two events are said to be Dependent when the outcome of the first event influences the outcome of the second event.</a:t>
            </a:r>
            <a:endParaRPr lang="en-US" dirty="0"/>
          </a:p>
        </p:txBody>
      </p:sp>
      <p:sp>
        <p:nvSpPr>
          <p:cNvPr id="5" name="Rectangle 4"/>
          <p:cNvSpPr/>
          <p:nvPr/>
        </p:nvSpPr>
        <p:spPr>
          <a:xfrm>
            <a:off x="1968992" y="2019007"/>
            <a:ext cx="1422278" cy="646331"/>
          </a:xfrm>
          <a:prstGeom prst="rect">
            <a:avLst/>
          </a:prstGeom>
        </p:spPr>
        <p:txBody>
          <a:bodyPr wrap="square">
            <a:spAutoFit/>
          </a:bodyPr>
          <a:lstStyle/>
          <a:p>
            <a:r>
              <a:rPr lang="en-US" sz="1200" dirty="0">
                <a:solidFill>
                  <a:srgbClr val="333333"/>
                </a:solidFill>
                <a:latin typeface="Verdana" panose="020B0604030504040204" pitchFamily="34" charset="0"/>
              </a:rPr>
              <a:t>2 blue and 3 red marbles are in a bag.</a:t>
            </a:r>
            <a:endParaRPr lang="en-US" sz="1200" dirty="0"/>
          </a:p>
        </p:txBody>
      </p:sp>
      <p:sp>
        <p:nvSpPr>
          <p:cNvPr id="6" name="Rectangle 5"/>
          <p:cNvSpPr/>
          <p:nvPr/>
        </p:nvSpPr>
        <p:spPr>
          <a:xfrm>
            <a:off x="855215" y="5770485"/>
            <a:ext cx="10321771" cy="523220"/>
          </a:xfrm>
          <a:prstGeom prst="rect">
            <a:avLst/>
          </a:prstGeom>
        </p:spPr>
        <p:txBody>
          <a:bodyPr wrap="square">
            <a:spAutoFit/>
          </a:bodyPr>
          <a:lstStyle/>
          <a:p>
            <a:r>
              <a:rPr lang="en-US" sz="1400" b="1" dirty="0"/>
              <a:t>Without</a:t>
            </a:r>
            <a:r>
              <a:rPr lang="en-US" sz="1400" dirty="0"/>
              <a:t> Replacement: the events are </a:t>
            </a:r>
            <a:r>
              <a:rPr lang="en-US" sz="1400" b="1" dirty="0"/>
              <a:t>Dependent</a:t>
            </a:r>
            <a:r>
              <a:rPr lang="en-US" sz="1400" dirty="0"/>
              <a:t> (the chances change)</a:t>
            </a:r>
            <a:endParaRPr lang="en-US" sz="1400" b="1" dirty="0">
              <a:solidFill>
                <a:srgbClr val="333333"/>
              </a:solidFill>
              <a:latin typeface="Verdana" panose="020B0604030504040204" pitchFamily="34" charset="0"/>
            </a:endParaRPr>
          </a:p>
          <a:p>
            <a:r>
              <a:rPr lang="en-US" sz="1400" b="1" dirty="0">
                <a:solidFill>
                  <a:srgbClr val="333333"/>
                </a:solidFill>
                <a:latin typeface="Verdana" panose="020B0604030504040204" pitchFamily="34" charset="0"/>
              </a:rPr>
              <a:t>With</a:t>
            </a:r>
            <a:r>
              <a:rPr lang="en-US" sz="1400" dirty="0">
                <a:solidFill>
                  <a:srgbClr val="333333"/>
                </a:solidFill>
                <a:latin typeface="Verdana" panose="020B0604030504040204" pitchFamily="34" charset="0"/>
              </a:rPr>
              <a:t> Replacement: the events are </a:t>
            </a:r>
            <a:r>
              <a:rPr lang="en-US" sz="1400" b="1" dirty="0">
                <a:solidFill>
                  <a:srgbClr val="333333"/>
                </a:solidFill>
                <a:latin typeface="Verdana" panose="020B0604030504040204" pitchFamily="34" charset="0"/>
              </a:rPr>
              <a:t>Independent</a:t>
            </a:r>
            <a:r>
              <a:rPr lang="en-US" sz="1400" dirty="0">
                <a:solidFill>
                  <a:srgbClr val="333333"/>
                </a:solidFill>
                <a:latin typeface="Verdana" panose="020B0604030504040204" pitchFamily="34" charset="0"/>
              </a:rPr>
              <a:t> (the chances don't change)</a:t>
            </a:r>
            <a:endParaRPr lang="en-US" sz="1400" b="0" i="0" dirty="0">
              <a:solidFill>
                <a:srgbClr val="333333"/>
              </a:solidFill>
              <a:effectLst/>
              <a:latin typeface="Verdana" panose="020B0604030504040204" pitchFamily="34" charset="0"/>
            </a:endParaRPr>
          </a:p>
        </p:txBody>
      </p:sp>
    </p:spTree>
    <p:extLst>
      <p:ext uri="{BB962C8B-B14F-4D97-AF65-F5344CB8AC3E}">
        <p14:creationId xmlns:p14="http://schemas.microsoft.com/office/powerpoint/2010/main" val="1070978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a:xfrm>
            <a:off x="466628" y="131145"/>
            <a:ext cx="8601172" cy="307777"/>
          </a:xfrm>
        </p:spPr>
        <p:txBody>
          <a:bodyPr/>
          <a:lstStyle/>
          <a:p>
            <a:r>
              <a:rPr lang="en-US" sz="2000" b="1" dirty="0"/>
              <a:t>Mutually Exclusive Events</a:t>
            </a:r>
          </a:p>
        </p:txBody>
      </p:sp>
      <p:sp>
        <p:nvSpPr>
          <p:cNvPr id="4" name="Rectangle 3"/>
          <p:cNvSpPr/>
          <p:nvPr/>
        </p:nvSpPr>
        <p:spPr>
          <a:xfrm>
            <a:off x="466628" y="2814163"/>
            <a:ext cx="11172922" cy="3139321"/>
          </a:xfrm>
          <a:prstGeom prst="rect">
            <a:avLst/>
          </a:prstGeom>
        </p:spPr>
        <p:txBody>
          <a:bodyPr wrap="square">
            <a:spAutoFit/>
          </a:bodyPr>
          <a:lstStyle/>
          <a:p>
            <a:r>
              <a:rPr lang="en-US" dirty="0">
                <a:solidFill>
                  <a:srgbClr val="333333"/>
                </a:solidFill>
                <a:latin typeface="Roboto"/>
              </a:rPr>
              <a:t>When tossing a coin, the event of getting head and tail are mutually exclusive. Because the probability of getting head and tail simultaneously is 0</a:t>
            </a:r>
          </a:p>
          <a:p>
            <a:endParaRPr lang="en-US" b="0" i="0" dirty="0">
              <a:solidFill>
                <a:srgbClr val="333333"/>
              </a:solidFill>
              <a:effectLst/>
              <a:latin typeface="Roboto"/>
            </a:endParaRPr>
          </a:p>
          <a:p>
            <a:r>
              <a:rPr lang="en-US" dirty="0"/>
              <a:t>In a six-sided die, the events “2” and “5” are mutually exclusive. We cannot get both the events 2 and 5 at the same time when we threw one die.</a:t>
            </a:r>
          </a:p>
          <a:p>
            <a:endParaRPr lang="en-US" b="0" i="0" dirty="0">
              <a:solidFill>
                <a:srgbClr val="333333"/>
              </a:solidFill>
              <a:effectLst/>
              <a:latin typeface="Roboto"/>
            </a:endParaRPr>
          </a:p>
          <a:p>
            <a:r>
              <a:rPr lang="en-US" dirty="0"/>
              <a:t>In a deck of 52 cards, drawing a red card and drawing a club are mutually exclusive events because all the clubs are black</a:t>
            </a:r>
          </a:p>
          <a:p>
            <a:endParaRPr lang="en-US" dirty="0"/>
          </a:p>
          <a:p>
            <a:r>
              <a:rPr lang="en-US" dirty="0"/>
              <a:t>The probability of a King </a:t>
            </a:r>
            <a:r>
              <a:rPr lang="en-US" b="1" dirty="0"/>
              <a:t>and</a:t>
            </a:r>
            <a:r>
              <a:rPr lang="en-US" dirty="0"/>
              <a:t> a Queen is </a:t>
            </a:r>
            <a:r>
              <a:rPr lang="en-US" b="1" dirty="0"/>
              <a:t>0</a:t>
            </a:r>
            <a:r>
              <a:rPr lang="en-US" dirty="0"/>
              <a:t> (Impossible); A card cannot be a King AND a Queen at the same time</a:t>
            </a:r>
            <a:endParaRPr lang="en-US" b="0" i="0" dirty="0">
              <a:solidFill>
                <a:srgbClr val="333333"/>
              </a:solidFill>
              <a:effectLst/>
              <a:latin typeface="Roboto"/>
            </a:endParaRPr>
          </a:p>
        </p:txBody>
      </p:sp>
      <p:sp>
        <p:nvSpPr>
          <p:cNvPr id="5" name="Rectangle 4"/>
          <p:cNvSpPr/>
          <p:nvPr/>
        </p:nvSpPr>
        <p:spPr>
          <a:xfrm>
            <a:off x="390428" y="791258"/>
            <a:ext cx="10182225" cy="646331"/>
          </a:xfrm>
          <a:prstGeom prst="rect">
            <a:avLst/>
          </a:prstGeom>
        </p:spPr>
        <p:txBody>
          <a:bodyPr wrap="square">
            <a:spAutoFit/>
          </a:bodyPr>
          <a:lstStyle/>
          <a:p>
            <a:r>
              <a:rPr lang="en-US" b="1" dirty="0">
                <a:solidFill>
                  <a:srgbClr val="232629"/>
                </a:solidFill>
                <a:latin typeface="Georgia" panose="02040502050405020303" pitchFamily="18" charset="0"/>
              </a:rPr>
              <a:t>Mutually exclusive event</a:t>
            </a:r>
            <a:r>
              <a:rPr lang="en-US" dirty="0">
                <a:solidFill>
                  <a:srgbClr val="232629"/>
                </a:solidFill>
                <a:latin typeface="Georgia" panose="02040502050405020303" pitchFamily="18" charset="0"/>
              </a:rPr>
              <a:t> :- two events are mutually exclusive event when they cannot occur at the same time. </a:t>
            </a:r>
            <a:r>
              <a:rPr lang="en-US" dirty="0" err="1">
                <a:solidFill>
                  <a:srgbClr val="232629"/>
                </a:solidFill>
                <a:latin typeface="Georgia" panose="02040502050405020303" pitchFamily="18" charset="0"/>
              </a:rPr>
              <a:t>e.g</a:t>
            </a:r>
            <a:r>
              <a:rPr lang="en-US" dirty="0">
                <a:solidFill>
                  <a:srgbClr val="232629"/>
                </a:solidFill>
                <a:latin typeface="Georgia" panose="02040502050405020303" pitchFamily="18" charset="0"/>
              </a:rPr>
              <a:t> if we flip a coin it can only show a head OR a tail, not both.</a:t>
            </a:r>
            <a:endParaRPr lang="en-US" dirty="0"/>
          </a:p>
        </p:txBody>
      </p:sp>
      <p:pic>
        <p:nvPicPr>
          <p:cNvPr id="6" name="Picture 5"/>
          <p:cNvPicPr>
            <a:picLocks noChangeAspect="1"/>
          </p:cNvPicPr>
          <p:nvPr/>
        </p:nvPicPr>
        <p:blipFill rotWithShape="1">
          <a:blip r:embed="rId2"/>
          <a:srcRect b="42561"/>
          <a:stretch/>
        </p:blipFill>
        <p:spPr>
          <a:xfrm>
            <a:off x="2890741" y="1549842"/>
            <a:ext cx="4810125" cy="793308"/>
          </a:xfrm>
          <a:prstGeom prst="rect">
            <a:avLst/>
          </a:prstGeom>
        </p:spPr>
      </p:pic>
      <p:pic>
        <p:nvPicPr>
          <p:cNvPr id="7" name="Picture 6"/>
          <p:cNvPicPr>
            <a:picLocks noChangeAspect="1"/>
          </p:cNvPicPr>
          <p:nvPr/>
        </p:nvPicPr>
        <p:blipFill>
          <a:blip r:embed="rId3"/>
          <a:stretch>
            <a:fillRect/>
          </a:stretch>
        </p:blipFill>
        <p:spPr>
          <a:xfrm>
            <a:off x="8602370" y="1260696"/>
            <a:ext cx="2657475" cy="1371600"/>
          </a:xfrm>
          <a:prstGeom prst="rect">
            <a:avLst/>
          </a:prstGeom>
        </p:spPr>
      </p:pic>
    </p:spTree>
    <p:extLst>
      <p:ext uri="{BB962C8B-B14F-4D97-AF65-F5344CB8AC3E}">
        <p14:creationId xmlns:p14="http://schemas.microsoft.com/office/powerpoint/2010/main" val="1291628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a:xfrm>
            <a:off x="466628" y="131145"/>
            <a:ext cx="8601172" cy="307777"/>
          </a:xfrm>
        </p:spPr>
        <p:txBody>
          <a:bodyPr/>
          <a:lstStyle/>
          <a:p>
            <a:r>
              <a:rPr lang="en-US" sz="2000" b="1" dirty="0"/>
              <a:t>Bayes Theorem</a:t>
            </a:r>
          </a:p>
        </p:txBody>
      </p:sp>
      <p:pic>
        <p:nvPicPr>
          <p:cNvPr id="4" name="Picture 3"/>
          <p:cNvPicPr>
            <a:picLocks noChangeAspect="1"/>
          </p:cNvPicPr>
          <p:nvPr/>
        </p:nvPicPr>
        <p:blipFill>
          <a:blip r:embed="rId2"/>
          <a:stretch>
            <a:fillRect/>
          </a:stretch>
        </p:blipFill>
        <p:spPr>
          <a:xfrm>
            <a:off x="5087240" y="1199681"/>
            <a:ext cx="6888737" cy="5041320"/>
          </a:xfrm>
          <a:prstGeom prst="rect">
            <a:avLst/>
          </a:prstGeom>
        </p:spPr>
      </p:pic>
      <p:pic>
        <p:nvPicPr>
          <p:cNvPr id="2050" name="Picture 2" descr="Bayes Rule. Bayes' Theorem is a simple mathematical… | by Swapnil Bandgar |  Analytics Vidhya | 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6628" y="1199681"/>
            <a:ext cx="4352925" cy="232410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466628" y="540525"/>
            <a:ext cx="11509349" cy="369332"/>
          </a:xfrm>
          <a:prstGeom prst="rect">
            <a:avLst/>
          </a:prstGeom>
        </p:spPr>
        <p:txBody>
          <a:bodyPr wrap="square">
            <a:spAutoFit/>
          </a:bodyPr>
          <a:lstStyle/>
          <a:p>
            <a:r>
              <a:rPr lang="en-US" dirty="0"/>
              <a:t>Describes the probability of an event, based on prior knowledge of conditions that might be related to the event</a:t>
            </a:r>
          </a:p>
        </p:txBody>
      </p:sp>
      <p:sp>
        <p:nvSpPr>
          <p:cNvPr id="6" name="TextBox 5"/>
          <p:cNvSpPr txBox="1"/>
          <p:nvPr/>
        </p:nvSpPr>
        <p:spPr>
          <a:xfrm>
            <a:off x="3586579" y="2068496"/>
            <a:ext cx="508473" cy="276999"/>
          </a:xfrm>
          <a:prstGeom prst="rect">
            <a:avLst/>
          </a:prstGeom>
          <a:noFill/>
        </p:spPr>
        <p:txBody>
          <a:bodyPr wrap="none" rtlCol="0">
            <a:spAutoFit/>
          </a:bodyPr>
          <a:lstStyle/>
          <a:p>
            <a:r>
              <a:rPr lang="en-US" sz="1200" dirty="0"/>
              <a:t>Prior</a:t>
            </a:r>
          </a:p>
        </p:txBody>
      </p:sp>
      <p:sp>
        <p:nvSpPr>
          <p:cNvPr id="8" name="TextBox 7"/>
          <p:cNvSpPr txBox="1"/>
          <p:nvPr/>
        </p:nvSpPr>
        <p:spPr>
          <a:xfrm>
            <a:off x="3586579" y="2361731"/>
            <a:ext cx="771365" cy="276999"/>
          </a:xfrm>
          <a:prstGeom prst="rect">
            <a:avLst/>
          </a:prstGeom>
          <a:noFill/>
        </p:spPr>
        <p:txBody>
          <a:bodyPr wrap="none" rtlCol="0">
            <a:spAutoFit/>
          </a:bodyPr>
          <a:lstStyle/>
          <a:p>
            <a:r>
              <a:rPr lang="en-US" sz="1200" dirty="0"/>
              <a:t>Marginal</a:t>
            </a:r>
          </a:p>
        </p:txBody>
      </p:sp>
      <p:sp>
        <p:nvSpPr>
          <p:cNvPr id="9" name="TextBox 8"/>
          <p:cNvSpPr txBox="1"/>
          <p:nvPr/>
        </p:nvSpPr>
        <p:spPr>
          <a:xfrm>
            <a:off x="3586579" y="2635319"/>
            <a:ext cx="798617" cy="276999"/>
          </a:xfrm>
          <a:prstGeom prst="rect">
            <a:avLst/>
          </a:prstGeom>
          <a:noFill/>
        </p:spPr>
        <p:txBody>
          <a:bodyPr wrap="none" rtlCol="0">
            <a:spAutoFit/>
          </a:bodyPr>
          <a:lstStyle/>
          <a:p>
            <a:r>
              <a:rPr lang="en-US" sz="1200" dirty="0"/>
              <a:t>Posterior</a:t>
            </a:r>
          </a:p>
        </p:txBody>
      </p:sp>
      <p:sp>
        <p:nvSpPr>
          <p:cNvPr id="10" name="TextBox 9"/>
          <p:cNvSpPr txBox="1"/>
          <p:nvPr/>
        </p:nvSpPr>
        <p:spPr>
          <a:xfrm>
            <a:off x="3586579" y="2859313"/>
            <a:ext cx="872355" cy="276999"/>
          </a:xfrm>
          <a:prstGeom prst="rect">
            <a:avLst/>
          </a:prstGeom>
          <a:noFill/>
        </p:spPr>
        <p:txBody>
          <a:bodyPr wrap="none" rtlCol="0">
            <a:spAutoFit/>
          </a:bodyPr>
          <a:lstStyle/>
          <a:p>
            <a:r>
              <a:rPr lang="en-US" sz="1200" dirty="0"/>
              <a:t>Likelihood</a:t>
            </a:r>
          </a:p>
        </p:txBody>
      </p:sp>
    </p:spTree>
    <p:extLst>
      <p:ext uri="{BB962C8B-B14F-4D97-AF65-F5344CB8AC3E}">
        <p14:creationId xmlns:p14="http://schemas.microsoft.com/office/powerpoint/2010/main" val="657858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ifferent Types of Probability Distribution (Characteristics &amp; Examples) -  DatabaseTown"/>
          <p:cNvPicPr>
            <a:picLocks noChangeAspect="1" noChangeArrowheads="1"/>
          </p:cNvPicPr>
          <p:nvPr/>
        </p:nvPicPr>
        <p:blipFill rotWithShape="1">
          <a:blip r:embed="rId3" cstate="print">
            <a:grayscl/>
            <a:extLst>
              <a:ext uri="{28A0092B-C50C-407E-A947-70E740481C1C}">
                <a14:useLocalDpi xmlns:a14="http://schemas.microsoft.com/office/drawing/2010/main" val="0"/>
              </a:ext>
            </a:extLst>
          </a:blip>
          <a:srcRect t="46034" b="13256"/>
          <a:stretch/>
        </p:blipFill>
        <p:spPr bwMode="auto">
          <a:xfrm>
            <a:off x="585818" y="3057525"/>
            <a:ext cx="11110882" cy="3465952"/>
          </a:xfrm>
          <a:prstGeom prst="rect">
            <a:avLst/>
          </a:prstGeom>
          <a:noFill/>
          <a:extLst>
            <a:ext uri="{909E8E84-426E-40DD-AFC4-6F175D3DCCD1}">
              <a14:hiddenFill xmlns:a14="http://schemas.microsoft.com/office/drawing/2010/main">
                <a:solidFill>
                  <a:srgbClr val="FFFFFF"/>
                </a:solidFill>
              </a14:hiddenFill>
            </a:ext>
          </a:extLst>
        </p:spPr>
      </p:pic>
      <p:sp>
        <p:nvSpPr>
          <p:cNvPr id="7" name="Text Placeholder 2"/>
          <p:cNvSpPr>
            <a:spLocks noGrp="1"/>
          </p:cNvSpPr>
          <p:nvPr>
            <p:ph type="body" sz="quarter" idx="13"/>
          </p:nvPr>
        </p:nvSpPr>
        <p:spPr>
          <a:xfrm>
            <a:off x="466628" y="131145"/>
            <a:ext cx="8601172" cy="307777"/>
          </a:xfrm>
        </p:spPr>
        <p:txBody>
          <a:bodyPr/>
          <a:lstStyle/>
          <a:p>
            <a:r>
              <a:rPr lang="en-US" sz="2000" b="1" dirty="0"/>
              <a:t>Probability Distribution</a:t>
            </a:r>
          </a:p>
        </p:txBody>
      </p:sp>
      <p:sp>
        <p:nvSpPr>
          <p:cNvPr id="9" name="TextBox 8"/>
          <p:cNvSpPr txBox="1"/>
          <p:nvPr/>
        </p:nvSpPr>
        <p:spPr>
          <a:xfrm>
            <a:off x="466628" y="657225"/>
            <a:ext cx="11344373" cy="2062103"/>
          </a:xfrm>
          <a:prstGeom prst="rect">
            <a:avLst/>
          </a:prstGeom>
          <a:noFill/>
        </p:spPr>
        <p:txBody>
          <a:bodyPr wrap="square" rtlCol="0">
            <a:spAutoFit/>
          </a:bodyPr>
          <a:lstStyle/>
          <a:p>
            <a:r>
              <a:rPr lang="en-US" sz="1400" dirty="0"/>
              <a:t>A </a:t>
            </a:r>
            <a:r>
              <a:rPr lang="en-US" sz="1400" b="1" dirty="0"/>
              <a:t>probability distribution</a:t>
            </a:r>
            <a:r>
              <a:rPr lang="en-US" sz="1400" dirty="0"/>
              <a:t> is a statistical function that describes the likelihood of obtaining </a:t>
            </a:r>
            <a:r>
              <a:rPr lang="en-US" sz="1400" dirty="0">
                <a:solidFill>
                  <a:srgbClr val="FF0000"/>
                </a:solidFill>
              </a:rPr>
              <a:t>all possible values </a:t>
            </a:r>
            <a:r>
              <a:rPr lang="en-US" sz="1400" dirty="0"/>
              <a:t>that a random variable can take</a:t>
            </a:r>
            <a:br>
              <a:rPr lang="en-US" sz="1400" dirty="0"/>
            </a:br>
            <a:br>
              <a:rPr lang="en-US" sz="1400" dirty="0"/>
            </a:br>
            <a:r>
              <a:rPr lang="en-US" sz="1400" b="1" dirty="0"/>
              <a:t>Discrete distribution </a:t>
            </a:r>
            <a:r>
              <a:rPr lang="en-US" sz="1400" dirty="0"/>
              <a:t>describes the probability of occurrence of each value of a discrete random variable. A discrete random variable is a random variable that has countable values, such as a list of non-negative integers</a:t>
            </a:r>
          </a:p>
          <a:p>
            <a:r>
              <a:rPr lang="en-US" altLang="en-US" sz="1400" b="1" dirty="0">
                <a:solidFill>
                  <a:srgbClr val="000000"/>
                </a:solidFill>
                <a:latin typeface="Tahoma" panose="020B0604030504040204" pitchFamily="34" charset="0"/>
                <a:cs typeface="Tahoma" panose="020B0604030504040204" pitchFamily="34" charset="0"/>
              </a:rPr>
              <a:t>Probability mass function  </a:t>
            </a:r>
            <a:r>
              <a:rPr lang="en-US" altLang="en-US" sz="1400" dirty="0">
                <a:solidFill>
                  <a:srgbClr val="000000"/>
                </a:solidFill>
                <a:latin typeface="Tahoma" panose="020B0604030504040204" pitchFamily="34" charset="0"/>
                <a:cs typeface="Tahoma" panose="020B0604030504040204" pitchFamily="34" charset="0"/>
              </a:rPr>
              <a:t>of a discrete random variable </a:t>
            </a:r>
            <a:r>
              <a:rPr lang="en-US" altLang="en-US" sz="1600" dirty="0">
                <a:solidFill>
                  <a:srgbClr val="000000"/>
                </a:solidFill>
                <a:latin typeface="MathJax_Math-italic"/>
                <a:cs typeface="Tahoma" panose="020B0604030504040204" pitchFamily="34" charset="0"/>
              </a:rPr>
              <a:t>X</a:t>
            </a:r>
            <a:r>
              <a:rPr lang="en-US" altLang="en-US" sz="1400" dirty="0">
                <a:solidFill>
                  <a:srgbClr val="000000"/>
                </a:solidFill>
                <a:latin typeface="Tahoma" panose="020B0604030504040204" pitchFamily="34" charset="0"/>
                <a:cs typeface="Tahoma" panose="020B0604030504040204" pitchFamily="34" charset="0"/>
              </a:rPr>
              <a:t> assigns probabilities to the possible values of the random variable</a:t>
            </a:r>
            <a:r>
              <a:rPr lang="en-US" altLang="en-US" sz="900" dirty="0"/>
              <a:t> </a:t>
            </a:r>
            <a:endParaRPr lang="en-US" altLang="en-US" sz="2000" dirty="0">
              <a:latin typeface="Arial" panose="020B0604020202020204" pitchFamily="34" charset="0"/>
            </a:endParaRPr>
          </a:p>
          <a:p>
            <a:br>
              <a:rPr lang="en-US" sz="1400" dirty="0"/>
            </a:br>
            <a:r>
              <a:rPr lang="en-US" sz="1400" b="1" dirty="0"/>
              <a:t>Continuous distribution </a:t>
            </a:r>
            <a:r>
              <a:rPr lang="en-US" sz="1400" dirty="0"/>
              <a:t>describes the probabilities of the possible values of a continuous random variable. A continuous random variable is a random variable with a set of possible values (known as the range) that is infinite and uncountable. Probabilities of continuous random variables (X) are defined as the area under the curve of its PDF</a:t>
            </a:r>
          </a:p>
        </p:txBody>
      </p:sp>
    </p:spTree>
    <p:extLst>
      <p:ext uri="{BB962C8B-B14F-4D97-AF65-F5344CB8AC3E}">
        <p14:creationId xmlns:p14="http://schemas.microsoft.com/office/powerpoint/2010/main" val="522029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2"/>
          <p:cNvSpPr>
            <a:spLocks noGrp="1"/>
          </p:cNvSpPr>
          <p:nvPr>
            <p:ph type="body" sz="quarter" idx="13"/>
          </p:nvPr>
        </p:nvSpPr>
        <p:spPr>
          <a:xfrm>
            <a:off x="466628" y="131145"/>
            <a:ext cx="8601172" cy="307777"/>
          </a:xfrm>
        </p:spPr>
        <p:txBody>
          <a:bodyPr/>
          <a:lstStyle/>
          <a:p>
            <a:r>
              <a:rPr lang="en-US" sz="2000" b="1" dirty="0"/>
              <a:t>Discrete Distributions</a:t>
            </a:r>
          </a:p>
        </p:txBody>
      </p:sp>
      <p:sp>
        <p:nvSpPr>
          <p:cNvPr id="10" name="Content Placeholder 2"/>
          <p:cNvSpPr>
            <a:spLocks noGrp="1"/>
          </p:cNvSpPr>
          <p:nvPr>
            <p:ph idx="1"/>
          </p:nvPr>
        </p:nvSpPr>
        <p:spPr>
          <a:xfrm>
            <a:off x="466628" y="700671"/>
            <a:ext cx="10848975" cy="4958280"/>
          </a:xfrm>
        </p:spPr>
        <p:txBody>
          <a:bodyPr/>
          <a:lstStyle/>
          <a:p>
            <a:pPr marL="0" indent="0">
              <a:buNone/>
            </a:pPr>
            <a:r>
              <a:rPr lang="en-US" b="1" dirty="0"/>
              <a:t>Binomial</a:t>
            </a:r>
            <a:r>
              <a:rPr lang="en-US" b="0" dirty="0"/>
              <a:t>: Probability of </a:t>
            </a:r>
            <a:r>
              <a:rPr lang="en-US" dirty="0"/>
              <a:t>number of successes ( j ) in a sequence of n independent experiments</a:t>
            </a:r>
          </a:p>
          <a:p>
            <a:pPr marL="0" indent="0">
              <a:buNone/>
            </a:pPr>
            <a:r>
              <a:rPr lang="en-US" b="0" dirty="0"/>
              <a:t>Applies to process that has two outcomes. Head vs. Tail, success vs. failure, fault vs. no-fault</a:t>
            </a:r>
          </a:p>
          <a:p>
            <a:pPr marL="0" indent="0">
              <a:buNone/>
            </a:pPr>
            <a:r>
              <a:rPr lang="en-US" b="0" dirty="0"/>
              <a:t>Number of attempts = n</a:t>
            </a:r>
          </a:p>
          <a:p>
            <a:pPr marL="0" indent="0">
              <a:buNone/>
            </a:pPr>
            <a:r>
              <a:rPr lang="en-US" b="0" dirty="0"/>
              <a:t>Number of success = j</a:t>
            </a:r>
          </a:p>
          <a:p>
            <a:pPr marL="0" indent="0">
              <a:buNone/>
            </a:pPr>
            <a:r>
              <a:rPr lang="en-US" b="0" dirty="0"/>
              <a:t>Probability of success is = p</a:t>
            </a:r>
          </a:p>
          <a:p>
            <a:pPr marL="0" indent="0">
              <a:buNone/>
            </a:pPr>
            <a:r>
              <a:rPr lang="en-US" b="0" dirty="0"/>
              <a:t>Probability of failure  = 1-p</a:t>
            </a:r>
          </a:p>
          <a:p>
            <a:endParaRPr lang="en-US" b="0" dirty="0"/>
          </a:p>
          <a:p>
            <a:endParaRPr lang="en-US" b="0" dirty="0"/>
          </a:p>
          <a:p>
            <a:pPr>
              <a:buNone/>
            </a:pPr>
            <a:r>
              <a:rPr lang="en-US" b="1" dirty="0"/>
              <a:t>Poisson</a:t>
            </a:r>
            <a:r>
              <a:rPr lang="en-US" b="0" dirty="0"/>
              <a:t>: </a:t>
            </a:r>
            <a:r>
              <a:rPr lang="en-US" dirty="0"/>
              <a:t>Probability of a given number of events (k) occurring </a:t>
            </a:r>
          </a:p>
          <a:p>
            <a:pPr>
              <a:buNone/>
            </a:pPr>
            <a:r>
              <a:rPr lang="en-US" dirty="0"/>
              <a:t>in a fixed interval of time or space </a:t>
            </a:r>
          </a:p>
          <a:p>
            <a:pPr>
              <a:buNone/>
            </a:pPr>
            <a:r>
              <a:rPr lang="en-US" b="0" dirty="0"/>
              <a:t>Ex: Rate of arrival of messages, failure on an airplane</a:t>
            </a:r>
          </a:p>
          <a:p>
            <a:pPr>
              <a:buNone/>
            </a:pPr>
            <a:endParaRPr lang="en-US" b="0" dirty="0"/>
          </a:p>
          <a:p>
            <a:endParaRPr lang="en-US" b="0" dirty="0"/>
          </a:p>
          <a:p>
            <a:endParaRPr lang="en-US" b="0" dirty="0"/>
          </a:p>
        </p:txBody>
      </p:sp>
      <p:sp>
        <p:nvSpPr>
          <p:cNvPr id="12" name="Slide Number Placeholder 4"/>
          <p:cNvSpPr>
            <a:spLocks noGrp="1"/>
          </p:cNvSpPr>
          <p:nvPr>
            <p:ph type="sldNum" sz="quarter" idx="14"/>
          </p:nvPr>
        </p:nvSpPr>
        <p:spPr>
          <a:xfrm>
            <a:off x="10142220" y="6515100"/>
            <a:ext cx="1554480" cy="91440"/>
          </a:xfrm>
        </p:spPr>
        <p:txBody>
          <a:bodyPr/>
          <a:lstStyle/>
          <a:p>
            <a:r>
              <a:rPr lang="en-US"/>
              <a:t>Author, </a:t>
            </a:r>
            <a:fld id="{D72BAC86-7CA1-47DD-8EAD-39EA91178256}" type="datetime1">
              <a:rPr lang="en-US" smtClean="0"/>
              <a:pPr/>
              <a:t>11/12/2025</a:t>
            </a:fld>
            <a:r>
              <a:rPr lang="en-US"/>
              <a:t>, Filename.ppt </a:t>
            </a:r>
            <a:r>
              <a:rPr lang="en-US" sz="1000"/>
              <a:t>| </a:t>
            </a:r>
            <a:fld id="{689318A1-174D-4DEE-8106-03A37B9BCF15}" type="slidenum">
              <a:rPr lang="en-US" sz="1000"/>
              <a:pPr/>
              <a:t>22</a:t>
            </a:fld>
            <a:endParaRPr lang="en-US" sz="1000" dirty="0"/>
          </a:p>
        </p:txBody>
      </p:sp>
      <mc:AlternateContent xmlns:mc="http://schemas.openxmlformats.org/markup-compatibility/2006" xmlns:a14="http://schemas.microsoft.com/office/drawing/2010/main">
        <mc:Choice Requires="a14">
          <p:sp>
            <p:nvSpPr>
              <p:cNvPr id="13" name="TextBox 12"/>
              <p:cNvSpPr txBox="1"/>
              <p:nvPr/>
            </p:nvSpPr>
            <p:spPr>
              <a:xfrm>
                <a:off x="4537004" y="1613108"/>
                <a:ext cx="3316805" cy="430311"/>
              </a:xfrm>
              <a:prstGeom prst="rect">
                <a:avLst/>
              </a:prstGeom>
              <a:noFill/>
            </p:spPr>
            <p:txBody>
              <a:bodyPr wrap="none" lIns="0" tIns="0" rIns="0" bIns="0" rtlCol="0">
                <a:spAutoFit/>
              </a:bodyPr>
              <a:lstStyle/>
              <a:p>
                <a:r>
                  <a:rPr lang="en-US" dirty="0"/>
                  <a:t>P(x=j)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𝑛</m:t>
                        </m:r>
                        <m:r>
                          <a:rPr lang="en-US" b="0" i="1" smtClean="0">
                            <a:latin typeface="Cambria Math" panose="02040503050406030204" pitchFamily="18" charset="0"/>
                          </a:rPr>
                          <m:t>!</m:t>
                        </m:r>
                      </m:num>
                      <m:den>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𝑗</m:t>
                            </m:r>
                          </m:e>
                        </m:d>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m:t>
                        </m:r>
                      </m:den>
                    </m:f>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𝑝</m:t>
                        </m:r>
                      </m:e>
                      <m:sup>
                        <m:r>
                          <a:rPr lang="en-US" b="0" i="1" smtClean="0">
                            <a:latin typeface="Cambria Math" panose="02040503050406030204" pitchFamily="18" charset="0"/>
                          </a:rPr>
                          <m:t>𝑖</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(1−</m:t>
                        </m:r>
                        <m:r>
                          <a:rPr lang="en-US" b="0" i="1" smtClean="0">
                            <a:latin typeface="Cambria Math" panose="02040503050406030204" pitchFamily="18" charset="0"/>
                          </a:rPr>
                          <m:t>𝑝</m:t>
                        </m:r>
                        <m:r>
                          <a:rPr lang="en-US" b="0" i="1" smtClean="0">
                            <a:latin typeface="Cambria Math" panose="02040503050406030204" pitchFamily="18" charset="0"/>
                          </a:rPr>
                          <m:t>)</m:t>
                        </m:r>
                      </m:e>
                      <m:sup>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𝑖</m:t>
                        </m:r>
                      </m:sup>
                    </m:sSup>
                  </m:oMath>
                </a14:m>
                <a:endParaRPr lang="en-US" dirty="0"/>
              </a:p>
            </p:txBody>
          </p:sp>
        </mc:Choice>
        <mc:Fallback xmlns="">
          <p:sp>
            <p:nvSpPr>
              <p:cNvPr id="13" name="TextBox 12"/>
              <p:cNvSpPr txBox="1">
                <a:spLocks noRot="1" noChangeAspect="1" noMove="1" noResize="1" noEditPoints="1" noAdjustHandles="1" noChangeArrowheads="1" noChangeShapeType="1" noTextEdit="1"/>
              </p:cNvSpPr>
              <p:nvPr/>
            </p:nvSpPr>
            <p:spPr>
              <a:xfrm>
                <a:off x="4537004" y="1613108"/>
                <a:ext cx="3316805" cy="430311"/>
              </a:xfrm>
              <a:prstGeom prst="rect">
                <a:avLst/>
              </a:prstGeom>
              <a:blipFill rotWithShape="0">
                <a:blip r:embed="rId3"/>
                <a:stretch>
                  <a:fillRect l="-4228" t="-4286" r="-735" b="-1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4661214" y="2211846"/>
                <a:ext cx="2259145" cy="8309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𝑝</m:t>
                      </m:r>
                    </m:oMath>
                  </m:oMathPara>
                </a14:m>
                <a:endParaRPr lang="en-US" b="0" dirty="0">
                  <a:latin typeface="Arial" panose="020B0604020202020204" pitchFamily="34" charset="0"/>
                  <a:cs typeface="Arial" panose="020B0604020202020204" pitchFamily="34" charset="0"/>
                </a:endParaRPr>
              </a:p>
              <a:p>
                <a:endParaRPr lang="en-US" dirty="0"/>
              </a:p>
              <a:p>
                <a:pPr lvl="1"/>
                <a:r>
                  <a:rPr lang="en-US" dirty="0" err="1"/>
                  <a:t>Var</a:t>
                </a:r>
                <a:r>
                  <a:rPr lang="en-US" dirty="0"/>
                  <a:t>(x) = n*p*(1-p)</a:t>
                </a:r>
              </a:p>
            </p:txBody>
          </p:sp>
        </mc:Choice>
        <mc:Fallback xmlns="">
          <p:sp>
            <p:nvSpPr>
              <p:cNvPr id="14" name="TextBox 13"/>
              <p:cNvSpPr txBox="1">
                <a:spLocks noRot="1" noChangeAspect="1" noMove="1" noResize="1" noEditPoints="1" noAdjustHandles="1" noChangeArrowheads="1" noChangeShapeType="1" noTextEdit="1"/>
              </p:cNvSpPr>
              <p:nvPr/>
            </p:nvSpPr>
            <p:spPr>
              <a:xfrm>
                <a:off x="4661214" y="2211846"/>
                <a:ext cx="2259145" cy="830997"/>
              </a:xfrm>
              <a:prstGeom prst="rect">
                <a:avLst/>
              </a:prstGeom>
              <a:blipFill rotWithShape="0">
                <a:blip r:embed="rId4"/>
                <a:stretch>
                  <a:fillRect r="-6216" b="-16176"/>
                </a:stretch>
              </a:blipFill>
            </p:spPr>
            <p:txBody>
              <a:bodyPr/>
              <a:lstStyle/>
              <a:p>
                <a:r>
                  <a:rPr lang="en-US">
                    <a:noFill/>
                  </a:rPr>
                  <a:t> </a:t>
                </a:r>
              </a:p>
            </p:txBody>
          </p:sp>
        </mc:Fallback>
      </mc:AlternateContent>
      <p:grpSp>
        <p:nvGrpSpPr>
          <p:cNvPr id="16" name="Group 15"/>
          <p:cNvGrpSpPr/>
          <p:nvPr/>
        </p:nvGrpSpPr>
        <p:grpSpPr>
          <a:xfrm>
            <a:off x="7605223" y="3876626"/>
            <a:ext cx="3900977" cy="2638474"/>
            <a:chOff x="7614748" y="3824981"/>
            <a:chExt cx="3095625" cy="2638474"/>
          </a:xfrm>
        </p:grpSpPr>
        <p:pic>
          <p:nvPicPr>
            <p:cNvPr id="17" name="Picture 2" descr="Poisson pmf.sv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14748" y="3824981"/>
              <a:ext cx="3095625" cy="2390775"/>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17"/>
            <p:cNvSpPr/>
            <p:nvPr/>
          </p:nvSpPr>
          <p:spPr>
            <a:xfrm>
              <a:off x="8299727" y="6186456"/>
              <a:ext cx="1890261" cy="276999"/>
            </a:xfrm>
            <a:prstGeom prst="rect">
              <a:avLst/>
            </a:prstGeom>
          </p:spPr>
          <p:txBody>
            <a:bodyPr wrap="none">
              <a:spAutoFit/>
            </a:bodyPr>
            <a:lstStyle/>
            <a:p>
              <a:r>
                <a:rPr lang="en-US" sz="1200" dirty="0">
                  <a:solidFill>
                    <a:srgbClr val="000000"/>
                  </a:solidFill>
                  <a:latin typeface="Arial" panose="020B0604020202020204" pitchFamily="34" charset="0"/>
                </a:rPr>
                <a:t>Probability mass function</a:t>
              </a:r>
              <a:endParaRPr lang="en-US" sz="1200" dirty="0"/>
            </a:p>
          </p:txBody>
        </p:sp>
      </p:grpSp>
      <p:pic>
        <p:nvPicPr>
          <p:cNvPr id="19" name="Picture 18"/>
          <p:cNvPicPr>
            <a:picLocks noChangeAspect="1"/>
          </p:cNvPicPr>
          <p:nvPr/>
        </p:nvPicPr>
        <p:blipFill>
          <a:blip r:embed="rId6"/>
          <a:stretch>
            <a:fillRect/>
          </a:stretch>
        </p:blipFill>
        <p:spPr>
          <a:xfrm>
            <a:off x="2124075" y="4753668"/>
            <a:ext cx="1543050" cy="533400"/>
          </a:xfrm>
          <a:prstGeom prst="rect">
            <a:avLst/>
          </a:prstGeom>
        </p:spPr>
      </p:pic>
      <p:pic>
        <p:nvPicPr>
          <p:cNvPr id="20" name="Picture 19"/>
          <p:cNvPicPr>
            <a:picLocks noChangeAspect="1"/>
          </p:cNvPicPr>
          <p:nvPr/>
        </p:nvPicPr>
        <p:blipFill>
          <a:blip r:embed="rId7"/>
          <a:stretch>
            <a:fillRect/>
          </a:stretch>
        </p:blipFill>
        <p:spPr>
          <a:xfrm>
            <a:off x="2124075" y="5414854"/>
            <a:ext cx="1704975" cy="295275"/>
          </a:xfrm>
          <a:prstGeom prst="rect">
            <a:avLst/>
          </a:prstGeom>
        </p:spPr>
      </p:pic>
      <p:pic>
        <p:nvPicPr>
          <p:cNvPr id="11266" name="Picture 2" descr="Probability mass function for the binomial distribution"/>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022097" y="1364842"/>
            <a:ext cx="3484103" cy="23227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215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a:spLocks noGrp="1"/>
          </p:cNvSpPr>
          <p:nvPr>
            <p:ph type="body" sz="quarter" idx="13"/>
          </p:nvPr>
        </p:nvSpPr>
        <p:spPr>
          <a:xfrm>
            <a:off x="466628" y="131145"/>
            <a:ext cx="8601172" cy="307777"/>
          </a:xfrm>
        </p:spPr>
        <p:txBody>
          <a:bodyPr/>
          <a:lstStyle/>
          <a:p>
            <a:r>
              <a:rPr lang="en-US" sz="2000" b="1" dirty="0"/>
              <a:t>Continuous Distribution: Normal Distribution (Bell Curve)</a:t>
            </a:r>
          </a:p>
        </p:txBody>
      </p:sp>
      <p:sp>
        <p:nvSpPr>
          <p:cNvPr id="5" name="Text Placeholder 3"/>
          <p:cNvSpPr>
            <a:spLocks noGrp="1"/>
          </p:cNvSpPr>
          <p:nvPr>
            <p:ph type="body" sz="quarter" idx="4294967295"/>
          </p:nvPr>
        </p:nvSpPr>
        <p:spPr>
          <a:xfrm>
            <a:off x="457200" y="805404"/>
            <a:ext cx="11187642" cy="600164"/>
          </a:xfrm>
          <a:prstGeom prst="rect">
            <a:avLst/>
          </a:prstGeom>
        </p:spPr>
        <p:txBody>
          <a:bodyPr/>
          <a:lstStyle/>
          <a:p>
            <a:pPr marL="0" indent="0">
              <a:buNone/>
            </a:pPr>
            <a:r>
              <a:rPr lang="en-US" b="1" dirty="0"/>
              <a:t>Normal distribution </a:t>
            </a:r>
            <a:r>
              <a:rPr lang="en-US" dirty="0"/>
              <a:t>(Gaussian distribution) is a probability distribution that is symmetric about the mean, showing that data near the mean are more frequent in occurrence than data far from the mean</a:t>
            </a:r>
          </a:p>
        </p:txBody>
      </p:sp>
      <p:sp>
        <p:nvSpPr>
          <p:cNvPr id="6" name="Slide Number Placeholder 4"/>
          <p:cNvSpPr>
            <a:spLocks noGrp="1"/>
          </p:cNvSpPr>
          <p:nvPr>
            <p:ph type="sldNum" sz="quarter" idx="14"/>
          </p:nvPr>
        </p:nvSpPr>
        <p:spPr>
          <a:xfrm>
            <a:off x="10142220" y="6515100"/>
            <a:ext cx="1554480" cy="91440"/>
          </a:xfrm>
        </p:spPr>
        <p:txBody>
          <a:bodyPr/>
          <a:lstStyle/>
          <a:p>
            <a:r>
              <a:rPr lang="en-US"/>
              <a:t>Author, </a:t>
            </a:r>
            <a:fld id="{D72BAC86-7CA1-47DD-8EAD-39EA91178256}" type="datetime1">
              <a:rPr lang="en-US" smtClean="0"/>
              <a:pPr/>
              <a:t>11/12/2025</a:t>
            </a:fld>
            <a:r>
              <a:rPr lang="en-US"/>
              <a:t>, Filename.ppt </a:t>
            </a:r>
            <a:r>
              <a:rPr lang="en-US" sz="1000"/>
              <a:t>| </a:t>
            </a:r>
            <a:fld id="{689318A1-174D-4DEE-8106-03A37B9BCF15}" type="slidenum">
              <a:rPr lang="en-US" sz="1000"/>
              <a:pPr/>
              <a:t>23</a:t>
            </a:fld>
            <a:endParaRPr lang="en-US" sz="1000"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5600" y="1620986"/>
            <a:ext cx="4417483" cy="2827189"/>
          </a:xfrm>
          <a:prstGeom prst="rect">
            <a:avLst/>
          </a:prstGeom>
        </p:spPr>
      </p:pic>
      <p:sp>
        <p:nvSpPr>
          <p:cNvPr id="9" name="Rectangle 8"/>
          <p:cNvSpPr/>
          <p:nvPr/>
        </p:nvSpPr>
        <p:spPr>
          <a:xfrm>
            <a:off x="466628" y="1702212"/>
            <a:ext cx="6096000" cy="646331"/>
          </a:xfrm>
          <a:prstGeom prst="rect">
            <a:avLst/>
          </a:prstGeom>
        </p:spPr>
        <p:txBody>
          <a:bodyPr>
            <a:spAutoFit/>
          </a:bodyPr>
          <a:lstStyle/>
          <a:p>
            <a:r>
              <a:rPr lang="en-US" dirty="0"/>
              <a:t>It is defined by the probability density function for a continuous random variable in a system</a:t>
            </a:r>
          </a:p>
        </p:txBody>
      </p:sp>
      <p:pic>
        <p:nvPicPr>
          <p:cNvPr id="10" name="Picture 2" descr="Normal Distribution Formula"/>
          <p:cNvPicPr>
            <a:picLocks noChangeAspect="1" noChangeArrowheads="1"/>
          </p:cNvPicPr>
          <p:nvPr/>
        </p:nvPicPr>
        <p:blipFill rotWithShape="1">
          <a:blip r:embed="rId4">
            <a:extLst>
              <a:ext uri="{28A0092B-C50C-407E-A947-70E740481C1C}">
                <a14:useLocalDpi xmlns:a14="http://schemas.microsoft.com/office/drawing/2010/main" val="0"/>
              </a:ext>
            </a:extLst>
          </a:blip>
          <a:srcRect l="15071" t="23630" r="10194" b="10629"/>
          <a:stretch/>
        </p:blipFill>
        <p:spPr bwMode="auto">
          <a:xfrm>
            <a:off x="1259045" y="2538960"/>
            <a:ext cx="3732056" cy="942975"/>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p:nvSpPr>
        <p:spPr>
          <a:xfrm>
            <a:off x="457200" y="3796260"/>
            <a:ext cx="6096000" cy="1477328"/>
          </a:xfrm>
          <a:prstGeom prst="rect">
            <a:avLst/>
          </a:prstGeom>
        </p:spPr>
        <p:txBody>
          <a:bodyPr>
            <a:spAutoFit/>
          </a:bodyPr>
          <a:lstStyle/>
          <a:p>
            <a:r>
              <a:rPr lang="en-US" dirty="0">
                <a:solidFill>
                  <a:srgbClr val="202124"/>
                </a:solidFill>
                <a:latin typeface="arial" panose="020B0604020202020204" pitchFamily="34" charset="0"/>
              </a:rPr>
              <a:t>​"A" normal distribution is used to describe a normal distribution with any mean and standard deviation</a:t>
            </a:r>
            <a:endParaRPr lang="en-US" dirty="0"/>
          </a:p>
          <a:p>
            <a:endParaRPr lang="en-US" dirty="0">
              <a:solidFill>
                <a:srgbClr val="202124"/>
              </a:solidFill>
              <a:latin typeface="arial" panose="020B0604020202020204" pitchFamily="34" charset="0"/>
            </a:endParaRPr>
          </a:p>
          <a:p>
            <a:r>
              <a:rPr lang="en-US" dirty="0">
                <a:solidFill>
                  <a:srgbClr val="202124"/>
                </a:solidFill>
                <a:latin typeface="arial" panose="020B0604020202020204" pitchFamily="34" charset="0"/>
              </a:rPr>
              <a:t>"The" standard normal distribution is used to describe one specific normal distribution (mean = 0, standard dev = 1) . </a:t>
            </a:r>
            <a:endParaRPr lang="en-US" dirty="0"/>
          </a:p>
        </p:txBody>
      </p:sp>
      <p:pic>
        <p:nvPicPr>
          <p:cNvPr id="12" name="Picture 11"/>
          <p:cNvPicPr>
            <a:picLocks noChangeAspect="1"/>
          </p:cNvPicPr>
          <p:nvPr/>
        </p:nvPicPr>
        <p:blipFill>
          <a:blip r:embed="rId5"/>
          <a:stretch>
            <a:fillRect/>
          </a:stretch>
        </p:blipFill>
        <p:spPr>
          <a:xfrm>
            <a:off x="6553200" y="4448581"/>
            <a:ext cx="5335608" cy="1824037"/>
          </a:xfrm>
          <a:prstGeom prst="rect">
            <a:avLst/>
          </a:prstGeom>
        </p:spPr>
      </p:pic>
    </p:spTree>
    <p:extLst>
      <p:ext uri="{BB962C8B-B14F-4D97-AF65-F5344CB8AC3E}">
        <p14:creationId xmlns:p14="http://schemas.microsoft.com/office/powerpoint/2010/main" val="3278482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19384" y="3004533"/>
            <a:ext cx="10980835" cy="677108"/>
          </a:xfrm>
        </p:spPr>
        <p:txBody>
          <a:bodyPr/>
          <a:lstStyle/>
          <a:p>
            <a:pPr marL="0" indent="0" algn="ctr">
              <a:buNone/>
            </a:pPr>
            <a:r>
              <a:rPr lang="en-US" sz="4400" dirty="0">
                <a:solidFill>
                  <a:schemeClr val="tx1"/>
                </a:solidFill>
              </a:rPr>
              <a:t>Inferential Statistics</a:t>
            </a:r>
          </a:p>
        </p:txBody>
      </p:sp>
    </p:spTree>
    <p:extLst>
      <p:ext uri="{BB962C8B-B14F-4D97-AF65-F5344CB8AC3E}">
        <p14:creationId xmlns:p14="http://schemas.microsoft.com/office/powerpoint/2010/main" val="1082287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66628" y="661383"/>
            <a:ext cx="11592022" cy="914096"/>
          </a:xfrm>
        </p:spPr>
        <p:txBody>
          <a:bodyPr/>
          <a:lstStyle/>
          <a:p>
            <a:pPr marL="0" indent="0">
              <a:buNone/>
            </a:pPr>
            <a:r>
              <a:rPr lang="en-US" dirty="0"/>
              <a:t>Statistical hypothesis testing is a framework for determining whether observed data deviates from what is expected. Hypothesis tests use sample data to answer research questions. </a:t>
            </a:r>
          </a:p>
          <a:p>
            <a:pPr marL="0" indent="0">
              <a:buNone/>
            </a:pPr>
            <a:r>
              <a:rPr lang="en-US" dirty="0"/>
              <a:t>Significance level(</a:t>
            </a:r>
            <a:r>
              <a:rPr lang="el-GR" dirty="0"/>
              <a:t>α</a:t>
            </a:r>
            <a:r>
              <a:rPr lang="en-US" dirty="0"/>
              <a:t>): is a probability threshold that determines when you reject the null hypothesis</a:t>
            </a:r>
            <a:endParaRPr lang="en-US" sz="1400" dirty="0"/>
          </a:p>
        </p:txBody>
      </p:sp>
      <p:sp>
        <p:nvSpPr>
          <p:cNvPr id="11" name="Text Placeholder 2"/>
          <p:cNvSpPr>
            <a:spLocks noGrp="1"/>
          </p:cNvSpPr>
          <p:nvPr>
            <p:ph type="body" sz="quarter" idx="13"/>
          </p:nvPr>
        </p:nvSpPr>
        <p:spPr>
          <a:xfrm>
            <a:off x="466628" y="131145"/>
            <a:ext cx="7772400" cy="307777"/>
          </a:xfrm>
        </p:spPr>
        <p:txBody>
          <a:bodyPr/>
          <a:lstStyle/>
          <a:p>
            <a:r>
              <a:rPr lang="en-US" sz="2000" b="1" dirty="0"/>
              <a:t>Hypothesis Testing </a:t>
            </a:r>
          </a:p>
        </p:txBody>
      </p:sp>
      <p:pic>
        <p:nvPicPr>
          <p:cNvPr id="3" name="Picture 2"/>
          <p:cNvPicPr>
            <a:picLocks noChangeAspect="1"/>
          </p:cNvPicPr>
          <p:nvPr/>
        </p:nvPicPr>
        <p:blipFill>
          <a:blip r:embed="rId3"/>
          <a:stretch>
            <a:fillRect/>
          </a:stretch>
        </p:blipFill>
        <p:spPr>
          <a:xfrm>
            <a:off x="2404969" y="1952995"/>
            <a:ext cx="6600825" cy="4248150"/>
          </a:xfrm>
          <a:prstGeom prst="rect">
            <a:avLst/>
          </a:prstGeom>
        </p:spPr>
      </p:pic>
    </p:spTree>
    <p:extLst>
      <p:ext uri="{BB962C8B-B14F-4D97-AF65-F5344CB8AC3E}">
        <p14:creationId xmlns:p14="http://schemas.microsoft.com/office/powerpoint/2010/main" val="1389369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2"/>
          <p:cNvSpPr>
            <a:spLocks noGrp="1"/>
          </p:cNvSpPr>
          <p:nvPr>
            <p:ph type="body" sz="quarter" idx="13"/>
          </p:nvPr>
        </p:nvSpPr>
        <p:spPr>
          <a:xfrm>
            <a:off x="466628" y="131145"/>
            <a:ext cx="7772400" cy="307777"/>
          </a:xfrm>
        </p:spPr>
        <p:txBody>
          <a:bodyPr/>
          <a:lstStyle/>
          <a:p>
            <a:r>
              <a:rPr lang="en-US" sz="2000" b="1" dirty="0"/>
              <a:t>Regression and Correlation Analysis</a:t>
            </a:r>
          </a:p>
        </p:txBody>
      </p:sp>
      <p:sp>
        <p:nvSpPr>
          <p:cNvPr id="7" name="Rectangle 6"/>
          <p:cNvSpPr/>
          <p:nvPr/>
        </p:nvSpPr>
        <p:spPr>
          <a:xfrm>
            <a:off x="466628" y="568729"/>
            <a:ext cx="9753601" cy="646331"/>
          </a:xfrm>
          <a:prstGeom prst="rect">
            <a:avLst/>
          </a:prstGeom>
        </p:spPr>
        <p:txBody>
          <a:bodyPr wrap="square">
            <a:spAutoFit/>
          </a:bodyPr>
          <a:lstStyle/>
          <a:p>
            <a:r>
              <a:rPr lang="en-US" b="1" dirty="0">
                <a:solidFill>
                  <a:srgbClr val="202124"/>
                </a:solidFill>
                <a:latin typeface="arial" panose="020B0604020202020204" pitchFamily="34" charset="0"/>
              </a:rPr>
              <a:t>Correlation </a:t>
            </a:r>
            <a:r>
              <a:rPr lang="en-US" dirty="0">
                <a:solidFill>
                  <a:srgbClr val="202124"/>
                </a:solidFill>
                <a:latin typeface="arial" panose="020B0604020202020204" pitchFamily="34" charset="0"/>
              </a:rPr>
              <a:t>quantifies the strength of the linear relationship between a pair of variables</a:t>
            </a:r>
          </a:p>
          <a:p>
            <a:r>
              <a:rPr lang="en-US" b="1" dirty="0">
                <a:solidFill>
                  <a:srgbClr val="202124"/>
                </a:solidFill>
                <a:latin typeface="arial" panose="020B0604020202020204" pitchFamily="34" charset="0"/>
              </a:rPr>
              <a:t>Regression </a:t>
            </a:r>
            <a:r>
              <a:rPr lang="en-US" dirty="0">
                <a:solidFill>
                  <a:srgbClr val="202124"/>
                </a:solidFill>
                <a:latin typeface="arial" panose="020B0604020202020204" pitchFamily="34" charset="0"/>
              </a:rPr>
              <a:t>expresses the relationship in the form of an equation</a:t>
            </a:r>
            <a:endParaRPr lang="en-US" dirty="0"/>
          </a:p>
        </p:txBody>
      </p:sp>
      <p:grpSp>
        <p:nvGrpSpPr>
          <p:cNvPr id="2" name="Group 1"/>
          <p:cNvGrpSpPr/>
          <p:nvPr/>
        </p:nvGrpSpPr>
        <p:grpSpPr>
          <a:xfrm>
            <a:off x="598132" y="1215060"/>
            <a:ext cx="8943975" cy="3091549"/>
            <a:chOff x="885825" y="1990725"/>
            <a:chExt cx="8943975" cy="3091549"/>
          </a:xfrm>
        </p:grpSpPr>
        <p:pic>
          <p:nvPicPr>
            <p:cNvPr id="1028" name="Picture 4" descr="Difference between correlation and regression in statistic - YouTube"/>
            <p:cNvPicPr>
              <a:picLocks noChangeAspect="1" noChangeArrowheads="1"/>
            </p:cNvPicPr>
            <p:nvPr/>
          </p:nvPicPr>
          <p:blipFill rotWithShape="1">
            <a:blip r:embed="rId3">
              <a:extLst>
                <a:ext uri="{28A0092B-C50C-407E-A947-70E740481C1C}">
                  <a14:useLocalDpi xmlns:a14="http://schemas.microsoft.com/office/drawing/2010/main" val="0"/>
                </a:ext>
              </a:extLst>
            </a:blip>
            <a:srcRect l="12460" t="36692" r="48939" b="55317"/>
            <a:stretch/>
          </p:blipFill>
          <p:spPr bwMode="auto">
            <a:xfrm>
              <a:off x="885825" y="4596499"/>
              <a:ext cx="4171950" cy="48577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Difference between correlation and regression in statistic - YouTube"/>
            <p:cNvPicPr>
              <a:picLocks noChangeAspect="1" noChangeArrowheads="1"/>
            </p:cNvPicPr>
            <p:nvPr/>
          </p:nvPicPr>
          <p:blipFill rotWithShape="1">
            <a:blip r:embed="rId3">
              <a:extLst>
                <a:ext uri="{28A0092B-C50C-407E-A947-70E740481C1C}">
                  <a14:useLocalDpi xmlns:a14="http://schemas.microsoft.com/office/drawing/2010/main" val="0"/>
                </a:ext>
              </a:extLst>
            </a:blip>
            <a:srcRect l="12460" t="4573" r="4785" b="62368"/>
            <a:stretch/>
          </p:blipFill>
          <p:spPr bwMode="auto">
            <a:xfrm>
              <a:off x="885825" y="1990725"/>
              <a:ext cx="8943975" cy="200977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Difference between correlation and regression in statistic - YouTube"/>
            <p:cNvPicPr>
              <a:picLocks noChangeAspect="1" noChangeArrowheads="1"/>
            </p:cNvPicPr>
            <p:nvPr/>
          </p:nvPicPr>
          <p:blipFill rotWithShape="1">
            <a:blip r:embed="rId3">
              <a:extLst>
                <a:ext uri="{28A0092B-C50C-407E-A947-70E740481C1C}">
                  <a14:useLocalDpi xmlns:a14="http://schemas.microsoft.com/office/drawing/2010/main" val="0"/>
                </a:ext>
              </a:extLst>
            </a:blip>
            <a:srcRect l="12460" t="48051" r="4785" b="42156"/>
            <a:stretch/>
          </p:blipFill>
          <p:spPr bwMode="auto">
            <a:xfrm>
              <a:off x="885825" y="4001186"/>
              <a:ext cx="8943975" cy="595313"/>
            </a:xfrm>
            <a:prstGeom prst="rect">
              <a:avLst/>
            </a:prstGeom>
            <a:noFill/>
            <a:extLst>
              <a:ext uri="{909E8E84-426E-40DD-AFC4-6F175D3DCCD1}">
                <a14:hiddenFill xmlns:a14="http://schemas.microsoft.com/office/drawing/2010/main">
                  <a:solidFill>
                    <a:srgbClr val="FFFFFF"/>
                  </a:solidFill>
                </a14:hiddenFill>
              </a:ext>
            </a:extLst>
          </p:spPr>
        </p:pic>
      </p:grpSp>
      <p:pic>
        <p:nvPicPr>
          <p:cNvPr id="2050" name="Picture 2" descr="What is the difference between correlation and linear regression? - FAQ  1141 - GraphPa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9763" y="3871166"/>
            <a:ext cx="7245644" cy="25207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3591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66628" y="661383"/>
            <a:ext cx="10980835" cy="4459682"/>
          </a:xfrm>
        </p:spPr>
        <p:txBody>
          <a:bodyPr/>
          <a:lstStyle/>
          <a:p>
            <a:r>
              <a:rPr lang="en-US" b="1" dirty="0"/>
              <a:t>Confidence Interval </a:t>
            </a:r>
            <a:r>
              <a:rPr lang="en-US" dirty="0"/>
              <a:t>is a range of values above and below a point estimate that captures the true population parameter at some predetermined confidence level. For example, if you want to have a 95% chance of capturing the true population parameter with a point estimate and a corresponding confidence interval, you'd set your confidence level to 95%. Higher confidence levels result in a wider confidence intervals.</a:t>
            </a:r>
          </a:p>
          <a:p>
            <a:r>
              <a:rPr lang="en-US" b="1" dirty="0"/>
              <a:t>Point estimates </a:t>
            </a:r>
            <a:r>
              <a:rPr lang="en-US" dirty="0"/>
              <a:t>are estimates of population parameters based on sample data. </a:t>
            </a:r>
          </a:p>
          <a:p>
            <a:r>
              <a:rPr lang="en-US" b="1" dirty="0"/>
              <a:t>Estimating parameters</a:t>
            </a:r>
            <a:r>
              <a:rPr lang="en-US" dirty="0"/>
              <a:t>. Taking a statistic from your sample data (for example the sample mean) and using it to say something about a population parameter (i.e. the population mean).</a:t>
            </a:r>
          </a:p>
          <a:p>
            <a:r>
              <a:rPr lang="en-US" b="1" dirty="0"/>
              <a:t>Central Limit Theorem </a:t>
            </a:r>
            <a:r>
              <a:rPr lang="en-US" dirty="0"/>
              <a:t>states the distribution of many sample means, known as a sampling distribution, will be normally distributed. mean of the sampling distribution approaches the true population mean</a:t>
            </a:r>
          </a:p>
          <a:p>
            <a:endParaRPr lang="en-US" dirty="0"/>
          </a:p>
          <a:p>
            <a:endParaRPr lang="en-US" dirty="0"/>
          </a:p>
          <a:p>
            <a:endParaRPr lang="en-US" dirty="0"/>
          </a:p>
          <a:p>
            <a:endParaRPr lang="en-US" dirty="0"/>
          </a:p>
        </p:txBody>
      </p:sp>
      <p:sp>
        <p:nvSpPr>
          <p:cNvPr id="6" name="Text Placeholder 2"/>
          <p:cNvSpPr>
            <a:spLocks noGrp="1"/>
          </p:cNvSpPr>
          <p:nvPr>
            <p:ph type="body" sz="quarter" idx="13"/>
          </p:nvPr>
        </p:nvSpPr>
        <p:spPr>
          <a:xfrm>
            <a:off x="466628" y="131145"/>
            <a:ext cx="7772400" cy="307777"/>
          </a:xfrm>
        </p:spPr>
        <p:txBody>
          <a:bodyPr/>
          <a:lstStyle/>
          <a:p>
            <a:r>
              <a:rPr lang="en-US" sz="2000" b="1" dirty="0"/>
              <a:t>Confidence Interval </a:t>
            </a:r>
          </a:p>
        </p:txBody>
      </p:sp>
      <p:pic>
        <p:nvPicPr>
          <p:cNvPr id="7" name="Picture 6"/>
          <p:cNvPicPr>
            <a:picLocks noChangeAspect="1"/>
          </p:cNvPicPr>
          <p:nvPr/>
        </p:nvPicPr>
        <p:blipFill>
          <a:blip r:embed="rId3"/>
          <a:stretch>
            <a:fillRect/>
          </a:stretch>
        </p:blipFill>
        <p:spPr>
          <a:xfrm>
            <a:off x="880220" y="4170357"/>
            <a:ext cx="5076825" cy="738187"/>
          </a:xfrm>
          <a:prstGeom prst="rect">
            <a:avLst/>
          </a:prstGeom>
        </p:spPr>
      </p:pic>
      <p:pic>
        <p:nvPicPr>
          <p:cNvPr id="8" name="Picture 7"/>
          <p:cNvPicPr>
            <a:picLocks noChangeAspect="1"/>
          </p:cNvPicPr>
          <p:nvPr/>
        </p:nvPicPr>
        <p:blipFill>
          <a:blip r:embed="rId4"/>
          <a:stretch>
            <a:fillRect/>
          </a:stretch>
        </p:blipFill>
        <p:spPr>
          <a:xfrm>
            <a:off x="908795" y="5019775"/>
            <a:ext cx="10096500" cy="1247775"/>
          </a:xfrm>
          <a:prstGeom prst="rect">
            <a:avLst/>
          </a:prstGeom>
        </p:spPr>
      </p:pic>
      <p:pic>
        <p:nvPicPr>
          <p:cNvPr id="3" name="Picture 2"/>
          <p:cNvPicPr>
            <a:picLocks noChangeAspect="1"/>
          </p:cNvPicPr>
          <p:nvPr/>
        </p:nvPicPr>
        <p:blipFill>
          <a:blip r:embed="rId5"/>
          <a:stretch>
            <a:fillRect/>
          </a:stretch>
        </p:blipFill>
        <p:spPr>
          <a:xfrm>
            <a:off x="9419208" y="3650499"/>
            <a:ext cx="2395916" cy="1312917"/>
          </a:xfrm>
          <a:prstGeom prst="rect">
            <a:avLst/>
          </a:prstGeom>
        </p:spPr>
      </p:pic>
    </p:spTree>
    <p:extLst>
      <p:ext uri="{BB962C8B-B14F-4D97-AF65-F5344CB8AC3E}">
        <p14:creationId xmlns:p14="http://schemas.microsoft.com/office/powerpoint/2010/main" val="1467851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1381125" y="561975"/>
            <a:ext cx="9429750" cy="5734050"/>
          </a:xfrm>
          <a:prstGeom prst="rect">
            <a:avLst/>
          </a:prstGeom>
        </p:spPr>
      </p:pic>
      <p:sp>
        <p:nvSpPr>
          <p:cNvPr id="7" name="Text Placeholder 2"/>
          <p:cNvSpPr>
            <a:spLocks noGrp="1"/>
          </p:cNvSpPr>
          <p:nvPr>
            <p:ph type="body" sz="quarter" idx="13"/>
          </p:nvPr>
        </p:nvSpPr>
        <p:spPr>
          <a:xfrm>
            <a:off x="466628" y="131145"/>
            <a:ext cx="7772400" cy="307777"/>
          </a:xfrm>
        </p:spPr>
        <p:txBody>
          <a:bodyPr/>
          <a:lstStyle/>
          <a:p>
            <a:r>
              <a:rPr lang="en-US" sz="2000" b="1" dirty="0"/>
              <a:t>Confidence Interval Estimation with Normal Distribution</a:t>
            </a:r>
          </a:p>
        </p:txBody>
      </p:sp>
    </p:spTree>
    <p:extLst>
      <p:ext uri="{BB962C8B-B14F-4D97-AF65-F5344CB8AC3E}">
        <p14:creationId xmlns:p14="http://schemas.microsoft.com/office/powerpoint/2010/main" val="4098759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1219200" y="652942"/>
            <a:ext cx="9834562" cy="5657370"/>
          </a:xfrm>
          <a:prstGeom prst="rect">
            <a:avLst/>
          </a:prstGeom>
        </p:spPr>
      </p:pic>
      <p:sp>
        <p:nvSpPr>
          <p:cNvPr id="7" name="Text Placeholder 2"/>
          <p:cNvSpPr>
            <a:spLocks noGrp="1"/>
          </p:cNvSpPr>
          <p:nvPr>
            <p:ph type="body" sz="quarter" idx="13"/>
          </p:nvPr>
        </p:nvSpPr>
        <p:spPr>
          <a:xfrm>
            <a:off x="466628" y="-22743"/>
            <a:ext cx="8601172" cy="615553"/>
          </a:xfrm>
        </p:spPr>
        <p:txBody>
          <a:bodyPr/>
          <a:lstStyle/>
          <a:p>
            <a:r>
              <a:rPr lang="en-US" sz="2000" b="1" dirty="0"/>
              <a:t>Confidence Interval Estimation with Normal Distribution: Example</a:t>
            </a:r>
          </a:p>
        </p:txBody>
      </p:sp>
    </p:spTree>
    <p:extLst>
      <p:ext uri="{BB962C8B-B14F-4D97-AF65-F5344CB8AC3E}">
        <p14:creationId xmlns:p14="http://schemas.microsoft.com/office/powerpoint/2010/main" val="941129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a:xfrm>
            <a:off x="466628" y="131145"/>
            <a:ext cx="8601172" cy="307777"/>
          </a:xfrm>
        </p:spPr>
        <p:txBody>
          <a:bodyPr/>
          <a:lstStyle/>
          <a:p>
            <a:r>
              <a:rPr lang="en-US" sz="2000" b="1" dirty="0"/>
              <a:t>Confidence Interval Estimation with t-Distribution</a:t>
            </a:r>
          </a:p>
        </p:txBody>
      </p:sp>
      <p:pic>
        <p:nvPicPr>
          <p:cNvPr id="4" name="Picture 3"/>
          <p:cNvPicPr>
            <a:picLocks noChangeAspect="1"/>
          </p:cNvPicPr>
          <p:nvPr/>
        </p:nvPicPr>
        <p:blipFill>
          <a:blip r:embed="rId2"/>
          <a:stretch>
            <a:fillRect/>
          </a:stretch>
        </p:blipFill>
        <p:spPr>
          <a:xfrm>
            <a:off x="976312" y="690562"/>
            <a:ext cx="10239375" cy="5476875"/>
          </a:xfrm>
          <a:prstGeom prst="rect">
            <a:avLst/>
          </a:prstGeom>
        </p:spPr>
      </p:pic>
    </p:spTree>
    <p:extLst>
      <p:ext uri="{BB962C8B-B14F-4D97-AF65-F5344CB8AC3E}">
        <p14:creationId xmlns:p14="http://schemas.microsoft.com/office/powerpoint/2010/main" val="1344714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71599" y="695659"/>
            <a:ext cx="9877425" cy="5714665"/>
          </a:xfrm>
          <a:prstGeom prst="rect">
            <a:avLst/>
          </a:prstGeom>
        </p:spPr>
      </p:pic>
      <p:sp>
        <p:nvSpPr>
          <p:cNvPr id="3" name="Text Placeholder 2"/>
          <p:cNvSpPr>
            <a:spLocks noGrp="1"/>
          </p:cNvSpPr>
          <p:nvPr>
            <p:ph type="body" sz="quarter" idx="13"/>
          </p:nvPr>
        </p:nvSpPr>
        <p:spPr>
          <a:xfrm>
            <a:off x="466628" y="131145"/>
            <a:ext cx="8601172" cy="307777"/>
          </a:xfrm>
        </p:spPr>
        <p:txBody>
          <a:bodyPr/>
          <a:lstStyle/>
          <a:p>
            <a:r>
              <a:rPr lang="en-US" sz="2000" b="1" dirty="0"/>
              <a:t>Confidence Interval Estimation with t-Distribution: Example</a:t>
            </a:r>
          </a:p>
        </p:txBody>
      </p:sp>
    </p:spTree>
    <p:extLst>
      <p:ext uri="{BB962C8B-B14F-4D97-AF65-F5344CB8AC3E}">
        <p14:creationId xmlns:p14="http://schemas.microsoft.com/office/powerpoint/2010/main" val="3091293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a:xfrm>
            <a:off x="2295809" y="2852133"/>
            <a:ext cx="4562191" cy="1015663"/>
          </a:xfrm>
        </p:spPr>
        <p:txBody>
          <a:bodyPr/>
          <a:lstStyle/>
          <a:p>
            <a:pPr marL="0" indent="0">
              <a:buNone/>
            </a:pPr>
            <a:r>
              <a:rPr lang="en-US" sz="6600" dirty="0">
                <a:solidFill>
                  <a:schemeClr val="tx1"/>
                </a:solidFill>
              </a:rPr>
              <a:t>APPENDIX</a:t>
            </a:r>
          </a:p>
        </p:txBody>
      </p:sp>
    </p:spTree>
    <p:extLst>
      <p:ext uri="{BB962C8B-B14F-4D97-AF65-F5344CB8AC3E}">
        <p14:creationId xmlns:p14="http://schemas.microsoft.com/office/powerpoint/2010/main" val="2316694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hoosing the right statistical test"/>
          <p:cNvPicPr>
            <a:picLocks noChangeAspect="1" noChangeArrowheads="1"/>
          </p:cNvPicPr>
          <p:nvPr/>
        </p:nvPicPr>
        <p:blipFill rotWithShape="1">
          <a:blip r:embed="rId2">
            <a:extLst>
              <a:ext uri="{28A0092B-C50C-407E-A947-70E740481C1C}">
                <a14:useLocalDpi xmlns:a14="http://schemas.microsoft.com/office/drawing/2010/main" val="0"/>
              </a:ext>
            </a:extLst>
          </a:blip>
          <a:srcRect l="10020" t="6522" r="10088" b="10172"/>
          <a:stretch/>
        </p:blipFill>
        <p:spPr bwMode="auto">
          <a:xfrm>
            <a:off x="715969" y="652028"/>
            <a:ext cx="4522781" cy="55963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4521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66628" y="661383"/>
            <a:ext cx="11592022" cy="6290183"/>
          </a:xfrm>
        </p:spPr>
        <p:txBody>
          <a:bodyPr/>
          <a:lstStyle/>
          <a:p>
            <a:r>
              <a:rPr lang="en-US" sz="1400" dirty="0"/>
              <a:t>Statistical hypothesis testing is a framework for determining whether observed data deviates from what is expected</a:t>
            </a:r>
          </a:p>
          <a:p>
            <a:r>
              <a:rPr lang="en-US" sz="1400" dirty="0"/>
              <a:t>Confirming or denying the likelihood of a conclusion or an explanation made on the basis of limited evidence</a:t>
            </a:r>
          </a:p>
          <a:p>
            <a:r>
              <a:rPr lang="en-US" sz="1400" dirty="0"/>
              <a:t>Hypothesis tests use sample data to answer research questions. For example, you might be interested in knowing if a new cancer drug is effective. Or if breakfast helps children perform better in schools.</a:t>
            </a:r>
          </a:p>
          <a:p>
            <a:r>
              <a:rPr lang="en-US" sz="1400" dirty="0"/>
              <a:t>A hypothesis test evaluates two mutually exclusive statements about a population to determine which statement is best supported by the sample data</a:t>
            </a:r>
          </a:p>
          <a:p>
            <a:r>
              <a:rPr lang="en-US" sz="1400" dirty="0"/>
              <a:t>Significance level(</a:t>
            </a:r>
            <a:r>
              <a:rPr lang="el-GR" sz="1400" dirty="0"/>
              <a:t>α</a:t>
            </a:r>
            <a:r>
              <a:rPr lang="en-US" sz="1400" dirty="0"/>
              <a:t>): is a probability threshold that determines when you reject the null hypothesis.</a:t>
            </a:r>
          </a:p>
          <a:p>
            <a:r>
              <a:rPr lang="en-US" sz="1400" dirty="0"/>
              <a:t>p-value : The probability of seeing a result as extreme as the one observed due to chance (under the assumption that the H0 is correct)</a:t>
            </a:r>
          </a:p>
          <a:p>
            <a:r>
              <a:rPr lang="en-US" sz="1400" dirty="0"/>
              <a:t>p-value &lt; alpha: reject the null hypothesis in favor of the alternative. </a:t>
            </a:r>
          </a:p>
          <a:p>
            <a:r>
              <a:rPr lang="en-US" sz="1400" dirty="0"/>
              <a:t>T-test is a statistical test used to determine whether a sample mean differs from the population mean or whether two samples differ from one another.</a:t>
            </a:r>
          </a:p>
          <a:p>
            <a:pPr lvl="1"/>
            <a:r>
              <a:rPr lang="en-US" sz="1050" dirty="0"/>
              <a:t>A one-sample t-test checks whether a sample mean differs from the population mean.</a:t>
            </a:r>
          </a:p>
          <a:p>
            <a:pPr lvl="1"/>
            <a:r>
              <a:rPr lang="en-US" sz="1050" dirty="0"/>
              <a:t>A two-sample t-test investigates whether the means of two independent samples differ from one another.</a:t>
            </a:r>
          </a:p>
          <a:p>
            <a:pPr lvl="1"/>
            <a:r>
              <a:rPr lang="en-US" sz="1050" dirty="0"/>
              <a:t>A paired t-test lets you check whether the means of samples from the same group differ</a:t>
            </a:r>
            <a:endParaRPr lang="en-US" sz="1400" dirty="0"/>
          </a:p>
          <a:p>
            <a:r>
              <a:rPr lang="en-US" sz="1400" dirty="0"/>
              <a:t>Type I error (</a:t>
            </a:r>
            <a:r>
              <a:rPr lang="el-GR" sz="1400" dirty="0"/>
              <a:t>α</a:t>
            </a:r>
            <a:r>
              <a:rPr lang="en-US" sz="1400" dirty="0"/>
              <a:t>) describes a situation where you reject the null hypothesis when it is actually true. This type of error is also known as a "false positive" or "false hit". The type 1 error rate is equal to the significance level α, so setting a higher confidence level (and therefore lower alpha) reduces the chances of getting a false positive.</a:t>
            </a:r>
          </a:p>
          <a:p>
            <a:r>
              <a:rPr lang="en-US" sz="1400" dirty="0"/>
              <a:t>Type II error describes a situation where you fail to reject the null hypothesis when it is actually false. Type II error is also known as a "false negative" or "miss". The higher your confidence level, the more likely you are to make a type II error.</a:t>
            </a:r>
          </a:p>
          <a:p>
            <a:r>
              <a:rPr lang="en-US" sz="1400" dirty="0"/>
              <a:t>The </a:t>
            </a:r>
            <a:r>
              <a:rPr lang="en-US" sz="1400" dirty="0">
                <a:hlinkClick r:id="rId3"/>
              </a:rPr>
              <a:t>power</a:t>
            </a:r>
            <a:r>
              <a:rPr lang="en-US" sz="1400" dirty="0"/>
              <a:t> of a statistical test is the probability that the test rejects the null hypothesis when the alternative is actually different from the null. In other words, power is the probability that the test detects that there is something interesting going on when there actually </a:t>
            </a:r>
            <a:r>
              <a:rPr lang="en-US" sz="1400" i="1" dirty="0"/>
              <a:t>is</a:t>
            </a:r>
            <a:r>
              <a:rPr lang="en-US" sz="1400" dirty="0"/>
              <a:t> something interesting going on. Power is equal to one minus the type II error rate. </a:t>
            </a:r>
          </a:p>
          <a:p>
            <a:r>
              <a:rPr lang="en-US" sz="1400" b="1" dirty="0"/>
              <a:t>Z Test</a:t>
            </a:r>
            <a:r>
              <a:rPr lang="en-US" sz="1400" dirty="0"/>
              <a:t> : use it instead of t-test if sample size &gt; 30</a:t>
            </a:r>
          </a:p>
          <a:p>
            <a:r>
              <a:rPr lang="en-US" sz="1400" b="1" dirty="0"/>
              <a:t>ANOVA (F-TEST): T</a:t>
            </a:r>
            <a:r>
              <a:rPr lang="en-US" sz="1400" dirty="0"/>
              <a:t>o compare more than two groups at the same time</a:t>
            </a:r>
          </a:p>
          <a:p>
            <a:r>
              <a:rPr lang="en-US" sz="1400" b="1" dirty="0"/>
              <a:t>Chi-Square Test: </a:t>
            </a:r>
            <a:r>
              <a:rPr lang="en-US" sz="1400" dirty="0"/>
              <a:t>To determine whether there is a significant association between the two categorical variables</a:t>
            </a:r>
            <a:endParaRPr lang="en-US" sz="1400" b="1" dirty="0"/>
          </a:p>
        </p:txBody>
      </p:sp>
      <p:sp>
        <p:nvSpPr>
          <p:cNvPr id="11" name="Text Placeholder 2"/>
          <p:cNvSpPr>
            <a:spLocks noGrp="1"/>
          </p:cNvSpPr>
          <p:nvPr>
            <p:ph type="body" sz="quarter" idx="13"/>
          </p:nvPr>
        </p:nvSpPr>
        <p:spPr>
          <a:xfrm>
            <a:off x="466628" y="131145"/>
            <a:ext cx="7772400" cy="307777"/>
          </a:xfrm>
        </p:spPr>
        <p:txBody>
          <a:bodyPr/>
          <a:lstStyle/>
          <a:p>
            <a:r>
              <a:rPr lang="en-US" sz="2000" b="1" dirty="0"/>
              <a:t>Hypothesis Testing </a:t>
            </a:r>
          </a:p>
        </p:txBody>
      </p:sp>
    </p:spTree>
    <p:extLst>
      <p:ext uri="{BB962C8B-B14F-4D97-AF65-F5344CB8AC3E}">
        <p14:creationId xmlns:p14="http://schemas.microsoft.com/office/powerpoint/2010/main" val="908108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Living Blue Option">
  <a:themeElements>
    <a:clrScheme name="Custom 5">
      <a:dk1>
        <a:srgbClr val="000000"/>
      </a:dk1>
      <a:lt1>
        <a:srgbClr val="FFFFFF"/>
      </a:lt1>
      <a:dk2>
        <a:srgbClr val="0039A6"/>
      </a:dk2>
      <a:lt2>
        <a:srgbClr val="A5ACB0"/>
      </a:lt2>
      <a:accent1>
        <a:srgbClr val="0039A6"/>
      </a:accent1>
      <a:accent2>
        <a:srgbClr val="E70033"/>
      </a:accent2>
      <a:accent3>
        <a:srgbClr val="0096DB"/>
      </a:accent3>
      <a:accent4>
        <a:srgbClr val="77B800"/>
      </a:accent4>
      <a:accent5>
        <a:srgbClr val="580F8B"/>
      </a:accent5>
      <a:accent6>
        <a:srgbClr val="FFA200"/>
      </a:accent6>
      <a:hlink>
        <a:srgbClr val="00369C"/>
      </a:hlink>
      <a:folHlink>
        <a:srgbClr val="A5ACB0"/>
      </a:folHlink>
    </a:clrScheme>
    <a:fontScheme name="4_GradientBar_IdentityBar_QUESTION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oeing Color Palette">
        <a:dk1>
          <a:srgbClr val="000000"/>
        </a:dk1>
        <a:lt1>
          <a:srgbClr val="FFFFFF"/>
        </a:lt1>
        <a:dk2>
          <a:srgbClr val="0033A1"/>
        </a:dk2>
        <a:lt2>
          <a:srgbClr val="A5ACB0"/>
        </a:lt2>
        <a:accent1>
          <a:srgbClr val="0033A1"/>
        </a:accent1>
        <a:accent2>
          <a:srgbClr val="E70033"/>
        </a:accent2>
        <a:accent3>
          <a:srgbClr val="0096DB"/>
        </a:accent3>
        <a:accent4>
          <a:srgbClr val="77B800"/>
        </a:accent4>
        <a:accent5>
          <a:srgbClr val="580F8B"/>
        </a:accent5>
        <a:accent6>
          <a:srgbClr val="FFA200"/>
        </a:accent6>
        <a:hlink>
          <a:srgbClr val="0039A6"/>
        </a:hlink>
        <a:folHlink>
          <a:srgbClr val="A5ACB0"/>
        </a:folHlink>
      </a:clrScheme>
      <a:clrMap bg1="lt1" tx1="dk1" bg2="lt2" tx2="dk2" accent1="accent1" accent2="accent2" accent3="accent3" accent4="accent4" accent5="accent5" accent6="accent6" hlink="hlink" folHlink="folHlink"/>
    </a:extraClrScheme>
  </a:extraClrSchemeLst>
  <a:custClrLst>
    <a:custClr name="PANTONE 7546">
      <a:srgbClr val="253746"/>
    </a:custClr>
    <a:custClr name="PANTONE 431">
      <a:srgbClr val="5B6770"/>
    </a:custClr>
    <a:custClr name="PANTONE 429">
      <a:srgbClr val="A3AAAE"/>
    </a:custClr>
    <a:custClr name="PANTONE CG1">
      <a:srgbClr val="DAD9D7"/>
    </a:custClr>
    <a:custClr name="Process Magenta">
      <a:srgbClr val="E5007E"/>
    </a:custClr>
    <a:custClr name="PANTONE 4975">
      <a:srgbClr val="402020"/>
    </a:custClr>
    <a:custClr name="PANTONE 201">
      <a:srgbClr val="A32136"/>
    </a:custClr>
    <a:custClr name="PANTONE 185">
      <a:srgbClr val="EA002A"/>
    </a:custClr>
    <a:custClr name="PANTONE 1665">
      <a:srgbClr val="E14504"/>
    </a:custClr>
    <a:custClr name="PANTONE 137">
      <a:srgbClr val="FFA400"/>
    </a:custClr>
    <a:custClr name="PANTONE 108">
      <a:srgbClr val="FFDB00"/>
    </a:custClr>
    <a:custClr name="PANTONE 1215">
      <a:srgbClr val="FDD773"/>
    </a:custClr>
    <a:custClr name="PANTONE 7499">
      <a:srgbClr val="F2E5B3"/>
    </a:custClr>
    <a:custClr name="PANTONE 553">
      <a:srgbClr val="294635"/>
    </a:custClr>
    <a:custClr name="PANTONE 376">
      <a:srgbClr val="81BC00"/>
    </a:custClr>
    <a:custClr name="PANTONE 373">
      <a:srgbClr val="CCE981"/>
    </a:custClr>
    <a:custClr name="PANTONE 328">
      <a:srgbClr val="007167"/>
    </a:custClr>
    <a:custClr name="PANTONE 309">
      <a:srgbClr val="003B4A"/>
    </a:custClr>
    <a:custClr name="PANTONE 3135">
      <a:srgbClr val="008BAC"/>
    </a:custClr>
    <a:custClr name="PANTONE 7457">
      <a:srgbClr val="BADCE6"/>
    </a:custClr>
    <a:custClr name="PANTONE 289">
      <a:srgbClr val="0A2240"/>
    </a:custClr>
    <a:custClr name="PANTONE 2925">
      <a:srgbClr val="009BDF"/>
    </a:custClr>
    <a:custClr name="PANTONE 283">
      <a:srgbClr val="92C0EA"/>
    </a:custClr>
    <a:custClr name="PANTONE 2597">
      <a:srgbClr val="5C0F8C"/>
    </a:custClr>
  </a:custClr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PANTONE 7546">
      <a:srgbClr val="394A59"/>
    </a:custClr>
    <a:custClr name="PANTONE 431">
      <a:srgbClr val="5F6A72"/>
    </a:custClr>
    <a:custClr name="PANTONE 429">
      <a:srgbClr val="A5ACB0"/>
    </a:custClr>
    <a:custClr name="PANTONE CG1">
      <a:srgbClr val="E2E1DD"/>
    </a:custClr>
    <a:custClr name="PANTONE 7421">
      <a:srgbClr val="61162D"/>
    </a:custClr>
    <a:custClr name="PANTONE 221">
      <a:srgbClr val="96004B"/>
    </a:custClr>
    <a:custClr name="PANTONE 4975">
      <a:srgbClr val="462324"/>
    </a:custClr>
    <a:custClr name="PANTONE 201">
      <a:srgbClr val="9E1B32"/>
    </a:custClr>
    <a:custClr name="PANTONE 185">
      <a:srgbClr val="E70033"/>
    </a:custClr>
    <a:custClr name="PANTONE 1665">
      <a:srgbClr val="E24912"/>
    </a:custClr>
    <a:custClr name="PANTONE 137">
      <a:srgbClr val="FFA200"/>
    </a:custClr>
    <a:custClr name="PANTONE 1215">
      <a:srgbClr val="FBDE81"/>
    </a:custClr>
    <a:custClr name="PANTONE 7499">
      <a:srgbClr val="EEE8C5"/>
    </a:custClr>
    <a:custClr name="PANTONE 553">
      <a:srgbClr val="214232"/>
    </a:custClr>
    <a:custClr name="PANTONE 376">
      <a:srgbClr val="77B800"/>
    </a:custClr>
    <a:custClr name="PANTONE 373">
      <a:srgbClr val="CFEA8B"/>
    </a:custClr>
    <a:custClr name="PANTONE 328">
      <a:srgbClr val="007165"/>
    </a:custClr>
    <a:custClr name="PANTONE 309">
      <a:srgbClr val="003D4D"/>
    </a:custClr>
    <a:custClr name="PANTONE 3135">
      <a:srgbClr val="0091B5"/>
    </a:custClr>
    <a:custClr name="PANTONE 9041">
      <a:srgbClr val="E2EBE4"/>
    </a:custClr>
    <a:custClr name="PANTONE 289">
      <a:srgbClr val="002144"/>
    </a:custClr>
    <a:custClr name="PANTONE 2925">
      <a:srgbClr val="0096DB"/>
    </a:custClr>
    <a:custClr name="PANTONE 283">
      <a:srgbClr val="97C5EB"/>
    </a:custClr>
    <a:custClr name="PANTONE 2597">
      <a:srgbClr val="580F8B"/>
    </a:custClr>
  </a:custClr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2AC00D8A743834C83C2D7E8B88079AF" ma:contentTypeVersion="3" ma:contentTypeDescription="Create a new document." ma:contentTypeScope="" ma:versionID="d295b984411a1b5a448d017d453e47b8">
  <xsd:schema xmlns:xsd="http://www.w3.org/2001/XMLSchema" xmlns:xs="http://www.w3.org/2001/XMLSchema" xmlns:p="http://schemas.microsoft.com/office/2006/metadata/properties" xmlns:ns2="fe15599f-644d-4048-90f0-ecdf2cf8f215" targetNamespace="http://schemas.microsoft.com/office/2006/metadata/properties" ma:root="true" ma:fieldsID="430b40f8abd0bc605643dbcfbde73419" ns2:_="">
    <xsd:import namespace="fe15599f-644d-4048-90f0-ecdf2cf8f21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e15599f-644d-4048-90f0-ecdf2cf8f21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DB230BC-6A0A-4236-A310-F998F93087C3}">
  <ds:schemaRefs>
    <ds:schemaRef ds:uri="http://schemas.microsoft.com/sharepoint/v3/contenttype/forms"/>
  </ds:schemaRefs>
</ds:datastoreItem>
</file>

<file path=customXml/itemProps2.xml><?xml version="1.0" encoding="utf-8"?>
<ds:datastoreItem xmlns:ds="http://schemas.openxmlformats.org/officeDocument/2006/customXml" ds:itemID="{60037CDA-20C0-4F21-BCF4-34537410BB44}">
  <ds:schemaRefs>
    <ds:schemaRef ds:uri="http://schemas.microsoft.com/office/2006/metadata/properties"/>
    <ds:schemaRef ds:uri="http://schemas.microsoft.com/office/infopath/2007/PartnerControls"/>
    <ds:schemaRef ds:uri="dfefa3dc-7e1c-436f-85de-ea435c54dc20"/>
    <ds:schemaRef ds:uri="6337ce0b-ae40-4297-88a6-9d1ebe2a3d87"/>
  </ds:schemaRefs>
</ds:datastoreItem>
</file>

<file path=customXml/itemProps3.xml><?xml version="1.0" encoding="utf-8"?>
<ds:datastoreItem xmlns:ds="http://schemas.openxmlformats.org/officeDocument/2006/customXml" ds:itemID="{AEC5FFBC-6A99-42FD-8151-EE1CFA1C777A}"/>
</file>

<file path=docProps/app.xml><?xml version="1.0" encoding="utf-8"?>
<Properties xmlns="http://schemas.openxmlformats.org/officeDocument/2006/extended-properties" xmlns:vt="http://schemas.openxmlformats.org/officeDocument/2006/docPropsVTypes">
  <TotalTime>29088</TotalTime>
  <Words>3099</Words>
  <Application>Microsoft Office PowerPoint</Application>
  <PresentationFormat>Widescreen</PresentationFormat>
  <Paragraphs>260</Paragraphs>
  <Slides>34</Slides>
  <Notes>12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34</vt:i4>
      </vt:variant>
    </vt:vector>
  </HeadingPairs>
  <TitlesOfParts>
    <vt:vector size="45" baseType="lpstr">
      <vt:lpstr>-apple-system</vt:lpstr>
      <vt:lpstr>Arial</vt:lpstr>
      <vt:lpstr>Arial</vt:lpstr>
      <vt:lpstr>Cambria Math</vt:lpstr>
      <vt:lpstr>Georgia</vt:lpstr>
      <vt:lpstr>MathJax_Math-italic</vt:lpstr>
      <vt:lpstr>Roboto</vt:lpstr>
      <vt:lpstr>Tahoma</vt:lpstr>
      <vt:lpstr>Verdana</vt:lpstr>
      <vt:lpstr>Wingdings</vt:lpstr>
      <vt:lpstr>Living Blue Option</vt:lpstr>
      <vt:lpstr>Health Index Creation</vt:lpstr>
      <vt:lpstr>Statistics is the branch of mathematics that helps us spot trends and patterns in the bulk of numerical data. Statistical techniques can be categorized as Descriptive Statistics and Inferential Statistics</vt:lpstr>
      <vt:lpstr>Health Index Creation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EXT-Dempewolf, Shawn S</dc:creator>
  <cp:lastModifiedBy>Ray, Ashish K</cp:lastModifiedBy>
  <cp:revision>1496</cp:revision>
  <dcterms:modified xsi:type="dcterms:W3CDTF">2025-11-12T06:51:58Z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0x010100F2AC00D8A743834C83C2D7E8B88079AF</vt:lpwstr>
  </property>
</Properties>
</file>