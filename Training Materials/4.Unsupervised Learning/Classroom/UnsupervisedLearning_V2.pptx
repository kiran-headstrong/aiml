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  <p:sldMasterId id="2147483802" r:id="rId5"/>
  </p:sldMasterIdLst>
  <p:notesMasterIdLst>
    <p:notesMasterId r:id="rId49"/>
  </p:notesMasterIdLst>
  <p:handoutMasterIdLst>
    <p:handoutMasterId r:id="rId50"/>
  </p:handoutMasterIdLst>
  <p:sldIdLst>
    <p:sldId id="2147483631" r:id="rId6"/>
    <p:sldId id="2147483634" r:id="rId7"/>
    <p:sldId id="2147483637" r:id="rId8"/>
    <p:sldId id="2147483638" r:id="rId9"/>
    <p:sldId id="2147483639" r:id="rId10"/>
    <p:sldId id="2147483640" r:id="rId11"/>
    <p:sldId id="2147483641" r:id="rId12"/>
    <p:sldId id="2147483642" r:id="rId13"/>
    <p:sldId id="2147483643" r:id="rId14"/>
    <p:sldId id="2147483644" r:id="rId15"/>
    <p:sldId id="2147483645" r:id="rId16"/>
    <p:sldId id="2147483646" r:id="rId17"/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9" r:id="rId44"/>
    <p:sldId id="2147483635" r:id="rId45"/>
    <p:sldId id="2147483636" r:id="rId46"/>
    <p:sldId id="2147483647" r:id="rId47"/>
    <p:sldId id="267" r:id="rId48"/>
  </p:sldIdLst>
  <p:sldSz cx="12192000" cy="68580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Design" id="{E08F430B-2DE2-4DA1-A70F-1A109A6AA5CC}">
          <p14:sldIdLst>
            <p14:sldId id="2147483631"/>
            <p14:sldId id="2147483634"/>
            <p14:sldId id="2147483637"/>
            <p14:sldId id="2147483638"/>
            <p14:sldId id="2147483639"/>
            <p14:sldId id="2147483640"/>
            <p14:sldId id="2147483641"/>
            <p14:sldId id="2147483642"/>
            <p14:sldId id="2147483643"/>
            <p14:sldId id="2147483644"/>
            <p14:sldId id="2147483645"/>
            <p14:sldId id="2147483646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9"/>
            <p14:sldId id="2147483635"/>
            <p14:sldId id="2147483636"/>
            <p14:sldId id="2147483647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7166E-D42F-10A4-C098-850482822D9E}" name="Shanthini, Nisha Merline" initials="NS" userId="S::nishamerline.shanthini@boeing.com::ff2fe869-c747-499c-92d8-f13b6ba26de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sa Fusch Krause" initials="lfk" lastIdx="5" clrIdx="0"/>
  <p:cmAuthor id="1" name="MBevins" initials="MB" lastIdx="64" clrIdx="1"/>
  <p:cmAuthor id="2" name="Silva, Nicole" initials="SN" lastIdx="4" clrIdx="2"/>
  <p:cmAuthor id="3" name="EXT-Barenfanger, Celia B" initials="ECB" lastIdx="26" clrIdx="3"/>
  <p:cmAuthor id="4" name="EXT-Dempewolf, Shawn S" initials="ESS" lastIdx="55" clrIdx="4"/>
  <p:cmAuthor id="5" name="Microsoft Office User" initials="Office" lastIdx="10" clrIdx="5"/>
  <p:cmAuthor id="6" name="Microsoft Office User" initials="Office [2]" lastIdx="1" clrIdx="6"/>
  <p:cmAuthor id="7" name="Microsoft Office User" initials="Office [3]" lastIdx="1" clrIdx="7"/>
  <p:cmAuthor id="8" name="Microsoft Office User" initials="Office [4]" lastIdx="1" clrIdx="8"/>
  <p:cmAuthor id="9" name="Microsoft Office User" initials="Office [5]" lastIdx="1" clrIdx="9"/>
  <p:cmAuthor id="10" name="Microsoft Office User" initials="Office [6]" lastIdx="1" clrIdx="10"/>
  <p:cmAuthor id="11" name="Microsoft Office User" initials="Office [7]" lastIdx="1" clrIdx="11"/>
  <p:cmAuthor id="12" name="Microsoft Office User" initials="Office [8]" lastIdx="1" clrIdx="12"/>
  <p:cmAuthor id="13" name="Microsoft Office User" initials="Office [8] [2]" lastIdx="1" clrIdx="13"/>
  <p:cmAuthor id="14" name="Microsoft Office User" initials="Office [9]" lastIdx="1" clrIdx="14"/>
  <p:cmAuthor id="15" name="Microsoft Office User" initials="Office [10]" lastIdx="1" clrIdx="15"/>
  <p:cmAuthor id="16" name="Microsoft Office User" initials="Office [11]" lastIdx="1" clrIdx="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1"/>
    <a:srgbClr val="1E448C"/>
    <a:srgbClr val="002B7D"/>
    <a:srgbClr val="FFFFFF"/>
    <a:srgbClr val="0E3684"/>
    <a:srgbClr val="5B6770"/>
    <a:srgbClr val="000000"/>
    <a:srgbClr val="B9B9B9"/>
    <a:srgbClr val="009BDF"/>
    <a:srgbClr val="85C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98388-B559-DA3A-3080-2C93C004E477}" v="8" dt="2025-11-19T09:13:04.189"/>
    <p1510:client id="{C2D5CAE0-D09E-203B-8D39-0D56DBC5B0A1}" v="2" dt="2025-11-19T10:10:40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t, Sawan" userId="S::sawan.bhat@boeing.com::d0e4af01-f927-473e-ba44-34e26c06a18a" providerId="AD" clId="Web-{83798388-B559-DA3A-3080-2C93C004E477}"/>
    <pc:docChg chg="modSld sldOrd">
      <pc:chgData name="Bhat, Sawan" userId="S::sawan.bhat@boeing.com::d0e4af01-f927-473e-ba44-34e26c06a18a" providerId="AD" clId="Web-{83798388-B559-DA3A-3080-2C93C004E477}" dt="2025-11-19T09:13:04.189" v="5"/>
      <pc:docMkLst>
        <pc:docMk/>
      </pc:docMkLst>
      <pc:sldChg chg="ord">
        <pc:chgData name="Bhat, Sawan" userId="S::sawan.bhat@boeing.com::d0e4af01-f927-473e-ba44-34e26c06a18a" providerId="AD" clId="Web-{83798388-B559-DA3A-3080-2C93C004E477}" dt="2025-11-19T09:13:04.189" v="5"/>
        <pc:sldMkLst>
          <pc:docMk/>
          <pc:sldMk cId="3998723210" sldId="265"/>
        </pc:sldMkLst>
      </pc:sldChg>
      <pc:sldChg chg="modSp">
        <pc:chgData name="Bhat, Sawan" userId="S::sawan.bhat@boeing.com::d0e4af01-f927-473e-ba44-34e26c06a18a" providerId="AD" clId="Web-{83798388-B559-DA3A-3080-2C93C004E477}" dt="2025-11-19T09:11:12.971" v="4" actId="20577"/>
        <pc:sldMkLst>
          <pc:docMk/>
          <pc:sldMk cId="2056523072" sldId="2147483647"/>
        </pc:sldMkLst>
        <pc:spChg chg="mod">
          <ac:chgData name="Bhat, Sawan" userId="S::sawan.bhat@boeing.com::d0e4af01-f927-473e-ba44-34e26c06a18a" providerId="AD" clId="Web-{83798388-B559-DA3A-3080-2C93C004E477}" dt="2025-11-19T09:11:12.971" v="4" actId="20577"/>
          <ac:spMkLst>
            <pc:docMk/>
            <pc:sldMk cId="2056523072" sldId="2147483647"/>
            <ac:spMk id="3" creationId="{0DF7BB76-5D70-346B-040F-13D5B2253F5D}"/>
          </ac:spMkLst>
        </pc:spChg>
      </pc:sldChg>
    </pc:docChg>
  </pc:docChgLst>
  <pc:docChgLst>
    <pc:chgData name="S, Tejashree" userId="S::tejashree.s@boeing.com::f4be11b7-fa21-40f2-b271-1ea0789a08ea" providerId="AD" clId="Web-{C2D5CAE0-D09E-203B-8D39-0D56DBC5B0A1}"/>
    <pc:docChg chg="sldOrd">
      <pc:chgData name="S, Tejashree" userId="S::tejashree.s@boeing.com::f4be11b7-fa21-40f2-b271-1ea0789a08ea" providerId="AD" clId="Web-{C2D5CAE0-D09E-203B-8D39-0D56DBC5B0A1}" dt="2025-11-19T10:10:40.098" v="1"/>
      <pc:docMkLst>
        <pc:docMk/>
      </pc:docMkLst>
      <pc:sldChg chg="ord">
        <pc:chgData name="S, Tejashree" userId="S::tejashree.s@boeing.com::f4be11b7-fa21-40f2-b271-1ea0789a08ea" providerId="AD" clId="Web-{C2D5CAE0-D09E-203B-8D39-0D56DBC5B0A1}" dt="2025-11-19T10:10:40.098" v="1"/>
        <pc:sldMkLst>
          <pc:docMk/>
          <pc:sldMk cId="2787280676" sldId="267"/>
        </pc:sldMkLst>
      </pc:sldChg>
      <pc:sldChg chg="ord">
        <pc:chgData name="S, Tejashree" userId="S::tejashree.s@boeing.com::f4be11b7-fa21-40f2-b271-1ea0789a08ea" providerId="AD" clId="Web-{C2D5CAE0-D09E-203B-8D39-0D56DBC5B0A1}" dt="2025-11-19T10:07:53.004" v="0"/>
        <pc:sldMkLst>
          <pc:docMk/>
          <pc:sldMk cId="3430186795" sldId="2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51EED160-CCAF-4F80-91F0-8A4C0FDEBF8F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CDE9BC44-BB94-4369-907F-F6B1D1B58A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423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7" tIns="46153" rIns="92307" bIns="4615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6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7" tIns="46153" rIns="92307" bIns="4615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6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7" tIns="46153" rIns="92307" bIns="46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7" tIns="46153" rIns="92307" bIns="4615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6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7" tIns="46153" rIns="92307" bIns="4615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9F009B-AA83-4291-81BE-194F11CE19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31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146800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F009B-AA83-4291-81BE-194F11CE1901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3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LivingBlu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itle 1"/>
          <p:cNvSpPr>
            <a:spLocks noGrp="1"/>
          </p:cNvSpPr>
          <p:nvPr>
            <p:ph type="ctrTitle" sz="quarter"/>
          </p:nvPr>
        </p:nvSpPr>
        <p:spPr>
          <a:xfrm>
            <a:off x="522465" y="3024186"/>
            <a:ext cx="11002433" cy="498598"/>
          </a:xfrm>
        </p:spPr>
        <p:txBody>
          <a:bodyPr/>
          <a:lstStyle>
            <a:lvl1pPr>
              <a:defRPr sz="3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522465" y="3725801"/>
            <a:ext cx="10993967" cy="249299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/>
                </a:solidFill>
              </a:rPr>
              <a:t>Copyright © 2024 Boeing. All rights reserved.</a:t>
            </a:r>
          </a:p>
        </p:txBody>
      </p:sp>
      <p:pic>
        <p:nvPicPr>
          <p:cNvPr id="8" name="Picture 47" descr="Boeing_white_standard">
            <a:extLst>
              <a:ext uri="{FF2B5EF4-FFF2-40B4-BE49-F238E27FC236}">
                <a16:creationId xmlns:a16="http://schemas.microsoft.com/office/drawing/2014/main" id="{BAEB649E-2EA5-EE4A-84FA-AA15DC61E0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95226"/>
            <a:ext cx="1855788" cy="44767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12D741-50A6-4861-863A-4C1A5C3013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404123"/>
            <a:ext cx="6127011" cy="377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D3F6DE-4FD2-480F-B154-D62E075627DB}"/>
              </a:ext>
            </a:extLst>
          </p:cNvPr>
          <p:cNvSpPr txBox="1"/>
          <p:nvPr userDrawn="1"/>
        </p:nvSpPr>
        <p:spPr>
          <a:xfrm>
            <a:off x="9132983" y="694062"/>
            <a:ext cx="2050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Boeing Artificial Intelligence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LivingBl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069269-3964-4743-8C8F-6000A3DCAF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itle 1"/>
          <p:cNvSpPr>
            <a:spLocks noGrp="1"/>
          </p:cNvSpPr>
          <p:nvPr>
            <p:ph type="ctrTitle" sz="quarter"/>
          </p:nvPr>
        </p:nvSpPr>
        <p:spPr>
          <a:xfrm>
            <a:off x="522465" y="3024186"/>
            <a:ext cx="11002433" cy="498598"/>
          </a:xfrm>
        </p:spPr>
        <p:txBody>
          <a:bodyPr/>
          <a:lstStyle>
            <a:lvl1pPr>
              <a:defRPr sz="3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522465" y="3725801"/>
            <a:ext cx="10993967" cy="249299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/>
                </a:solidFill>
              </a:rPr>
              <a:t>Copyright © 2024 Boeing. All rights reserved.</a:t>
            </a:r>
          </a:p>
        </p:txBody>
      </p:sp>
      <p:pic>
        <p:nvPicPr>
          <p:cNvPr id="11" name="Picture 47" descr="Boeing_white_standard">
            <a:extLst>
              <a:ext uri="{FF2B5EF4-FFF2-40B4-BE49-F238E27FC236}">
                <a16:creationId xmlns:a16="http://schemas.microsoft.com/office/drawing/2014/main" id="{ABC026F6-CC0B-B143-811C-556E89FCB5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95226"/>
            <a:ext cx="1855788" cy="44767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86B998-D374-46B3-8D5A-68BE0B1DD3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404123"/>
            <a:ext cx="6127011" cy="377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D4BC8C-098D-4E88-8F68-BF2902A66421}"/>
              </a:ext>
            </a:extLst>
          </p:cNvPr>
          <p:cNvSpPr txBox="1"/>
          <p:nvPr userDrawn="1"/>
        </p:nvSpPr>
        <p:spPr>
          <a:xfrm>
            <a:off x="9132983" y="694062"/>
            <a:ext cx="2050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Boeing Artificial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BDDC8-AF9F-62B0-9007-6B27E68AFF26}"/>
              </a:ext>
            </a:extLst>
          </p:cNvPr>
          <p:cNvSpPr txBox="1"/>
          <p:nvPr userDrawn="1"/>
        </p:nvSpPr>
        <p:spPr>
          <a:xfrm>
            <a:off x="459091" y="5517476"/>
            <a:ext cx="74691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400">
                <a:solidFill>
                  <a:srgbClr val="2F549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483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Blue_BG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Blue_BG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069269-3964-4743-8C8F-6000A3DCAF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06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Divi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3" t="1181" r="2898" b="36029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17376"/>
            <a:ext cx="11239500" cy="623248"/>
          </a:xfrm>
        </p:spPr>
        <p:txBody>
          <a:bodyPr/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59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F3C31D-0571-524B-A9E3-B95B800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3F2436D-8FE8-0E49-A967-F8A9058C4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1018205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1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49E8DD-FF81-1940-903D-167F491627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344" y="1432908"/>
            <a:ext cx="10980835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C68FC903-7584-354B-BEBC-16207367C7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D37AAF8-24EE-0342-993F-8BF332F0E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1AB674-AA43-3C41-A5B8-C461D178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EB4F12-802E-D643-81B6-02F8AAD3A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1450361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9AB1A9-3101-5446-B86B-B4A8D581A97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432908"/>
            <a:ext cx="543136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30F0798-937A-0F4F-BC3E-58C03146BD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432908"/>
            <a:ext cx="5433483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" name="Footer Placeholder 82">
            <a:extLst>
              <a:ext uri="{FF2B5EF4-FFF2-40B4-BE49-F238E27FC236}">
                <a16:creationId xmlns:a16="http://schemas.microsoft.com/office/drawing/2014/main" id="{6B832A1C-FD80-1C46-A52A-8382D7322B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FD010B04-6E1C-604B-A564-A869CFD73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C443CE-CB7D-E44F-87A8-24D5945C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B5BE2BC-4BB7-3B48-8AFA-08EF339DFB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1576152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2Content_w/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4F7367-5BBA-514E-99CC-4BC56B9FD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35608"/>
            <a:ext cx="5386917" cy="3046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5B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2260942-4AA0-E141-8289-9B265CA8D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946835"/>
            <a:ext cx="5386917" cy="1477328"/>
          </a:xfrm>
          <a:prstGeom prst="rect">
            <a:avLst/>
          </a:prstGeo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2234CDA-553A-AA45-8EAD-77E05EC2E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9048" y="1435608"/>
            <a:ext cx="5389033" cy="3046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5B677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9680ECA-6127-E14C-9E8C-6D7CD20FA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1946797"/>
            <a:ext cx="5389033" cy="1477328"/>
          </a:xfrm>
          <a:prstGeom prst="rect">
            <a:avLst/>
          </a:prstGeo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82">
            <a:extLst>
              <a:ext uri="{FF2B5EF4-FFF2-40B4-BE49-F238E27FC236}">
                <a16:creationId xmlns:a16="http://schemas.microsoft.com/office/drawing/2014/main" id="{C22583EE-EBAA-3744-A615-6144D88DD45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B884C9B-648F-F240-93FB-D00F229CD5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067412-485A-3F41-9D5E-8CF0517E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28D49B1-F861-B84E-8BAC-2F990E63D3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03391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_Picture_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A21917-118D-AF4C-B482-E50B88C6C18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6628" y="1577083"/>
            <a:ext cx="4833238" cy="4114800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F219F5-F627-DE43-9CE5-F3DAD848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82">
            <a:extLst>
              <a:ext uri="{FF2B5EF4-FFF2-40B4-BE49-F238E27FC236}">
                <a16:creationId xmlns:a16="http://schemas.microsoft.com/office/drawing/2014/main" id="{37B0ABB4-3B4D-AD4C-A169-B7CC260A12A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B212007-9CCB-E743-9DC0-8C0F290E5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23E5F7F-ABA0-9948-A552-408FC083B0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E854BD1-647C-4039-B89B-56DC0699BC6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610279" y="1577083"/>
            <a:ext cx="4833238" cy="4114800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57111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qua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7601E75-F864-5E4C-A9C2-BC3D4E952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 userDrawn="1"/>
        </p:nvCxnSpPr>
        <p:spPr>
          <a:xfrm flipV="1">
            <a:off x="6096000" y="964276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69D"/>
                </a:gs>
                <a:gs pos="50000">
                  <a:srgbClr val="85C2EF"/>
                </a:gs>
                <a:gs pos="80000">
                  <a:srgbClr val="00369D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 flipH="1">
            <a:off x="457201" y="3584863"/>
            <a:ext cx="11239499" cy="1"/>
          </a:xfrm>
          <a:prstGeom prst="line">
            <a:avLst/>
          </a:prstGeom>
          <a:ln w="15875" cap="rnd" cmpd="sng">
            <a:gradFill>
              <a:gsLst>
                <a:gs pos="50000">
                  <a:srgbClr val="85C2EF"/>
                </a:gs>
                <a:gs pos="20000">
                  <a:srgbClr val="00369D"/>
                </a:gs>
                <a:gs pos="80000">
                  <a:srgbClr val="00369D"/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462645" y="964276"/>
            <a:ext cx="5259170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21"/>
          </p:nvPr>
        </p:nvSpPr>
        <p:spPr>
          <a:xfrm>
            <a:off x="6437530" y="964276"/>
            <a:ext cx="5259170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3"/>
          <p:cNvSpPr>
            <a:spLocks noGrp="1"/>
          </p:cNvSpPr>
          <p:nvPr>
            <p:ph type="body" sz="quarter" idx="23"/>
          </p:nvPr>
        </p:nvSpPr>
        <p:spPr>
          <a:xfrm>
            <a:off x="469379" y="3831336"/>
            <a:ext cx="5259170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6437530" y="3831336"/>
            <a:ext cx="5259170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05E95190-3F4A-2045-929E-292D81F2E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C858C-4456-354F-9D02-B5CF00B776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21" name="Footer Placeholder 82">
            <a:extLst>
              <a:ext uri="{FF2B5EF4-FFF2-40B4-BE49-F238E27FC236}">
                <a16:creationId xmlns:a16="http://schemas.microsoft.com/office/drawing/2014/main" id="{79337AF9-6A73-2748-A591-1E2302E90C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87CF000F-A62C-394D-9ADC-4237E9FD0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E4890-D76A-9D4D-9448-103642AF7C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7" y="1373147"/>
            <a:ext cx="5255187" cy="1477328"/>
          </a:xfrm>
        </p:spPr>
        <p:txBody>
          <a:bodyPr/>
          <a:lstStyle>
            <a:lvl1pPr>
              <a:defRPr sz="1800">
                <a:solidFill>
                  <a:srgbClr val="5B6770"/>
                </a:solidFill>
              </a:defRPr>
            </a:lvl1pPr>
            <a:lvl2pPr>
              <a:defRPr sz="1600">
                <a:solidFill>
                  <a:srgbClr val="5B6770"/>
                </a:solidFill>
              </a:defRPr>
            </a:lvl2pPr>
            <a:lvl3pPr marL="627063" indent="-185738">
              <a:buFont typeface="Wingdings" panose="05000000000000000000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59FE9C1-5DB4-454A-992E-A8F2B6E64D7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37376" y="1373147"/>
            <a:ext cx="5255187" cy="1477328"/>
          </a:xfrm>
        </p:spPr>
        <p:txBody>
          <a:bodyPr/>
          <a:lstStyle>
            <a:lvl1pPr>
              <a:defRPr sz="1800">
                <a:solidFill>
                  <a:srgbClr val="5B6770"/>
                </a:solidFill>
              </a:defRPr>
            </a:lvl1pPr>
            <a:lvl2pPr>
              <a:defRPr sz="1600">
                <a:solidFill>
                  <a:srgbClr val="5B6770"/>
                </a:solidFill>
              </a:defRPr>
            </a:lvl2pPr>
            <a:lvl3pPr marL="627063" indent="-185738">
              <a:buFont typeface="Wingdings" panose="05000000000000000000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9B6AE58-64EC-5C46-9C7C-5385A3D4242F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437376" y="4227289"/>
            <a:ext cx="5255187" cy="1477328"/>
          </a:xfrm>
        </p:spPr>
        <p:txBody>
          <a:bodyPr/>
          <a:lstStyle>
            <a:lvl1pPr>
              <a:defRPr sz="1800">
                <a:solidFill>
                  <a:srgbClr val="5B6770"/>
                </a:solidFill>
              </a:defRPr>
            </a:lvl1pPr>
            <a:lvl2pPr>
              <a:defRPr sz="1600">
                <a:solidFill>
                  <a:srgbClr val="5B6770"/>
                </a:solidFill>
              </a:defRPr>
            </a:lvl2pPr>
            <a:lvl3pPr marL="627063" indent="-185738">
              <a:buFont typeface="Wingdings" panose="05000000000000000000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EFBC3E8-3090-734F-BA07-3A15C0FCE63C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66627" y="4227289"/>
            <a:ext cx="5255187" cy="1477328"/>
          </a:xfrm>
        </p:spPr>
        <p:txBody>
          <a:bodyPr/>
          <a:lstStyle>
            <a:lvl1pPr>
              <a:defRPr sz="1800">
                <a:solidFill>
                  <a:srgbClr val="5B6770"/>
                </a:solidFill>
              </a:defRPr>
            </a:lvl1pPr>
            <a:lvl2pPr>
              <a:defRPr sz="1600">
                <a:solidFill>
                  <a:srgbClr val="5B6770"/>
                </a:solidFill>
              </a:defRPr>
            </a:lvl2pPr>
            <a:lvl3pPr marL="627063" indent="-185738">
              <a:buFont typeface="Wingdings" panose="05000000000000000000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buFont typeface="Wingdings" panose="05000000000000000000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2F4776C-A8A7-FD4F-B5C3-C00C8494B0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51391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qua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7601E75-F864-5E4C-A9C2-BC3D4E952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 userDrawn="1"/>
        </p:nvCxnSpPr>
        <p:spPr>
          <a:xfrm flipV="1">
            <a:off x="6096000" y="964276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69D"/>
                </a:gs>
                <a:gs pos="50000">
                  <a:srgbClr val="85C2EF"/>
                </a:gs>
                <a:gs pos="80000">
                  <a:srgbClr val="00369D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 flipH="1">
            <a:off x="457201" y="3584863"/>
            <a:ext cx="11239499" cy="1"/>
          </a:xfrm>
          <a:prstGeom prst="line">
            <a:avLst/>
          </a:prstGeom>
          <a:ln w="15875" cap="rnd" cmpd="sng">
            <a:gradFill>
              <a:gsLst>
                <a:gs pos="50000">
                  <a:srgbClr val="85C2EF"/>
                </a:gs>
                <a:gs pos="20000">
                  <a:srgbClr val="00369D"/>
                </a:gs>
                <a:gs pos="80000">
                  <a:srgbClr val="00369D"/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462645" y="964276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05E95190-3F4A-2045-929E-292D81F2E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C858C-4456-354F-9D02-B5CF00B776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21" name="Footer Placeholder 82">
            <a:extLst>
              <a:ext uri="{FF2B5EF4-FFF2-40B4-BE49-F238E27FC236}">
                <a16:creationId xmlns:a16="http://schemas.microsoft.com/office/drawing/2014/main" id="{79337AF9-6A73-2748-A591-1E2302E90C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87CF000F-A62C-394D-9ADC-4237E9FD0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E4890-D76A-9D4D-9448-103642AF7C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7" y="1371600"/>
            <a:ext cx="525518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59FE9C1-5DB4-454A-992E-A8F2B6E64D7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37376" y="1371600"/>
            <a:ext cx="525518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9B6AE58-64EC-5C46-9C7C-5385A3D4242F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437376" y="4224528"/>
            <a:ext cx="525518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EFBC3E8-3090-734F-BA07-3A15C0FCE63C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66627" y="4224528"/>
            <a:ext cx="525518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824C1626-714D-A24D-9738-2241F18D51D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7530" y="964276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B20AC434-9BCE-2B45-A662-FA12A7E8E5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2645" y="3826348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B636DD09-B856-624E-8792-8B8866B0A8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7376" y="3826348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FCE8E8-4723-0F43-A724-82B5326402F3}"/>
              </a:ext>
            </a:extLst>
          </p:cNvPr>
          <p:cNvCxnSpPr>
            <a:cxnSpLocks/>
          </p:cNvCxnSpPr>
          <p:nvPr userDrawn="1"/>
        </p:nvCxnSpPr>
        <p:spPr>
          <a:xfrm>
            <a:off x="457200" y="1306760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3D385F-05A2-844B-9FC6-FA9E2469E9CA}"/>
              </a:ext>
            </a:extLst>
          </p:cNvPr>
          <p:cNvCxnSpPr>
            <a:cxnSpLocks/>
          </p:cNvCxnSpPr>
          <p:nvPr userDrawn="1"/>
        </p:nvCxnSpPr>
        <p:spPr>
          <a:xfrm>
            <a:off x="6437376" y="1306760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98A35A-EF29-AF4F-A202-AE18E4B6EE8D}"/>
              </a:ext>
            </a:extLst>
          </p:cNvPr>
          <p:cNvCxnSpPr>
            <a:cxnSpLocks/>
          </p:cNvCxnSpPr>
          <p:nvPr userDrawn="1"/>
        </p:nvCxnSpPr>
        <p:spPr>
          <a:xfrm>
            <a:off x="457200" y="4177976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6B407E4-1BCC-6D46-ADF0-B674E5DA1F9D}"/>
              </a:ext>
            </a:extLst>
          </p:cNvPr>
          <p:cNvCxnSpPr>
            <a:cxnSpLocks/>
          </p:cNvCxnSpPr>
          <p:nvPr userDrawn="1"/>
        </p:nvCxnSpPr>
        <p:spPr>
          <a:xfrm>
            <a:off x="6437376" y="4177976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FF254D1F-80C1-C04F-B79D-0A7BD8310B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855801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7601E75-F864-5E4C-A9C2-BC3D4E952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25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462645" y="964276"/>
            <a:ext cx="3438144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05E95190-3F4A-2045-929E-292D81F2E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C858C-4456-354F-9D02-B5CF00B776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21" name="Footer Placeholder 82">
            <a:extLst>
              <a:ext uri="{FF2B5EF4-FFF2-40B4-BE49-F238E27FC236}">
                <a16:creationId xmlns:a16="http://schemas.microsoft.com/office/drawing/2014/main" id="{79337AF9-6A73-2748-A591-1E2302E90C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87CF000F-A62C-394D-9ADC-4237E9FD0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65E970-E83A-0A48-9DD3-67237A2B137F}"/>
              </a:ext>
            </a:extLst>
          </p:cNvPr>
          <p:cNvCxnSpPr/>
          <p:nvPr userDrawn="1"/>
        </p:nvCxnSpPr>
        <p:spPr>
          <a:xfrm flipV="1">
            <a:off x="4196381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3A1"/>
                </a:gs>
                <a:gs pos="50000">
                  <a:srgbClr val="85C2EF"/>
                </a:gs>
                <a:gs pos="80000">
                  <a:srgbClr val="0033A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6D77B6-B71B-DD44-BDC8-7B993EA4ACBE}"/>
              </a:ext>
            </a:extLst>
          </p:cNvPr>
          <p:cNvCxnSpPr/>
          <p:nvPr userDrawn="1"/>
        </p:nvCxnSpPr>
        <p:spPr>
          <a:xfrm flipV="1">
            <a:off x="8068126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3A1"/>
                </a:gs>
                <a:gs pos="50000">
                  <a:srgbClr val="85C2EF"/>
                </a:gs>
                <a:gs pos="80000">
                  <a:srgbClr val="0033A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C95D660C-BBB7-2345-8873-54DEDA9926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8" y="1373147"/>
            <a:ext cx="3438144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2BE43185-3C89-FB42-9760-03D6814485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85421" y="964276"/>
            <a:ext cx="3438144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E0F05990-D1A3-6544-B20D-9FD4BA08E06A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4389404" y="1373147"/>
            <a:ext cx="3438144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B5D8FCEF-3666-5440-A2E2-89FC86F0B8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7165" y="964276"/>
            <a:ext cx="3439456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B7FD94BA-73E9-234E-A8A6-17BBA9DD78C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7032" y="1373147"/>
            <a:ext cx="3435552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80F542-62F4-3C44-BB0C-E1A2BED967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167156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7601E75-F864-5E4C-A9C2-BC3D4E952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25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462645" y="2791845"/>
            <a:ext cx="3694802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05E95190-3F4A-2045-929E-292D81F2E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C858C-4456-354F-9D02-B5CF00B776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21" name="Footer Placeholder 82">
            <a:extLst>
              <a:ext uri="{FF2B5EF4-FFF2-40B4-BE49-F238E27FC236}">
                <a16:creationId xmlns:a16="http://schemas.microsoft.com/office/drawing/2014/main" id="{79337AF9-6A73-2748-A591-1E2302E90C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87CF000F-A62C-394D-9ADC-4237E9FD0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A376E6-B939-5043-B18C-296BAF1908A4}"/>
              </a:ext>
            </a:extLst>
          </p:cNvPr>
          <p:cNvGrpSpPr/>
          <p:nvPr userDrawn="1"/>
        </p:nvGrpSpPr>
        <p:grpSpPr>
          <a:xfrm>
            <a:off x="4160127" y="2289810"/>
            <a:ext cx="3871745" cy="2286000"/>
            <a:chOff x="4196381" y="914400"/>
            <a:chExt cx="3871745" cy="228600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E65E970-E83A-0A48-9DD3-67237A2B137F}"/>
                </a:ext>
              </a:extLst>
            </p:cNvPr>
            <p:cNvCxnSpPr/>
            <p:nvPr userDrawn="1"/>
          </p:nvCxnSpPr>
          <p:spPr>
            <a:xfrm flipV="1">
              <a:off x="4196381" y="914400"/>
              <a:ext cx="0" cy="2286000"/>
            </a:xfrm>
            <a:prstGeom prst="line">
              <a:avLst/>
            </a:prstGeom>
            <a:ln w="15875" cap="rnd" cmpd="sng">
              <a:gradFill>
                <a:gsLst>
                  <a:gs pos="20000">
                    <a:srgbClr val="0033A1"/>
                  </a:gs>
                  <a:gs pos="50000">
                    <a:srgbClr val="85C2EF"/>
                  </a:gs>
                  <a:gs pos="80000">
                    <a:srgbClr val="0033A1"/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F6D77B6-B71B-DD44-BDC8-7B993EA4ACBE}"/>
                </a:ext>
              </a:extLst>
            </p:cNvPr>
            <p:cNvCxnSpPr/>
            <p:nvPr userDrawn="1"/>
          </p:nvCxnSpPr>
          <p:spPr>
            <a:xfrm flipV="1">
              <a:off x="8068126" y="914400"/>
              <a:ext cx="0" cy="2286000"/>
            </a:xfrm>
            <a:prstGeom prst="line">
              <a:avLst/>
            </a:prstGeom>
            <a:ln w="15875" cap="rnd" cmpd="sng">
              <a:gradFill>
                <a:gsLst>
                  <a:gs pos="20000">
                    <a:srgbClr val="0033A1"/>
                  </a:gs>
                  <a:gs pos="50000">
                    <a:srgbClr val="85C2EF"/>
                  </a:gs>
                  <a:gs pos="80000">
                    <a:srgbClr val="0033A1"/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C95D660C-BBB7-2345-8873-54DEDA9926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8" y="3834718"/>
            <a:ext cx="3694802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5B6770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E7A69C4-3DB2-234E-8274-42E5BFE3B2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9120" y="2791845"/>
            <a:ext cx="3438144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23B732F-A735-7E42-B7F0-45522C18B0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389120" y="3834718"/>
            <a:ext cx="3438144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5B6770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CF752F2-B18E-6040-A662-85D39EAE28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30570" y="2791845"/>
            <a:ext cx="3642619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rgbClr val="5B67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2E4C90A-A6BF-A64F-BFA4-A10D4F0B68EB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8028432" y="3834718"/>
            <a:ext cx="3642619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5B6770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07EE3C-4FC4-5744-9B6A-E697A880EA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837555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de_Page_Header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719108" y="6484648"/>
            <a:ext cx="2753783" cy="1415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algn="ctr" defTabSz="820738" eaLnBrk="0" hangingPunct="0"/>
            <a:r>
              <a:rPr lang="en-US" sz="800" b="1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EF87193-C373-294B-B8B1-E6A2C6337B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991321-AE61-4349-9E0B-5F5B59E1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027E8E-2997-9E40-B102-D4A9F5D8B2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Living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793" y="2907323"/>
            <a:ext cx="4466414" cy="1043354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/>
                </a:solidFill>
              </a:rPr>
              <a:t>Copyright © 2024 Boeing. All rights reserved.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5E2C-51EE-C17E-5064-EEAD602F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9152-6C2B-FFC0-6392-20DE4704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E09E9-D49E-B836-C40C-8F1F1BD0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449C-3149-487C-8700-98078078DE2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840FD-9761-6B72-18B1-66A4C58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657E4-B495-581B-4297-E5AD1409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0C1B-29E6-44C3-934C-C503BEAF9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27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LivingBlu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52" t="64728" r="23943" b="13"/>
          <a:stretch/>
        </p:blipFill>
        <p:spPr>
          <a:xfrm>
            <a:off x="-1" y="0"/>
            <a:ext cx="12192001" cy="6855590"/>
          </a:xfrm>
          <a:prstGeom prst="rect">
            <a:avLst/>
          </a:prstGeom>
        </p:spPr>
      </p:pic>
      <p:sp>
        <p:nvSpPr>
          <p:cNvPr id="66" name="Title 1"/>
          <p:cNvSpPr>
            <a:spLocks noGrp="1"/>
          </p:cNvSpPr>
          <p:nvPr>
            <p:ph type="ctrTitle" sz="quarter"/>
          </p:nvPr>
        </p:nvSpPr>
        <p:spPr>
          <a:xfrm>
            <a:off x="522465" y="3024186"/>
            <a:ext cx="11002433" cy="498598"/>
          </a:xfrm>
          <a:prstGeom prst="rect">
            <a:avLst/>
          </a:prstGeom>
        </p:spPr>
        <p:txBody>
          <a:bodyPr/>
          <a:lstStyle>
            <a:lvl1pPr>
              <a:defRPr sz="3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522465" y="3725801"/>
            <a:ext cx="10993967" cy="249299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alpha val="50000"/>
                  </a:schemeClr>
                </a:solidFill>
              </a:rPr>
              <a:t>Copyright © 2024 Boeing. All rights reserved.</a:t>
            </a:r>
          </a:p>
        </p:txBody>
      </p:sp>
      <p:pic>
        <p:nvPicPr>
          <p:cNvPr id="8" name="Picture 47" descr="Boeing_white_standard">
            <a:extLst>
              <a:ext uri="{FF2B5EF4-FFF2-40B4-BE49-F238E27FC236}">
                <a16:creationId xmlns:a16="http://schemas.microsoft.com/office/drawing/2014/main" id="{A0DFB473-9A5B-2949-8859-D54F0245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95226"/>
            <a:ext cx="1855788" cy="44767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D63366-278C-47FA-BE36-186DC000CB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404123"/>
            <a:ext cx="6127011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LivingBl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069269-3964-4743-8C8F-6000A3DCAF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" t="63615" r="54643" b="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itle 1"/>
          <p:cNvSpPr>
            <a:spLocks noGrp="1"/>
          </p:cNvSpPr>
          <p:nvPr>
            <p:ph type="ctrTitle" sz="quarter"/>
          </p:nvPr>
        </p:nvSpPr>
        <p:spPr>
          <a:xfrm>
            <a:off x="522465" y="3024186"/>
            <a:ext cx="11002433" cy="498598"/>
          </a:xfrm>
          <a:prstGeom prst="rect">
            <a:avLst/>
          </a:prstGeom>
        </p:spPr>
        <p:txBody>
          <a:bodyPr/>
          <a:lstStyle>
            <a:lvl1pPr>
              <a:defRPr sz="3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522465" y="3725801"/>
            <a:ext cx="10993967" cy="249299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8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alpha val="50000"/>
                  </a:schemeClr>
                </a:solidFill>
              </a:rPr>
              <a:t>Copyright © 2024 Boeing. All rights reserved.</a:t>
            </a:r>
          </a:p>
        </p:txBody>
      </p:sp>
      <p:pic>
        <p:nvPicPr>
          <p:cNvPr id="9" name="Picture 47" descr="Boeing_white_standard">
            <a:extLst>
              <a:ext uri="{FF2B5EF4-FFF2-40B4-BE49-F238E27FC236}">
                <a16:creationId xmlns:a16="http://schemas.microsoft.com/office/drawing/2014/main" id="{601B7DB9-31F1-0749-BC63-F523FC6A55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95226"/>
            <a:ext cx="1855788" cy="447675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60BA36-62CA-4EB4-BC5F-D728EBF392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404123"/>
            <a:ext cx="6127011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17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Blue_BG_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D677E-EB9B-2345-9B11-068682EA64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52" t="64728" r="23943" b="13"/>
          <a:stretch/>
        </p:blipFill>
        <p:spPr>
          <a:xfrm>
            <a:off x="-1" y="0"/>
            <a:ext cx="12192001" cy="685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43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ingBlue_BG_Only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E7862A-2D29-6F47-97BC-457AB4A4D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" t="63615" r="54643" b="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10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0BEEA5-8E01-B64C-9ADF-6D580C3B0F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" t="63615" r="54643" b="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17376"/>
            <a:ext cx="11239500" cy="623248"/>
          </a:xfrm>
          <a:prstGeom prst="rect">
            <a:avLst/>
          </a:prstGeom>
        </p:spPr>
        <p:txBody>
          <a:bodyPr/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5944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655093F-2A6A-CD48-B216-7BC623D5446F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7587D12-EB46-774B-B598-092C13B1D8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73990BE-157D-E04D-966C-1D03E45C47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E9C8113-DF5C-AA45-8F89-3495A53E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C20F803-7997-A54D-9F01-DE6AA08859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46276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1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45F4419-8A54-D949-AEAA-9E1B5C239431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8110D9-AC1D-D741-86FB-D57BD3931D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5411D6-C0E0-CD42-B997-F0B88ABB90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49E8DD-FF81-1940-903D-167F491627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27" y="1435608"/>
            <a:ext cx="10980835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80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C68FC903-7584-354B-BEBC-16207367C7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0050983-E59D-724D-95D3-9F68FB2446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2BA636-6C34-5E4B-BFB0-9E043A67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D01FB25-3A6D-3243-87F3-D1DF9BE3F8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648847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A2E19E-10B1-7D45-8834-CFC308B56F6F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CC7390-F976-864F-926F-81161612C9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9905E-0DAB-8547-A0F2-83E163EB11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9AB1A9-3101-5446-B86B-B4A8D581A97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7" y="1435608"/>
            <a:ext cx="5431367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80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30F0798-937A-0F4F-BC3E-58C03146BD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9048" y="1435608"/>
            <a:ext cx="5433483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80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" name="Footer Placeholder 82">
            <a:extLst>
              <a:ext uri="{FF2B5EF4-FFF2-40B4-BE49-F238E27FC236}">
                <a16:creationId xmlns:a16="http://schemas.microsoft.com/office/drawing/2014/main" id="{6B832A1C-FD80-1C46-A52A-8382D7322B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0578351-4FF5-B34F-AAF7-D2C32B2544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2E54027-8E3C-BA44-84BD-15732645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0190A8E-F6B7-5A46-9D28-D3EB9DA279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387992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Bar_2Content_w/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01D1BA8-A153-BB48-BA93-0ADD5009204E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F48EC8C-BDF6-CE4F-8D1F-8E766671336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39AEC07-6368-B441-B918-79FB964A6A8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4F7367-5BBA-514E-99CC-4BC56B9FD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35608"/>
            <a:ext cx="5386917" cy="3046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2260942-4AA0-E141-8289-9B265CA8D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344" y="1946835"/>
            <a:ext cx="5386917" cy="1477328"/>
          </a:xfrm>
          <a:prstGeom prst="rect">
            <a:avLst/>
          </a:prstGeom>
        </p:spPr>
        <p:txBody>
          <a:bodyPr/>
          <a:lstStyle>
            <a:lvl1pPr marL="169863" indent="-16986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80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2234CDA-553A-AA45-8EAD-77E05EC2E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9048" y="1435608"/>
            <a:ext cx="5389033" cy="3046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9680ECA-6127-E14C-9E8C-6D7CD20FA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1946797"/>
            <a:ext cx="5389033" cy="1477328"/>
          </a:xfrm>
          <a:prstGeom prst="rect">
            <a:avLst/>
          </a:prstGeom>
        </p:spPr>
        <p:txBody>
          <a:bodyPr/>
          <a:lstStyle>
            <a:lvl1pPr marL="169863" indent="-16986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80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BDF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82">
            <a:extLst>
              <a:ext uri="{FF2B5EF4-FFF2-40B4-BE49-F238E27FC236}">
                <a16:creationId xmlns:a16="http://schemas.microsoft.com/office/drawing/2014/main" id="{C22583EE-EBAA-3744-A615-6144D88DD45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BD23B03-4C34-D449-8FBD-7A4A0CF5C7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FBD9A23-95CD-4A4A-B90F-C55EA825AC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929965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_Picture_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A4F6DCE-52F2-4D48-A9EA-9CC8B3400BE2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-1" y="0"/>
            <a:chExt cx="1219200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6558056-D66A-0F45-8D81-D131E33479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00EAB0-AF51-674A-B714-72738EE643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F219F5-F627-DE43-9CE5-F3DAD848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4331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82">
            <a:extLst>
              <a:ext uri="{FF2B5EF4-FFF2-40B4-BE49-F238E27FC236}">
                <a16:creationId xmlns:a16="http://schemas.microsoft.com/office/drawing/2014/main" id="{37B0ABB4-3B4D-AD4C-A169-B7CC260A12A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47D4937-570D-054C-8595-4F69BD89A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E1A8DB2-7C37-B540-A72E-F98D4385F2C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6627" y="1577083"/>
            <a:ext cx="4833239" cy="4114800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882BA32-D92F-FB4D-BF88-EBC69EA8C0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092D33D-2625-4AB3-B434-8E73707BD228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610278" y="1580936"/>
            <a:ext cx="4833239" cy="4114800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8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qa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7D1C505-1541-9B43-9538-C4D36645D0A5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FA52FB-7C2B-3849-985C-4FAB9F5C6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6BAF14-559E-154D-83F4-F1D604010D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/>
          <p:cNvCxnSpPr/>
          <p:nvPr userDrawn="1"/>
        </p:nvCxnSpPr>
        <p:spPr>
          <a:xfrm flipV="1">
            <a:off x="6096000" y="964276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69D"/>
                </a:gs>
                <a:gs pos="50000">
                  <a:srgbClr val="85C2EF"/>
                </a:gs>
                <a:gs pos="80000">
                  <a:srgbClr val="00369D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 flipH="1">
            <a:off x="457201" y="3584863"/>
            <a:ext cx="11239499" cy="1"/>
          </a:xfrm>
          <a:prstGeom prst="line">
            <a:avLst/>
          </a:prstGeom>
          <a:ln w="15875" cap="rnd" cmpd="sng">
            <a:gradFill>
              <a:gsLst>
                <a:gs pos="50000">
                  <a:srgbClr val="85C2EF"/>
                </a:gs>
                <a:gs pos="20000">
                  <a:srgbClr val="00369D"/>
                </a:gs>
                <a:gs pos="80000">
                  <a:srgbClr val="00369D"/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D6B13-A369-0D42-90A2-FA69C71E990A}"/>
              </a:ext>
            </a:extLst>
          </p:cNvPr>
          <p:cNvCxnSpPr>
            <a:cxnSpLocks/>
          </p:cNvCxnSpPr>
          <p:nvPr userDrawn="1"/>
        </p:nvCxnSpPr>
        <p:spPr>
          <a:xfrm>
            <a:off x="-1" y="599782"/>
            <a:ext cx="12192000" cy="0"/>
          </a:xfrm>
          <a:prstGeom prst="line">
            <a:avLst/>
          </a:prstGeom>
          <a:ln w="20320">
            <a:gradFill>
              <a:gsLst>
                <a:gs pos="50000">
                  <a:srgbClr val="85C2EF"/>
                </a:gs>
                <a:gs pos="80000">
                  <a:srgbClr val="0033A1"/>
                </a:gs>
                <a:gs pos="20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B48476E-D185-EE48-B224-EBE8C62D6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151C326-8BF7-2147-B8B1-8B4C34FD28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645" y="964275"/>
            <a:ext cx="5259170" cy="3108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5E66A04-12F1-A94F-89B5-B12CB8DEB6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37530" y="964275"/>
            <a:ext cx="5259170" cy="3108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1E193B8B-AFE2-B844-A8B9-7734FDF9B5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9379" y="3822191"/>
            <a:ext cx="5259170" cy="3108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0CECE50-6837-AD4B-8747-BB264B07F0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37530" y="3822191"/>
            <a:ext cx="5259170" cy="3108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6B0BDE6-16B4-F141-B881-8938715DF45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8" y="1371600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AB19AB9-7D9B-0B44-A4D0-92C885EE2503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37376" y="1371600"/>
            <a:ext cx="5249744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FDC37C7-A53B-474E-A7B4-75782A69A927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466344" y="4224528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6632140-4324-3846-B3C5-E34D3DFCD5E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437530" y="4224528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4046E1B0-5AB0-B745-87FF-1C5A20F37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B0A9D4-6529-B949-A7E3-2DCDDF944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44" name="Footer Placeholder 82">
            <a:extLst>
              <a:ext uri="{FF2B5EF4-FFF2-40B4-BE49-F238E27FC236}">
                <a16:creationId xmlns:a16="http://schemas.microsoft.com/office/drawing/2014/main" id="{A49341B2-67A5-1E43-A834-746205F9F60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ADC75DF-E3A6-2D42-BBCC-1CCC81E9C3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802577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qua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7D1C505-1541-9B43-9538-C4D36645D0A5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-1" y="0"/>
            <a:chExt cx="12192001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FA52FB-7C2B-3849-985C-4FAB9F5C6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6BAF14-559E-154D-83F4-F1D604010D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/>
          <p:cNvCxnSpPr/>
          <p:nvPr userDrawn="1"/>
        </p:nvCxnSpPr>
        <p:spPr>
          <a:xfrm flipV="1">
            <a:off x="6096000" y="964276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69D"/>
                </a:gs>
                <a:gs pos="50000">
                  <a:srgbClr val="85C2EF"/>
                </a:gs>
                <a:gs pos="80000">
                  <a:srgbClr val="00369D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 flipH="1">
            <a:off x="457201" y="3584863"/>
            <a:ext cx="11239499" cy="1"/>
          </a:xfrm>
          <a:prstGeom prst="line">
            <a:avLst/>
          </a:prstGeom>
          <a:ln w="15875" cap="rnd" cmpd="sng">
            <a:gradFill>
              <a:gsLst>
                <a:gs pos="50000">
                  <a:srgbClr val="85C2EF"/>
                </a:gs>
                <a:gs pos="20000">
                  <a:srgbClr val="00369D"/>
                </a:gs>
                <a:gs pos="80000">
                  <a:srgbClr val="00369D"/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D6B13-A369-0D42-90A2-FA69C71E990A}"/>
              </a:ext>
            </a:extLst>
          </p:cNvPr>
          <p:cNvCxnSpPr>
            <a:cxnSpLocks/>
          </p:cNvCxnSpPr>
          <p:nvPr userDrawn="1"/>
        </p:nvCxnSpPr>
        <p:spPr>
          <a:xfrm>
            <a:off x="-1" y="599782"/>
            <a:ext cx="12192000" cy="0"/>
          </a:xfrm>
          <a:prstGeom prst="line">
            <a:avLst/>
          </a:prstGeom>
          <a:ln w="20320">
            <a:gradFill>
              <a:gsLst>
                <a:gs pos="50000">
                  <a:srgbClr val="85C2EF"/>
                </a:gs>
                <a:gs pos="80000">
                  <a:srgbClr val="0033A1"/>
                </a:gs>
                <a:gs pos="20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B48476E-D185-EE48-B224-EBE8C62D6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4046E1B0-5AB0-B745-87FF-1C5A20F37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B0A9D4-6529-B949-A7E3-2DCDDF944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44" name="Footer Placeholder 82">
            <a:extLst>
              <a:ext uri="{FF2B5EF4-FFF2-40B4-BE49-F238E27FC236}">
                <a16:creationId xmlns:a16="http://schemas.microsoft.com/office/drawing/2014/main" id="{A49341B2-67A5-1E43-A834-746205F9F60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3639F285-C50A-F84C-9858-C74F90B820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2645" y="969264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C7E1F168-025E-4F42-B6FE-296538F14977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466627" y="1371600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6D67E86-8625-F741-822C-AECEDDA36787}"/>
              </a:ext>
            </a:extLst>
          </p:cNvPr>
          <p:cNvCxnSpPr>
            <a:cxnSpLocks/>
          </p:cNvCxnSpPr>
          <p:nvPr userDrawn="1"/>
        </p:nvCxnSpPr>
        <p:spPr>
          <a:xfrm>
            <a:off x="457200" y="1307592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Placeholder 13">
            <a:extLst>
              <a:ext uri="{FF2B5EF4-FFF2-40B4-BE49-F238E27FC236}">
                <a16:creationId xmlns:a16="http://schemas.microsoft.com/office/drawing/2014/main" id="{A194232C-791F-1641-A290-A3903D737B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37376" y="969264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9103472A-EE47-414D-8184-A15B8EB4AD22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6437376" y="1371600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D9EC32-17AE-4349-AE21-607E673A8E61}"/>
              </a:ext>
            </a:extLst>
          </p:cNvPr>
          <p:cNvCxnSpPr>
            <a:cxnSpLocks/>
          </p:cNvCxnSpPr>
          <p:nvPr userDrawn="1"/>
        </p:nvCxnSpPr>
        <p:spPr>
          <a:xfrm>
            <a:off x="6437376" y="1307592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 Placeholder 13">
            <a:extLst>
              <a:ext uri="{FF2B5EF4-FFF2-40B4-BE49-F238E27FC236}">
                <a16:creationId xmlns:a16="http://schemas.microsoft.com/office/drawing/2014/main" id="{5650D5C7-CA4F-A043-802B-FDAB4E94FAB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2645" y="3831336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1944AC43-91C1-5042-8768-5D5BB8624184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466627" y="4224528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FDCBABE-1DB4-6644-BECB-F67134DD8FA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178808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Placeholder 13">
            <a:extLst>
              <a:ext uri="{FF2B5EF4-FFF2-40B4-BE49-F238E27FC236}">
                <a16:creationId xmlns:a16="http://schemas.microsoft.com/office/drawing/2014/main" id="{7188A552-E68D-C241-9A37-43FE0398FC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37376" y="3831336"/>
            <a:ext cx="5259170" cy="310896"/>
          </a:xfrm>
          <a:prstGeom prst="rect">
            <a:avLst/>
          </a:prstGeom>
          <a:noFill/>
        </p:spPr>
        <p:txBody>
          <a:bodyPr wrap="none" lIns="0" tIns="0" rIns="0" bIns="0" anchor="t" anchorCtr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75914981-8744-EE45-882B-8E4204313292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6437376" y="4224528"/>
            <a:ext cx="5255187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81D331-71D3-6E4D-B6E8-FB1CF5D2FE2F}"/>
              </a:ext>
            </a:extLst>
          </p:cNvPr>
          <p:cNvCxnSpPr>
            <a:cxnSpLocks/>
          </p:cNvCxnSpPr>
          <p:nvPr userDrawn="1"/>
        </p:nvCxnSpPr>
        <p:spPr>
          <a:xfrm>
            <a:off x="6437376" y="4178808"/>
            <a:ext cx="5264614" cy="0"/>
          </a:xfrm>
          <a:prstGeom prst="line">
            <a:avLst/>
          </a:prstGeom>
          <a:ln w="20320">
            <a:gradFill>
              <a:gsLst>
                <a:gs pos="100000">
                  <a:srgbClr val="85C2EF"/>
                </a:gs>
                <a:gs pos="21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0C0C49F-E01C-444A-A131-6EC188F602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2255885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7D1C505-1541-9B43-9538-C4D36645D0A5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FA52FB-7C2B-3849-985C-4FAB9F5C6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6BAF14-559E-154D-83F4-F1D604010D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D6B13-A369-0D42-90A2-FA69C71E990A}"/>
              </a:ext>
            </a:extLst>
          </p:cNvPr>
          <p:cNvCxnSpPr>
            <a:cxnSpLocks/>
          </p:cNvCxnSpPr>
          <p:nvPr userDrawn="1"/>
        </p:nvCxnSpPr>
        <p:spPr>
          <a:xfrm>
            <a:off x="-1" y="599782"/>
            <a:ext cx="12192000" cy="0"/>
          </a:xfrm>
          <a:prstGeom prst="line">
            <a:avLst/>
          </a:prstGeom>
          <a:ln w="20320">
            <a:gradFill>
              <a:gsLst>
                <a:gs pos="50000">
                  <a:srgbClr val="85C2EF"/>
                </a:gs>
                <a:gs pos="80000">
                  <a:srgbClr val="0033A1"/>
                </a:gs>
                <a:gs pos="20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B48476E-D185-EE48-B224-EBE8C62D6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151C326-8BF7-2147-B8B1-8B4C34FD28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645" y="964276"/>
            <a:ext cx="3438144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1E193B8B-AFE2-B844-A8B9-7734FDF9B5E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85933" y="964276"/>
            <a:ext cx="3438144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B0CECE50-6837-AD4B-8747-BB264B07F0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2675" y="968571"/>
            <a:ext cx="3438144" cy="276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6B0BDE6-16B4-F141-B881-8938715DF45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9" y="1371600"/>
            <a:ext cx="3438144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FDC37C7-A53B-474E-A7B4-75782A69A927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4385933" y="1371600"/>
            <a:ext cx="3438144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6632140-4324-3846-B3C5-E34D3DFCD5E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8252675" y="1371600"/>
            <a:ext cx="3438144" cy="1477328"/>
          </a:xfrm>
        </p:spPr>
        <p:txBody>
          <a:bodyPr/>
          <a:lstStyle>
            <a:lvl1pPr>
              <a:lnSpc>
                <a:spcPct val="100000"/>
              </a:lnSpc>
              <a:buClr>
                <a:srgbClr val="009BDF"/>
              </a:buClr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009BDF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009BDF"/>
              </a:buClr>
              <a:defRPr sz="14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4046E1B0-5AB0-B745-87FF-1C5A20F37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B0A9D4-6529-B949-A7E3-2DCDDF944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44" name="Footer Placeholder 82">
            <a:extLst>
              <a:ext uri="{FF2B5EF4-FFF2-40B4-BE49-F238E27FC236}">
                <a16:creationId xmlns:a16="http://schemas.microsoft.com/office/drawing/2014/main" id="{A49341B2-67A5-1E43-A834-746205F9F60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86A010-4F3E-C741-832D-DEFD5D2A4395}"/>
              </a:ext>
            </a:extLst>
          </p:cNvPr>
          <p:cNvCxnSpPr/>
          <p:nvPr userDrawn="1"/>
        </p:nvCxnSpPr>
        <p:spPr>
          <a:xfrm flipV="1">
            <a:off x="4196381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3A1"/>
                </a:gs>
                <a:gs pos="50000">
                  <a:srgbClr val="85C2EF"/>
                </a:gs>
                <a:gs pos="80000">
                  <a:srgbClr val="0033A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7552DD-F6C1-8949-A8BC-E205E380D62A}"/>
              </a:ext>
            </a:extLst>
          </p:cNvPr>
          <p:cNvCxnSpPr/>
          <p:nvPr userDrawn="1"/>
        </p:nvCxnSpPr>
        <p:spPr>
          <a:xfrm flipV="1">
            <a:off x="8068126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033A1"/>
                </a:gs>
                <a:gs pos="50000">
                  <a:srgbClr val="85C2EF"/>
                </a:gs>
                <a:gs pos="80000">
                  <a:srgbClr val="0033A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090AFAA6-9CE4-084F-90A2-C44D4DE46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339722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7D1C505-1541-9B43-9538-C4D36645D0A5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FA52FB-7C2B-3849-985C-4FAB9F5C6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6BAF14-559E-154D-83F4-F1D604010D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D6B13-A369-0D42-90A2-FA69C71E990A}"/>
              </a:ext>
            </a:extLst>
          </p:cNvPr>
          <p:cNvCxnSpPr>
            <a:cxnSpLocks/>
          </p:cNvCxnSpPr>
          <p:nvPr userDrawn="1"/>
        </p:nvCxnSpPr>
        <p:spPr>
          <a:xfrm>
            <a:off x="-1" y="599782"/>
            <a:ext cx="12192000" cy="0"/>
          </a:xfrm>
          <a:prstGeom prst="line">
            <a:avLst/>
          </a:prstGeom>
          <a:ln w="20320">
            <a:gradFill>
              <a:gsLst>
                <a:gs pos="50000">
                  <a:srgbClr val="85C2EF"/>
                </a:gs>
                <a:gs pos="80000">
                  <a:srgbClr val="0033A1"/>
                </a:gs>
                <a:gs pos="20000">
                  <a:srgbClr val="0033A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0B48476E-D185-EE48-B224-EBE8C62D6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4046E1B0-5AB0-B745-87FF-1C5A20F37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42220" y="6515100"/>
            <a:ext cx="1554480" cy="91440"/>
          </a:xfrm>
        </p:spPr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B0A9D4-6529-B949-A7E3-2DCDDF944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44" name="Footer Placeholder 82">
            <a:extLst>
              <a:ext uri="{FF2B5EF4-FFF2-40B4-BE49-F238E27FC236}">
                <a16:creationId xmlns:a16="http://schemas.microsoft.com/office/drawing/2014/main" id="{A49341B2-67A5-1E43-A834-746205F9F60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A4DC9910-E348-1648-AF93-710A6A1A4A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645" y="2791845"/>
            <a:ext cx="3694802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A88D4A-890D-AD48-A4E9-6551533EAFF3}"/>
              </a:ext>
            </a:extLst>
          </p:cNvPr>
          <p:cNvGrpSpPr/>
          <p:nvPr userDrawn="1"/>
        </p:nvGrpSpPr>
        <p:grpSpPr>
          <a:xfrm>
            <a:off x="4160127" y="2289810"/>
            <a:ext cx="3871745" cy="2286000"/>
            <a:chOff x="4196381" y="914400"/>
            <a:chExt cx="3871745" cy="2286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CC003F4-82FF-3C4F-9BEB-277F9F2429E6}"/>
                </a:ext>
              </a:extLst>
            </p:cNvPr>
            <p:cNvCxnSpPr/>
            <p:nvPr userDrawn="1"/>
          </p:nvCxnSpPr>
          <p:spPr>
            <a:xfrm flipV="1">
              <a:off x="4196381" y="914400"/>
              <a:ext cx="0" cy="2286000"/>
            </a:xfrm>
            <a:prstGeom prst="line">
              <a:avLst/>
            </a:prstGeom>
            <a:ln w="15875" cap="rnd" cmpd="sng">
              <a:gradFill>
                <a:gsLst>
                  <a:gs pos="20000">
                    <a:srgbClr val="0033A1"/>
                  </a:gs>
                  <a:gs pos="50000">
                    <a:srgbClr val="85C2EF"/>
                  </a:gs>
                  <a:gs pos="80000">
                    <a:srgbClr val="0033A1"/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475980-F93C-7347-9993-5D0059E9B75A}"/>
                </a:ext>
              </a:extLst>
            </p:cNvPr>
            <p:cNvCxnSpPr/>
            <p:nvPr userDrawn="1"/>
          </p:nvCxnSpPr>
          <p:spPr>
            <a:xfrm flipV="1">
              <a:off x="8068126" y="914400"/>
              <a:ext cx="0" cy="2286000"/>
            </a:xfrm>
            <a:prstGeom prst="line">
              <a:avLst/>
            </a:prstGeom>
            <a:ln w="15875" cap="rnd" cmpd="sng">
              <a:gradFill>
                <a:gsLst>
                  <a:gs pos="20000">
                    <a:srgbClr val="0033A1"/>
                  </a:gs>
                  <a:gs pos="50000">
                    <a:srgbClr val="85C2EF"/>
                  </a:gs>
                  <a:gs pos="80000">
                    <a:srgbClr val="0033A1"/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62B300B-C5EA-3442-A31E-CBDEE98115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6628" y="3834718"/>
            <a:ext cx="3694802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C567B9D-8BF9-BC49-B939-4FB2965A40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9120" y="2791845"/>
            <a:ext cx="3438144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E884B7-4102-2F41-AAE3-22E77D348DAF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389120" y="3834718"/>
            <a:ext cx="3438144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4042F60B-C07D-7741-9920-76363DA86A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30570" y="2791845"/>
            <a:ext cx="3642619" cy="8309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35D7071-497C-154D-BA0A-BF0E8712852B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8028432" y="3834718"/>
            <a:ext cx="3642619" cy="249299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171450" indent="0" algn="ctr">
              <a:buNone/>
              <a:defRPr sz="1600">
                <a:solidFill>
                  <a:srgbClr val="5B6770"/>
                </a:solidFill>
              </a:defRPr>
            </a:lvl2pPr>
            <a:lvl3pPr marL="441325" indent="0" algn="ctr">
              <a:buNone/>
              <a:defRPr sz="1600">
                <a:solidFill>
                  <a:srgbClr val="5B6770"/>
                </a:solidFill>
              </a:defRPr>
            </a:lvl3pPr>
            <a:lvl4pPr marL="628650" indent="0" algn="ctr">
              <a:buNone/>
              <a:defRPr sz="1400">
                <a:solidFill>
                  <a:srgbClr val="5B6770"/>
                </a:solidFill>
              </a:defRPr>
            </a:lvl4pPr>
            <a:lvl5pPr marL="793750" indent="0" algn="ctr">
              <a:buNone/>
              <a:defRPr sz="1400">
                <a:solidFill>
                  <a:srgbClr val="5B677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F049BC9-AFFF-8947-91AE-DC97B14B3B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3336538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de_Page_Header_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2F5CC17-D414-1342-A8EE-D4CE8422777F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C3828A-0275-8848-AEFF-DBCA68B7C9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B26AE7-1C74-4245-9EBD-04C0F7B81B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A3AAAE">
                    <a:alpha val="50000"/>
                  </a:srgbClr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>
                    <a:alpha val="50000"/>
                  </a:srgbClr>
                </a:solidFill>
              </a:rPr>
              <a:t>Copyright © 2024 Boeing. All rights reserved.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4719108" y="6484648"/>
            <a:ext cx="2753783" cy="1415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algn="ctr" defTabSz="820738" eaLnBrk="0" hangingPunct="0"/>
            <a:r>
              <a:rPr lang="en-US" sz="800" b="1">
                <a:solidFill>
                  <a:srgbClr val="A3AAAE">
                    <a:alpha val="50000"/>
                  </a:srgbClr>
                </a:solidFill>
              </a:rPr>
              <a:t>BOEING PROPRIETARY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DB18A11-267E-E447-BEB8-0821F195FD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61DF6B2-89F5-5D48-BB8B-7C97AABB83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3787462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_Page_Header_Bar_No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C2A2227-8872-8C4A-B720-3BB66EF770A9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F288AF-0976-AC4C-9DE2-FF5A9C8650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09" t="87015" r="7268" b="10155"/>
            <a:stretch/>
          </p:blipFill>
          <p:spPr>
            <a:xfrm rot="10800000"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2BDA70-B60F-1E4F-97A7-04FCBDF8F1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99782"/>
              <a:ext cx="12192000" cy="0"/>
            </a:xfrm>
            <a:prstGeom prst="line">
              <a:avLst/>
            </a:prstGeom>
            <a:ln w="20320">
              <a:gradFill>
                <a:gsLst>
                  <a:gs pos="50000">
                    <a:srgbClr val="85C2EF"/>
                  </a:gs>
                  <a:gs pos="80000">
                    <a:srgbClr val="0033A1"/>
                  </a:gs>
                  <a:gs pos="20000">
                    <a:srgbClr val="0033A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6441990-62FF-EA45-B6C7-113D08A38B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192024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EBA277-4065-ED4A-97B8-A7256E17D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26046D-7C13-F445-A514-4983B5AF9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92024"/>
            <a:ext cx="6024563" cy="195951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3992001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Living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E9D0A09-3106-EA48-91AB-704FCBF97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9" t="87015" r="7268" b="10155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793" y="2907323"/>
            <a:ext cx="4466414" cy="1043354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/>
                </a:solidFill>
              </a:rPr>
              <a:t>Copyright © 2024 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92530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900499"/>
            <a:ext cx="10976889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21174"/>
            <a:ext cx="10980835" cy="149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0142220" y="6515100"/>
            <a:ext cx="1554480" cy="914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rgbClr val="A3AAAE"/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3C5F6-5642-4829-97AE-0E732D5805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278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696" r:id="rId2"/>
    <p:sldLayoutId id="2147483770" r:id="rId3"/>
    <p:sldLayoutId id="2147483771" r:id="rId4"/>
    <p:sldLayoutId id="2147483764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17" r:id="rId11"/>
    <p:sldLayoutId id="2147483844" r:id="rId12"/>
    <p:sldLayoutId id="2147483842" r:id="rId13"/>
    <p:sldLayoutId id="2147483846" r:id="rId14"/>
    <p:sldLayoutId id="2147483767" r:id="rId15"/>
    <p:sldLayoutId id="2147483765" r:id="rId16"/>
    <p:sldLayoutId id="2147483849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0">
          <a:solidFill>
            <a:schemeClr val="tx2"/>
          </a:solidFill>
          <a:latin typeface="Arial" charset="0"/>
          <a:ea typeface="Arial" charset="0"/>
          <a:cs typeface="Arial" charset="0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169863" indent="-169863" algn="l" defTabSz="820738" rtl="0" eaLnBrk="1" fontAlgn="base" hangingPunct="1">
        <a:lnSpc>
          <a:spcPct val="100000"/>
        </a:lnSpc>
        <a:spcBef>
          <a:spcPts val="65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b="0">
          <a:solidFill>
            <a:srgbClr val="5B6770"/>
          </a:solidFill>
          <a:latin typeface="Arial" charset="0"/>
          <a:ea typeface="Arial" charset="0"/>
          <a:cs typeface="Arial" charset="0"/>
        </a:defRPr>
      </a:lvl1pPr>
      <a:lvl2pPr marL="376238" indent="-204788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600">
          <a:solidFill>
            <a:srgbClr val="5B6770"/>
          </a:solidFill>
          <a:latin typeface="Arial" charset="0"/>
          <a:ea typeface="Arial" charset="0"/>
          <a:cs typeface="Arial" charset="0"/>
        </a:defRPr>
      </a:lvl2pPr>
      <a:lvl3pPr marL="627063" indent="-185738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600">
          <a:solidFill>
            <a:srgbClr val="5B6770"/>
          </a:solidFill>
          <a:latin typeface="Arial" charset="0"/>
          <a:ea typeface="Arial" charset="0"/>
          <a:cs typeface="Arial" charset="0"/>
        </a:defRPr>
      </a:lvl3pPr>
      <a:lvl4pPr marL="792163" indent="-163513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400">
          <a:solidFill>
            <a:srgbClr val="5B6770"/>
          </a:solidFill>
          <a:latin typeface="Arial" charset="0"/>
          <a:ea typeface="Arial" charset="0"/>
          <a:cs typeface="Arial" charset="0"/>
        </a:defRPr>
      </a:lvl4pPr>
      <a:lvl5pPr marL="957263" indent="-163513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400">
          <a:solidFill>
            <a:srgbClr val="5B6770"/>
          </a:solidFill>
          <a:latin typeface="Arial" charset="0"/>
          <a:ea typeface="Arial" charset="0"/>
          <a:cs typeface="Arial" charset="0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336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orient="horz" pos="480" userDrawn="1">
          <p15:clr>
            <a:srgbClr val="F26B43"/>
          </p15:clr>
        </p15:guide>
        <p15:guide id="9" orient="horz" pos="6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21174"/>
            <a:ext cx="10980835" cy="149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0142220" y="6515100"/>
            <a:ext cx="1554480" cy="914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rgbClr val="A3AAAE"/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AE84AB-D1AA-FF4A-9A3A-72C14E532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900499"/>
            <a:ext cx="10976889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0CBD5-5B2A-4EF4-9076-8FFB64C376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rgbClr val="A3AAAE"/>
                </a:solidFill>
              </a:rPr>
              <a:t>Copyright © 2024 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1353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48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41" r:id="rId11"/>
    <p:sldLayoutId id="2147483845" r:id="rId12"/>
    <p:sldLayoutId id="2147483843" r:id="rId13"/>
    <p:sldLayoutId id="2147483847" r:id="rId14"/>
    <p:sldLayoutId id="2147483814" r:id="rId15"/>
    <p:sldLayoutId id="2147483813" r:id="rId16"/>
    <p:sldLayoutId id="214748381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0">
          <a:solidFill>
            <a:schemeClr val="tx2"/>
          </a:solidFill>
          <a:latin typeface="Arial" charset="0"/>
          <a:ea typeface="Arial" charset="0"/>
          <a:cs typeface="Arial" charset="0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169863" indent="-169863" algn="l" defTabSz="820738" rtl="0" eaLnBrk="1" fontAlgn="base" hangingPunct="1">
        <a:lnSpc>
          <a:spcPct val="100000"/>
        </a:lnSpc>
        <a:spcBef>
          <a:spcPts val="65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b="0">
          <a:solidFill>
            <a:srgbClr val="5B6770"/>
          </a:solidFill>
          <a:latin typeface="Arial" charset="0"/>
          <a:ea typeface="Arial" charset="0"/>
          <a:cs typeface="Arial" charset="0"/>
        </a:defRPr>
      </a:lvl1pPr>
      <a:lvl2pPr marL="376238" indent="-204788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600">
          <a:solidFill>
            <a:srgbClr val="5B6770"/>
          </a:solidFill>
          <a:latin typeface="Arial" charset="0"/>
          <a:ea typeface="Arial" charset="0"/>
          <a:cs typeface="Arial" charset="0"/>
        </a:defRPr>
      </a:lvl2pPr>
      <a:lvl3pPr marL="627063" indent="-185738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600">
          <a:solidFill>
            <a:srgbClr val="5B6770"/>
          </a:solidFill>
          <a:latin typeface="Arial" charset="0"/>
          <a:ea typeface="Arial" charset="0"/>
          <a:cs typeface="Arial" charset="0"/>
        </a:defRPr>
      </a:lvl3pPr>
      <a:lvl4pPr marL="792163" indent="-163513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400">
          <a:solidFill>
            <a:srgbClr val="5B6770"/>
          </a:solidFill>
          <a:latin typeface="Arial" charset="0"/>
          <a:ea typeface="Arial" charset="0"/>
          <a:cs typeface="Arial" charset="0"/>
        </a:defRPr>
      </a:lvl4pPr>
      <a:lvl5pPr marL="957263" indent="-163513" algn="l" defTabSz="820738" rtl="0" eaLnBrk="1" fontAlgn="base" hangingPunct="1">
        <a:lnSpc>
          <a:spcPct val="100000"/>
        </a:lnSpc>
        <a:spcBef>
          <a:spcPts val="575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400">
          <a:solidFill>
            <a:srgbClr val="5B6770"/>
          </a:solidFill>
          <a:latin typeface="Arial" charset="0"/>
          <a:ea typeface="Arial" charset="0"/>
          <a:cs typeface="Arial" charset="0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68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336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480">
          <p15:clr>
            <a:srgbClr val="F26B43"/>
          </p15:clr>
        </p15:guide>
        <p15:guide id="9" orient="horz" pos="6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175A-D651-4B76-80A3-CAA0EBB86F52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522465" y="1739307"/>
            <a:ext cx="11002433" cy="886397"/>
          </a:xfrm>
        </p:spPr>
        <p:txBody>
          <a:bodyPr/>
          <a:lstStyle/>
          <a:p>
            <a:r>
              <a:rPr lang="en-US" sz="3200"/>
              <a:t>Unsupervised Learning: </a:t>
            </a:r>
            <a:br>
              <a:rPr lang="en-US" sz="3200"/>
            </a:br>
            <a:r>
              <a:rPr lang="en-US" sz="3200"/>
              <a:t>Clustering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83D60-6574-76D5-5C18-DC615092CC59}"/>
              </a:ext>
            </a:extLst>
          </p:cNvPr>
          <p:cNvSpPr/>
          <p:nvPr/>
        </p:nvSpPr>
        <p:spPr>
          <a:xfrm>
            <a:off x="522465" y="3485940"/>
            <a:ext cx="5494287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Adarsh V Shetty</a:t>
            </a:r>
          </a:p>
          <a:p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Karthikeyan R S </a:t>
            </a:r>
          </a:p>
        </p:txBody>
      </p:sp>
    </p:spTree>
    <p:extLst>
      <p:ext uri="{BB962C8B-B14F-4D97-AF65-F5344CB8AC3E}">
        <p14:creationId xmlns:p14="http://schemas.microsoft.com/office/powerpoint/2010/main" val="719634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51B767A-CFE6-2F37-8DEB-BBA182E4F0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D64EFD4-B667-B2B9-C906-B7D970C058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CF9CE-6ACC-8182-D0DA-EF516609CEFF}"/>
              </a:ext>
            </a:extLst>
          </p:cNvPr>
          <p:cNvSpPr/>
          <p:nvPr/>
        </p:nvSpPr>
        <p:spPr>
          <a:xfrm>
            <a:off x="209912" y="1339356"/>
            <a:ext cx="111195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Discover and learn patterns from unlabeled data without any explicit guidance or instruction.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Types of Unsupervised Learning</a:t>
            </a:r>
          </a:p>
          <a:p>
            <a:pPr lvl="1"/>
            <a:endParaRPr lang="en-US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/>
              <a:t>Association rule Mining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US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/>
              <a:t>Dimensionality reduction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US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</a:rPr>
              <a:t>Clustering</a:t>
            </a:r>
          </a:p>
          <a:p>
            <a:pPr lvl="1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5579C4-60EB-5605-1888-E3AF26A93CF7}"/>
              </a:ext>
            </a:extLst>
          </p:cNvPr>
          <p:cNvSpPr txBox="1">
            <a:spLocks/>
          </p:cNvSpPr>
          <p:nvPr/>
        </p:nvSpPr>
        <p:spPr bwMode="auto">
          <a:xfrm>
            <a:off x="338930" y="808531"/>
            <a:ext cx="83454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" tIns="6858" rIns="6858" bIns="6858" numCol="1" anchor="ctr" anchorCtr="0" compatLnSpc="1">
            <a:prstTxWarp prst="textNoShape">
              <a:avLst/>
            </a:prstTxWarp>
          </a:bodyPr>
          <a:lstStyle>
            <a:lvl1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2pPr>
            <a:lvl3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3pPr>
            <a:lvl4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4pPr>
            <a:lvl5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100">
                <a:solidFill>
                  <a:schemeClr val="tx2">
                    <a:lumMod val="60000"/>
                    <a:lumOff val="40000"/>
                  </a:schemeClr>
                </a:solidFill>
              </a:rPr>
              <a:t>What is Unsupervised Learning</a:t>
            </a:r>
            <a:endParaRPr lang="en-US" sz="2100" ker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16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3BC3-4744-BFFC-0E25-94A0A968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961D453-1134-A7BD-BBA8-DFD3875B9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4437ED7-A7C0-9F17-247B-0399F09BA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EFBD98-93CA-D3C8-F3F1-B365D6CBD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699059"/>
            <a:ext cx="10771633" cy="2395528"/>
          </a:xfrm>
        </p:spPr>
        <p:txBody>
          <a:bodyPr/>
          <a:lstStyle/>
          <a:p>
            <a:r>
              <a:rPr lang="en-US" sz="2400" b="0"/>
              <a:t>The organization of unlabeled data into similarity groups called clusters.</a:t>
            </a:r>
          </a:p>
          <a:p>
            <a:r>
              <a:rPr lang="en-US" sz="2400" b="0"/>
              <a:t>A cluster is a collection of data items which are “similar” between them, and “dissimilar” to data items in other clusters.</a:t>
            </a:r>
          </a:p>
          <a:p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7E7852-6C20-0117-0079-787FD31D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94944"/>
            <a:ext cx="8229600" cy="595548"/>
          </a:xfrm>
        </p:spPr>
        <p:txBody>
          <a:bodyPr/>
          <a:lstStyle/>
          <a:p>
            <a:r>
              <a:rPr lang="en-US" sz="2100" b="1">
                <a:solidFill>
                  <a:srgbClr val="009B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clustering?</a:t>
            </a:r>
            <a:br>
              <a:rPr lang="en-US" sz="2100" b="1">
                <a:solidFill>
                  <a:srgbClr val="009B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2100" b="1">
              <a:solidFill>
                <a:srgbClr val="009BD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54751-2A95-43DD-310F-83E439D1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3260141"/>
            <a:ext cx="794385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665DC-18A2-9445-C10F-851D03DF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1E1693B-3303-F0F0-07C4-0F048ABD0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A88D39C-2354-2B0C-7D74-DC8C48CB36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2F090-353A-7014-A26F-DA8080F4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69" y="681605"/>
            <a:ext cx="8229600" cy="320857"/>
          </a:xfrm>
        </p:spPr>
        <p:txBody>
          <a:bodyPr/>
          <a:lstStyle/>
          <a:p>
            <a:r>
              <a:rPr lang="en-US" sz="2100" b="1">
                <a:solidFill>
                  <a:srgbClr val="009B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"/>
              </a:rPr>
              <a:t>What is the “natural grouping”?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88795-2CE4-470B-C6A3-1737C71C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98" y="1832312"/>
            <a:ext cx="714375" cy="1050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5DCE18-5FF7-7AFE-18BE-30F9F538E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319" y="1832312"/>
            <a:ext cx="635794" cy="1007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0E2AD3-0388-80AF-A944-8D3B99F44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357" y="1814451"/>
            <a:ext cx="514350" cy="10429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88149-0586-043D-08AB-98DC0C2F6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953" y="1846599"/>
            <a:ext cx="592931" cy="978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B676F-2A7B-7C07-353C-7554AB561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39" y="1832311"/>
            <a:ext cx="542925" cy="992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B3BBF-11BB-6B0B-9DEA-C6F7E09D4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867" y="1739442"/>
            <a:ext cx="421481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B7642-1F62-C164-A33A-C4F9888EEA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9956" y="1803736"/>
            <a:ext cx="714375" cy="10501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8DEDD3-7A5A-9E95-679D-A24A69015AE7}"/>
              </a:ext>
            </a:extLst>
          </p:cNvPr>
          <p:cNvSpPr txBox="1"/>
          <p:nvPr/>
        </p:nvSpPr>
        <p:spPr>
          <a:xfrm>
            <a:off x="3298489" y="2900091"/>
            <a:ext cx="42432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>
                <a:solidFill>
                  <a:srgbClr val="FF0000"/>
                </a:solidFill>
              </a:rPr>
              <a:t>Clustering is very subjective!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D23F2-559C-30B3-A88D-03B1AA92F4A5}"/>
              </a:ext>
            </a:extLst>
          </p:cNvPr>
          <p:cNvSpPr txBox="1"/>
          <p:nvPr/>
        </p:nvSpPr>
        <p:spPr>
          <a:xfrm>
            <a:off x="3289373" y="3276687"/>
            <a:ext cx="42432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>
                <a:solidFill>
                  <a:srgbClr val="FF0000"/>
                </a:solidFill>
              </a:rPr>
              <a:t>Distance metric is important!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A8389B-FD67-5875-5763-CF4A72479C62}"/>
              </a:ext>
            </a:extLst>
          </p:cNvPr>
          <p:cNvGrpSpPr/>
          <p:nvPr/>
        </p:nvGrpSpPr>
        <p:grpSpPr>
          <a:xfrm>
            <a:off x="2349508" y="3670983"/>
            <a:ext cx="1869028" cy="1910588"/>
            <a:chOff x="438246" y="3836988"/>
            <a:chExt cx="2492036" cy="254745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E96FD5F-A948-94AE-930D-8D2EAE449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246" y="4340146"/>
              <a:ext cx="546797" cy="80379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5CC24E1-A884-D643-3A62-07BDC095A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2541" y="4346687"/>
              <a:ext cx="393694" cy="79832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47651AC-46AB-E641-56AE-4D4C14650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3554" y="4394826"/>
              <a:ext cx="453842" cy="74911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C48A85E-F249-68FA-4EBD-58420FAAA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84715" y="4394826"/>
              <a:ext cx="415566" cy="76004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1A25B48-8B71-7F96-2B41-144257081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315" y="5542083"/>
              <a:ext cx="486649" cy="77098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657728D-C420-B6F8-330D-DAECEA575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18204" y="5509562"/>
              <a:ext cx="322611" cy="87487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FE34E11-0BFB-4895-F34E-19A6E27DB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50851" y="5515646"/>
              <a:ext cx="546797" cy="80379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E4381D-9218-1B35-0EFE-77ECF564AA6B}"/>
                </a:ext>
              </a:extLst>
            </p:cNvPr>
            <p:cNvSpPr txBox="1"/>
            <p:nvPr/>
          </p:nvSpPr>
          <p:spPr>
            <a:xfrm>
              <a:off x="559479" y="3836988"/>
              <a:ext cx="2370803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group by gender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29C48E-4F27-B7AA-872B-C944D7EC37B1}"/>
                </a:ext>
              </a:extLst>
            </p:cNvPr>
            <p:cNvSpPr/>
            <p:nvPr/>
          </p:nvSpPr>
          <p:spPr>
            <a:xfrm>
              <a:off x="438246" y="4315030"/>
              <a:ext cx="2346518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2CFDAC-AA77-EC31-081D-355BC3937643}"/>
                </a:ext>
              </a:extLst>
            </p:cNvPr>
            <p:cNvSpPr/>
            <p:nvPr/>
          </p:nvSpPr>
          <p:spPr>
            <a:xfrm>
              <a:off x="656633" y="5509562"/>
              <a:ext cx="1691028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098842-149D-2AFA-B47C-8B2E59ACF76C}"/>
              </a:ext>
            </a:extLst>
          </p:cNvPr>
          <p:cNvGrpSpPr/>
          <p:nvPr/>
        </p:nvGrpSpPr>
        <p:grpSpPr>
          <a:xfrm>
            <a:off x="4354728" y="3670983"/>
            <a:ext cx="2591753" cy="1951649"/>
            <a:chOff x="3111872" y="3836988"/>
            <a:chExt cx="3455671" cy="260219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CAC70C4-F43A-0BBE-1D61-1CAF068E4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2366" y="4357818"/>
              <a:ext cx="546797" cy="80379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85568EC-9CCE-FA36-CBB7-9092D46BA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1839" y="5538468"/>
              <a:ext cx="393694" cy="79832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E1D41E7-E20F-076A-3521-BD01ACAF3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9529" y="4385158"/>
              <a:ext cx="453842" cy="74911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AE147FC-FCF3-024F-4C04-DC2511C4B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66450" y="5292083"/>
              <a:ext cx="415566" cy="76004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6081BB5-1F87-5301-D3B5-FF35B20D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0554" y="5591412"/>
              <a:ext cx="486649" cy="77098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870BCCF-855B-1CB4-6AE2-3B6E2B303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5655" y="4315030"/>
              <a:ext cx="322611" cy="87487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10AD984-379C-ABB6-CD17-EAAF1F019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82757" y="5612999"/>
              <a:ext cx="546797" cy="80379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1AA544-A645-81F3-61B4-D103F1ECDAC9}"/>
                </a:ext>
              </a:extLst>
            </p:cNvPr>
            <p:cNvSpPr txBox="1"/>
            <p:nvPr/>
          </p:nvSpPr>
          <p:spPr>
            <a:xfrm>
              <a:off x="3127780" y="3836988"/>
              <a:ext cx="3439763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group by source of ability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C3196D-3CF5-71CE-958C-E47BD4DAD849}"/>
                </a:ext>
              </a:extLst>
            </p:cNvPr>
            <p:cNvSpPr/>
            <p:nvPr/>
          </p:nvSpPr>
          <p:spPr>
            <a:xfrm>
              <a:off x="3637695" y="4322276"/>
              <a:ext cx="1745062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A085A6-72E8-E434-3237-127E5C5BE5DE}"/>
                </a:ext>
              </a:extLst>
            </p:cNvPr>
            <p:cNvSpPr/>
            <p:nvPr/>
          </p:nvSpPr>
          <p:spPr>
            <a:xfrm>
              <a:off x="5362755" y="5564310"/>
              <a:ext cx="619495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F99B0D-B612-50AF-BA8A-5E2BD3006643}"/>
                </a:ext>
              </a:extLst>
            </p:cNvPr>
            <p:cNvSpPr/>
            <p:nvPr/>
          </p:nvSpPr>
          <p:spPr>
            <a:xfrm>
              <a:off x="3111872" y="5535893"/>
              <a:ext cx="1105012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8A2E461-6CA4-E67F-B455-6F2B01BA6A94}"/>
                </a:ext>
              </a:extLst>
            </p:cNvPr>
            <p:cNvSpPr/>
            <p:nvPr/>
          </p:nvSpPr>
          <p:spPr>
            <a:xfrm>
              <a:off x="4527941" y="5245425"/>
              <a:ext cx="565931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72AEB0-D3F0-D758-7107-873FC1A04A17}"/>
              </a:ext>
            </a:extLst>
          </p:cNvPr>
          <p:cNvGrpSpPr/>
          <p:nvPr/>
        </p:nvGrpSpPr>
        <p:grpSpPr>
          <a:xfrm>
            <a:off x="6869916" y="3674555"/>
            <a:ext cx="2108110" cy="1986573"/>
            <a:chOff x="6465455" y="3841750"/>
            <a:chExt cx="2810814" cy="264876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1CD161C-A21A-77AB-C7D0-B9F04CE9C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5456" y="4433016"/>
              <a:ext cx="546797" cy="803792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4B8A08E-08F3-5A32-A691-60C9090D7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09751" y="4439557"/>
              <a:ext cx="393694" cy="798324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A3745C7-1DB9-AC3A-7336-55C9C1162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5184" y="4478676"/>
              <a:ext cx="486649" cy="770984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0D8CC85-7686-3B83-929D-8E538595C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5073" y="4446155"/>
              <a:ext cx="322611" cy="874876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64DA158-142B-1371-053D-35FCF822E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3732" y="5674107"/>
              <a:ext cx="546797" cy="80379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7AFDC2A-A0DE-C1D6-A426-28D3C0F22CCA}"/>
                </a:ext>
              </a:extLst>
            </p:cNvPr>
            <p:cNvSpPr txBox="1"/>
            <p:nvPr/>
          </p:nvSpPr>
          <p:spPr>
            <a:xfrm>
              <a:off x="6579694" y="3841750"/>
              <a:ext cx="269657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group by costume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99F6EBE-5648-FF87-B547-6A9CD03C4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79481" y="5728787"/>
              <a:ext cx="453842" cy="74911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9B96D9D-8920-063C-9B35-FC5C5E96B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011" y="5708599"/>
              <a:ext cx="415566" cy="760048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63860B9-D833-3B4F-7681-1302269D1B75}"/>
                </a:ext>
              </a:extLst>
            </p:cNvPr>
            <p:cNvSpPr/>
            <p:nvPr/>
          </p:nvSpPr>
          <p:spPr>
            <a:xfrm>
              <a:off x="6465455" y="4401209"/>
              <a:ext cx="2387599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96F6892-61FA-575D-298F-1FD065B64B5C}"/>
                </a:ext>
              </a:extLst>
            </p:cNvPr>
            <p:cNvSpPr/>
            <p:nvPr/>
          </p:nvSpPr>
          <p:spPr>
            <a:xfrm>
              <a:off x="6738031" y="5615638"/>
              <a:ext cx="1948769" cy="8748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9169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4D65-F56B-988B-14EA-A3E0D01D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611964-352C-D1A1-3B3D-6756B06CF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DCBC3C7-1FCA-D6DE-C2A1-CD4E062A11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E480873-6C77-F868-D296-49D499741E60}"/>
              </a:ext>
            </a:extLst>
          </p:cNvPr>
          <p:cNvSpPr txBox="1">
            <a:spLocks/>
          </p:cNvSpPr>
          <p:nvPr/>
        </p:nvSpPr>
        <p:spPr>
          <a:xfrm>
            <a:off x="9460992" y="6304792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fld id="{B3F753CD-4A73-4EF5-AEFC-79F241B03FA0}" type="slidenum">
              <a:rPr lang="en-US" sz="75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</a:rPr>
              <a:pPr algn="r" defTabSz="68580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US" sz="75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6F08F0-1B05-44C1-8252-72B26D9F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31" y="931219"/>
            <a:ext cx="6858000" cy="304699"/>
          </a:xfrm>
        </p:spPr>
        <p:txBody>
          <a:bodyPr/>
          <a:lstStyle/>
          <a:p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What is the “natural grouping”?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5CEB1-B8B0-6A04-DA8A-9B362811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369" y="2157089"/>
            <a:ext cx="1374011" cy="795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06B248-B61F-9723-B7B2-44F4039C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9" y="2258463"/>
            <a:ext cx="1431733" cy="7999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EF30B3-D234-62D0-4FA3-170371D80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380" y="2952420"/>
            <a:ext cx="1480052" cy="870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77C60C-48EA-8615-55B9-DA7E65A11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367" y="1383105"/>
            <a:ext cx="1828800" cy="11572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234488-BFED-2BE1-B766-8CB213749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412" y="3186397"/>
            <a:ext cx="1850025" cy="870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E35548-D041-F699-F835-90577459C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2153056"/>
            <a:ext cx="1595217" cy="7746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7EDCBE-4FE5-D675-9E7A-87CB195F96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6028" y="3031493"/>
            <a:ext cx="1431733" cy="9730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49B351-6F93-DB78-4F86-F69EDC24DA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2025" y="4491544"/>
            <a:ext cx="1871663" cy="8143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CFEE7A-8CB6-DFEE-6FCE-87117B8D1F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7650" y="4571032"/>
            <a:ext cx="1857866" cy="10250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EA4EC7-77D4-3B40-7060-C10DB6FA0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2848" y="4316016"/>
            <a:ext cx="2118093" cy="12317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CC1E49-B4F4-8213-E454-394607EBD1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0548" y="3193786"/>
            <a:ext cx="1871663" cy="105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77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2D7A-11A3-B829-C84B-E94C8924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F864FB7-B525-4724-7404-1832B506BF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9459B2-BB4B-F1F0-030A-DDA842D25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74C4A-8A51-3F09-5C6A-A2AB7F59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659" y="737594"/>
            <a:ext cx="91440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Clustering problem in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3F13EF-5B99-57EB-DEEC-88E7DDE5F6D5}"/>
              </a:ext>
            </a:extLst>
          </p:cNvPr>
          <p:cNvSpPr/>
          <p:nvPr/>
        </p:nvSpPr>
        <p:spPr>
          <a:xfrm>
            <a:off x="849798" y="1341608"/>
            <a:ext cx="97023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>
                <a:ea typeface="ＭＳ Ｐゴシック" panose="020B0600070205080204" pitchFamily="34" charset="-128"/>
              </a:rPr>
              <a:t>Clustering - the process of grouping a set of objects into clusters of similar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/>
              <a:t>Basic criteria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ja-JP"/>
              <a:t>high intra-cluster similarity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ja-JP"/>
              <a:t>low inter-cluster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No (little) supervision signal about the underlying clustering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Need similarity/distance as guidance to form clusters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CBA963-07A8-7305-4410-A271E22FCA2F}"/>
              </a:ext>
            </a:extLst>
          </p:cNvPr>
          <p:cNvSpPr/>
          <p:nvPr/>
        </p:nvSpPr>
        <p:spPr>
          <a:xfrm>
            <a:off x="3201085" y="4847675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579FDC-C224-2128-7E42-A5532F5AF58F}"/>
              </a:ext>
            </a:extLst>
          </p:cNvPr>
          <p:cNvSpPr/>
          <p:nvPr/>
        </p:nvSpPr>
        <p:spPr>
          <a:xfrm>
            <a:off x="4016246" y="4945089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44353A-1F6F-602A-045E-68A8184D8893}"/>
              </a:ext>
            </a:extLst>
          </p:cNvPr>
          <p:cNvSpPr/>
          <p:nvPr/>
        </p:nvSpPr>
        <p:spPr>
          <a:xfrm>
            <a:off x="4221992" y="526071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CA9ADD-6867-B9EB-8B56-A083FD044E36}"/>
              </a:ext>
            </a:extLst>
          </p:cNvPr>
          <p:cNvSpPr/>
          <p:nvPr/>
        </p:nvSpPr>
        <p:spPr>
          <a:xfrm>
            <a:off x="4221992" y="5590238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ADCC22-73FB-41AE-4D95-5CE33EE93CBF}"/>
              </a:ext>
            </a:extLst>
          </p:cNvPr>
          <p:cNvSpPr/>
          <p:nvPr/>
        </p:nvSpPr>
        <p:spPr>
          <a:xfrm>
            <a:off x="3818992" y="537962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B8B4D7-447B-E163-0891-DFCEFFE8DF49}"/>
              </a:ext>
            </a:extLst>
          </p:cNvPr>
          <p:cNvSpPr/>
          <p:nvPr/>
        </p:nvSpPr>
        <p:spPr>
          <a:xfrm>
            <a:off x="3216671" y="5362025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399906-E860-9B0E-2BC3-A65C13000BB6}"/>
              </a:ext>
            </a:extLst>
          </p:cNvPr>
          <p:cNvSpPr/>
          <p:nvPr/>
        </p:nvSpPr>
        <p:spPr>
          <a:xfrm>
            <a:off x="4655813" y="4910366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049FAF-5B67-AEE2-F592-BDFCAC423418}"/>
              </a:ext>
            </a:extLst>
          </p:cNvPr>
          <p:cNvSpPr/>
          <p:nvPr/>
        </p:nvSpPr>
        <p:spPr>
          <a:xfrm>
            <a:off x="4673996" y="5432164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FB19F7-C6A5-776D-4507-C3E4D4710F65}"/>
              </a:ext>
            </a:extLst>
          </p:cNvPr>
          <p:cNvSpPr/>
          <p:nvPr/>
        </p:nvSpPr>
        <p:spPr>
          <a:xfrm>
            <a:off x="1795963" y="4126140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0286E8-A16D-2689-342A-861E8D0233B5}"/>
              </a:ext>
            </a:extLst>
          </p:cNvPr>
          <p:cNvSpPr/>
          <p:nvPr/>
        </p:nvSpPr>
        <p:spPr>
          <a:xfrm>
            <a:off x="2821540" y="4153507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93AF10-FA80-5FD6-80DF-728C102B120F}"/>
              </a:ext>
            </a:extLst>
          </p:cNvPr>
          <p:cNvSpPr/>
          <p:nvPr/>
        </p:nvSpPr>
        <p:spPr>
          <a:xfrm>
            <a:off x="2513709" y="3885633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F80284-7B74-7DA8-3489-FA2E083AFCB7}"/>
              </a:ext>
            </a:extLst>
          </p:cNvPr>
          <p:cNvSpPr/>
          <p:nvPr/>
        </p:nvSpPr>
        <p:spPr>
          <a:xfrm>
            <a:off x="1575722" y="4574652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FA54C1-8CF0-323C-E33C-EFB191EFB60A}"/>
              </a:ext>
            </a:extLst>
          </p:cNvPr>
          <p:cNvSpPr/>
          <p:nvPr/>
        </p:nvSpPr>
        <p:spPr>
          <a:xfrm>
            <a:off x="2366123" y="4524937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488CFD-4B4F-EE63-A4CF-9946470575C3}"/>
              </a:ext>
            </a:extLst>
          </p:cNvPr>
          <p:cNvSpPr/>
          <p:nvPr/>
        </p:nvSpPr>
        <p:spPr>
          <a:xfrm>
            <a:off x="6483574" y="4706701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A24E9E-6BDD-73BE-9217-69298172B629}"/>
              </a:ext>
            </a:extLst>
          </p:cNvPr>
          <p:cNvSpPr/>
          <p:nvPr/>
        </p:nvSpPr>
        <p:spPr>
          <a:xfrm>
            <a:off x="6061699" y="4348880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16DD19-086A-ED8C-0544-1DE8D746FA78}"/>
              </a:ext>
            </a:extLst>
          </p:cNvPr>
          <p:cNvSpPr/>
          <p:nvPr/>
        </p:nvSpPr>
        <p:spPr>
          <a:xfrm>
            <a:off x="6409624" y="3774659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607FC9-AF84-BC60-3EAF-D03AD2D3401B}"/>
              </a:ext>
            </a:extLst>
          </p:cNvPr>
          <p:cNvSpPr/>
          <p:nvPr/>
        </p:nvSpPr>
        <p:spPr>
          <a:xfrm>
            <a:off x="6604453" y="4281200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C7F424-A3B4-3BEE-947C-84D49586E2F3}"/>
              </a:ext>
            </a:extLst>
          </p:cNvPr>
          <p:cNvSpPr/>
          <p:nvPr/>
        </p:nvSpPr>
        <p:spPr>
          <a:xfrm>
            <a:off x="7068403" y="4086371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A6E63A-3EFE-749F-6C7E-F50F0423BAF4}"/>
              </a:ext>
            </a:extLst>
          </p:cNvPr>
          <p:cNvSpPr/>
          <p:nvPr/>
        </p:nvSpPr>
        <p:spPr>
          <a:xfrm>
            <a:off x="7009461" y="4531607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222390-69C7-D34C-CD14-817433271712}"/>
              </a:ext>
            </a:extLst>
          </p:cNvPr>
          <p:cNvSpPr/>
          <p:nvPr/>
        </p:nvSpPr>
        <p:spPr>
          <a:xfrm>
            <a:off x="6031028" y="3883915"/>
            <a:ext cx="194829" cy="19482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9EB7E79-1D91-BD31-D32D-6FC3AFB77A58}"/>
              </a:ext>
            </a:extLst>
          </p:cNvPr>
          <p:cNvSpPr/>
          <p:nvPr/>
        </p:nvSpPr>
        <p:spPr>
          <a:xfrm rot="20246540">
            <a:off x="1551823" y="3961204"/>
            <a:ext cx="1495928" cy="8259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E48DAF-6859-8E18-3DB2-4FD4C818E258}"/>
              </a:ext>
            </a:extLst>
          </p:cNvPr>
          <p:cNvSpPr/>
          <p:nvPr/>
        </p:nvSpPr>
        <p:spPr>
          <a:xfrm rot="16441656">
            <a:off x="3541956" y="4168982"/>
            <a:ext cx="991681" cy="2183464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AE3725-45B4-4D72-9C93-F65F3A1939C3}"/>
              </a:ext>
            </a:extLst>
          </p:cNvPr>
          <p:cNvSpPr/>
          <p:nvPr/>
        </p:nvSpPr>
        <p:spPr>
          <a:xfrm rot="18407983">
            <a:off x="6093079" y="3660899"/>
            <a:ext cx="1136455" cy="1332503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085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F0C1-147A-5AF5-6ECF-5668A0ED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AB792F-A9A9-4050-6D2C-EC586A8A4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6ABB66-5BF9-7C10-CC26-BE7AC50350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98FB8B-E6B4-3F4F-89CF-AF2734C40AB3}"/>
              </a:ext>
            </a:extLst>
          </p:cNvPr>
          <p:cNvSpPr txBox="1">
            <a:spLocks/>
          </p:cNvSpPr>
          <p:nvPr/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fld id="{B3F753CD-4A73-4EF5-AEFC-79F241B03FA0}" type="slidenum">
              <a:rPr lang="en-US" sz="750" smtClean="0">
                <a:solidFill>
                  <a:srgbClr val="000000"/>
                </a:solidFill>
                <a:latin typeface="Arial" pitchFamily="34" charset="0"/>
              </a:rPr>
              <a:pPr algn="r" defTabSz="68580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US" sz="75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235C8-407A-B9E9-7FB9-C6F6E351BADC}"/>
              </a:ext>
            </a:extLst>
          </p:cNvPr>
          <p:cNvSpPr txBox="1">
            <a:spLocks/>
          </p:cNvSpPr>
          <p:nvPr/>
        </p:nvSpPr>
        <p:spPr bwMode="auto">
          <a:xfrm>
            <a:off x="400050" y="837713"/>
            <a:ext cx="6858000" cy="23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" tIns="6858" rIns="6858" bIns="6858" numCol="1" anchor="ctr" anchorCtr="0" compatLnSpc="1">
            <a:prstTxWarp prst="textNoShape">
              <a:avLst/>
            </a:prstTxWarp>
          </a:bodyPr>
          <a:lstStyle>
            <a:lvl1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2pPr>
            <a:lvl3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3pPr>
            <a:lvl4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4pPr>
            <a:lvl5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r>
              <a:rPr lang="en-US" sz="1800" kern="0">
                <a:solidFill>
                  <a:srgbClr val="00B0F0"/>
                </a:solidFill>
              </a:rPr>
              <a:t>Clustering vs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973C8-F090-1028-BA46-99BD80EC94E4}"/>
              </a:ext>
            </a:extLst>
          </p:cNvPr>
          <p:cNvSpPr/>
          <p:nvPr/>
        </p:nvSpPr>
        <p:spPr>
          <a:xfrm>
            <a:off x="400050" y="1467572"/>
            <a:ext cx="109202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/>
              <a:t>Classification is a supervised learning approach that maps an input to an output based on example input-output pairs. Clustering is a unsupervised learning approach.</a:t>
            </a:r>
          </a:p>
          <a:p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/>
              <a:t>Classification</a:t>
            </a:r>
            <a:r>
              <a:rPr lang="en-US" sz="1200"/>
              <a:t>: If the prediction value tends to be category like yes/no or positive/negative, then it falls under classification type problem in machine learning. The different classes are known in advance. For example, given a sentence, predict whether it's a negative or positive review.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/>
              <a:t>Clustering</a:t>
            </a:r>
            <a:r>
              <a:rPr lang="en-US" sz="1200"/>
              <a:t>: Clustering is the task of partitioning the dataset into groups called clusters. The goal is to split up the data in such a way that points within single cluster are very similar and points in different clusters are different. It determines grouping among unlabeled data.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035316-8007-12D3-5683-0FFDFDA1F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805590"/>
            <a:ext cx="9144000" cy="133003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F44BD5C-B9E0-34B4-E4F0-FE1AB2E018AE}"/>
              </a:ext>
            </a:extLst>
          </p:cNvPr>
          <p:cNvSpPr/>
          <p:nvPr/>
        </p:nvSpPr>
        <p:spPr bwMode="auto">
          <a:xfrm>
            <a:off x="7340017" y="4457414"/>
            <a:ext cx="559965" cy="339754"/>
          </a:xfrm>
          <a:prstGeom prst="ellipse">
            <a:avLst/>
          </a:prstGeom>
          <a:solidFill>
            <a:srgbClr val="00B0F0">
              <a:alpha val="8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74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7431-DA31-09E3-2B84-D3451340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5832B84-C962-6807-84A9-C225DE5DF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985344E-CD45-2200-B706-F04E9119B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810C20C-A82E-D355-CCED-13D697333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640616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What do we need for clustering?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21E64-8125-1ED5-13B2-61978EC1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" y="1061739"/>
            <a:ext cx="8791575" cy="536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98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414FD-DE8F-6D9F-0E9B-DBB1427E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6C21C7-B731-D54C-855E-45A658BE12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22F39CB-8E4E-410E-CAA2-F7BB5B2F54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349157F-C5BD-DA69-7518-80BD14B7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682920"/>
            <a:ext cx="8229600" cy="304699"/>
          </a:xfrm>
        </p:spPr>
        <p:txBody>
          <a:bodyPr/>
          <a:lstStyle/>
          <a:p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Distance (dissimilarity) measures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1E704-0C2E-3AFF-1005-50474373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2" y="1229971"/>
            <a:ext cx="8847140" cy="51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29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4E63-0611-C70B-18CF-035880A6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16581AE-0AEB-F5F6-BB06-61346181C4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37D5E2D-1154-AF88-A5E1-21B0FF68F4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4A82AB-0491-AA5B-8913-499724CFE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401793"/>
            <a:ext cx="10533889" cy="4224233"/>
          </a:xfrm>
        </p:spPr>
        <p:txBody>
          <a:bodyPr/>
          <a:lstStyle/>
          <a:p>
            <a:r>
              <a:rPr lang="en-US" sz="2800" b="1"/>
              <a:t>Intra-cluster cohesion(compactness):</a:t>
            </a:r>
          </a:p>
          <a:p>
            <a:pPr lvl="2"/>
            <a:r>
              <a:rPr lang="en-US" sz="2600" b="0"/>
              <a:t>Cohesion measures how near the data points in a cluster are to the cluster centroid. </a:t>
            </a:r>
          </a:p>
          <a:p>
            <a:pPr lvl="2"/>
            <a:r>
              <a:rPr lang="en-US" sz="2600" b="0"/>
              <a:t>Sum of squared error (SSE) is a commonly used measure. </a:t>
            </a:r>
          </a:p>
          <a:p>
            <a:r>
              <a:rPr lang="en-US" sz="2800" b="1"/>
              <a:t>Inter-cluster separation(isolation): </a:t>
            </a:r>
          </a:p>
          <a:p>
            <a:pPr lvl="2"/>
            <a:r>
              <a:rPr lang="en-US" sz="2600" b="0"/>
              <a:t>Separation means that different cluster centroids should be far away from one another. </a:t>
            </a:r>
          </a:p>
          <a:p>
            <a:pPr lvl="2"/>
            <a:r>
              <a:rPr lang="en-US" sz="2600" b="0"/>
              <a:t>In most applications, expert judgments are still the key</a:t>
            </a:r>
          </a:p>
          <a:p>
            <a:endParaRPr lang="en-US" sz="28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7905B4-9107-8BC0-B0D8-08D0B2E4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728759"/>
            <a:ext cx="10533889" cy="778675"/>
          </a:xfrm>
        </p:spPr>
        <p:txBody>
          <a:bodyPr/>
          <a:lstStyle/>
          <a:p>
            <a:r>
              <a:rPr lang="en-US" sz="2800" b="1">
                <a:solidFill>
                  <a:schemeClr val="tx2">
                    <a:lumMod val="60000"/>
                    <a:lumOff val="40000"/>
                  </a:schemeClr>
                </a:solidFill>
              </a:rPr>
              <a:t>Cluster evaluation (a hard problem)</a:t>
            </a:r>
            <a:br>
              <a:rPr lang="en-US" sz="2800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sz="28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435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9923-3188-CC46-B92F-8E765BD1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8E2F235-6EDF-4CEC-8AE4-42B28D1DF9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393E99-8ADF-BED3-5B6D-DBFAF42BD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00A1A63-DF97-E631-ED8C-1E54EBB4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" y="722912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How many clusters?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B3B5D-D181-DDD7-9295-59ADB61F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70" y="1412362"/>
            <a:ext cx="7056048" cy="2319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4D6F74-1F42-B524-AAF2-0EA085E2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01" y="4116601"/>
            <a:ext cx="88677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76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6CE7-1604-4AC6-5CB4-F209881B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D8BA459-5D92-D2E1-5C3E-97821078B9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69B4AA7-D80E-7797-AD4A-C9E610F3DD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94D374-1BE7-84BC-54A1-D8B5A40A8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93" y="2186187"/>
            <a:ext cx="10911090" cy="28025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9FD2F3-D464-BDA2-211B-4A8A6284E731}"/>
              </a:ext>
            </a:extLst>
          </p:cNvPr>
          <p:cNvSpPr txBox="1">
            <a:spLocks/>
          </p:cNvSpPr>
          <p:nvPr/>
        </p:nvSpPr>
        <p:spPr bwMode="auto">
          <a:xfrm>
            <a:off x="596693" y="844556"/>
            <a:ext cx="6858000" cy="23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" tIns="6858" rIns="6858" bIns="6858" numCol="1" anchor="ctr" anchorCtr="0" compatLnSpc="1">
            <a:prstTxWarp prst="textNoShape">
              <a:avLst/>
            </a:prstTxWarp>
          </a:bodyPr>
          <a:lstStyle>
            <a:lvl1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2pPr>
            <a:lvl3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3pPr>
            <a:lvl4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4pPr>
            <a:lvl5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r>
              <a:rPr lang="en-US" sz="2100" kern="0">
                <a:solidFill>
                  <a:srgbClr val="00B0F0"/>
                </a:solidFill>
              </a:rPr>
              <a:t>Clustering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933171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3853-B91E-4C41-830D-82C2ADF4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CD92D7D-EC65-9861-F8BC-DF9D8E72AE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14A08BC-065E-0605-D4D1-6491A502A5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D9FD30-68A7-6151-9456-E5A75CCE1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8" y="1657653"/>
            <a:ext cx="10990804" cy="3570208"/>
          </a:xfrm>
        </p:spPr>
        <p:txBody>
          <a:bodyPr/>
          <a:lstStyle/>
          <a:p>
            <a:endParaRPr lang="en-US" sz="2400" b="0"/>
          </a:p>
          <a:p>
            <a:r>
              <a:rPr lang="en-US" sz="2400" b="0"/>
              <a:t>K-means (MacQueen, 1967) is a partitional clustering algorithm</a:t>
            </a:r>
          </a:p>
          <a:p>
            <a:r>
              <a:rPr lang="en-US" sz="2400" b="0"/>
              <a:t>Let the set of data points </a:t>
            </a:r>
            <a:r>
              <a:rPr lang="en-US" sz="2400" b="0" i="1"/>
              <a:t>D </a:t>
            </a:r>
            <a:r>
              <a:rPr lang="en-US" sz="2400" b="0"/>
              <a:t>be {</a:t>
            </a:r>
            <a:r>
              <a:rPr lang="en-US" sz="2400"/>
              <a:t>x</a:t>
            </a:r>
            <a:r>
              <a:rPr lang="en-US" sz="2400" b="0"/>
              <a:t>1, </a:t>
            </a:r>
            <a:r>
              <a:rPr lang="en-US" sz="2400"/>
              <a:t>x</a:t>
            </a:r>
            <a:r>
              <a:rPr lang="en-US" sz="2400" b="0"/>
              <a:t>2, …, </a:t>
            </a:r>
            <a:r>
              <a:rPr lang="en-US" sz="2400" err="1"/>
              <a:t>x</a:t>
            </a:r>
            <a:r>
              <a:rPr lang="en-US" sz="2400" b="0" err="1"/>
              <a:t>n</a:t>
            </a:r>
            <a:r>
              <a:rPr lang="en-US" sz="2400" b="0"/>
              <a:t>}, </a:t>
            </a:r>
          </a:p>
          <a:p>
            <a:pPr lvl="1"/>
            <a:r>
              <a:rPr lang="en-US" sz="2200" b="0"/>
              <a:t>where </a:t>
            </a:r>
            <a:r>
              <a:rPr lang="en-US" sz="2200"/>
              <a:t>x</a:t>
            </a:r>
            <a:r>
              <a:rPr lang="en-US" sz="2200" b="0" i="1"/>
              <a:t>i</a:t>
            </a:r>
            <a:r>
              <a:rPr lang="en-US" sz="2200" b="0"/>
              <a:t>= (</a:t>
            </a:r>
            <a:r>
              <a:rPr lang="en-US" sz="2200" b="0" i="1"/>
              <a:t>xi</a:t>
            </a:r>
            <a:r>
              <a:rPr lang="en-US" sz="2200" b="0"/>
              <a:t>1, </a:t>
            </a:r>
            <a:r>
              <a:rPr lang="en-US" sz="2200" b="0" i="1"/>
              <a:t>xi</a:t>
            </a:r>
            <a:r>
              <a:rPr lang="en-US" sz="2200" b="0"/>
              <a:t>2, …, </a:t>
            </a:r>
            <a:r>
              <a:rPr lang="en-US" sz="2200" b="0" i="1" err="1"/>
              <a:t>xir</a:t>
            </a:r>
            <a:r>
              <a:rPr lang="en-US" sz="2200" b="0"/>
              <a:t>) is a vector in </a:t>
            </a:r>
            <a:r>
              <a:rPr lang="en-US" sz="2200" b="0" i="1"/>
              <a:t>X</a:t>
            </a:r>
            <a:r>
              <a:rPr lang="en-US" sz="2200" b="0"/>
              <a:t> and </a:t>
            </a:r>
            <a:r>
              <a:rPr lang="en-US" sz="2200" b="0" i="1"/>
              <a:t>r </a:t>
            </a:r>
            <a:r>
              <a:rPr lang="en-US" sz="2200" b="0"/>
              <a:t>is the number of dimensions. </a:t>
            </a:r>
          </a:p>
          <a:p>
            <a:r>
              <a:rPr lang="en-US" sz="2400" b="0"/>
              <a:t>The </a:t>
            </a:r>
            <a:r>
              <a:rPr lang="en-US" sz="2400" b="0" i="1"/>
              <a:t>k</a:t>
            </a:r>
            <a:r>
              <a:rPr lang="en-US" sz="2400" b="0"/>
              <a:t>-means algorithm partitions the given data into </a:t>
            </a:r>
            <a:r>
              <a:rPr lang="en-US" sz="2400" b="0" i="1"/>
              <a:t>k </a:t>
            </a:r>
            <a:r>
              <a:rPr lang="en-US" sz="2400" b="0"/>
              <a:t>clusters:</a:t>
            </a:r>
          </a:p>
          <a:p>
            <a:r>
              <a:rPr lang="en-US" sz="2400" b="0"/>
              <a:t>Each cluster has a cluster </a:t>
            </a:r>
            <a:r>
              <a:rPr lang="en-US" sz="2400"/>
              <a:t>center</a:t>
            </a:r>
            <a:r>
              <a:rPr lang="en-US" sz="2400" b="0"/>
              <a:t>, called </a:t>
            </a:r>
            <a:r>
              <a:rPr lang="en-US" sz="2400"/>
              <a:t>centroid</a:t>
            </a:r>
            <a:r>
              <a:rPr lang="en-US" sz="2400" b="0"/>
              <a:t>.</a:t>
            </a:r>
          </a:p>
          <a:p>
            <a:r>
              <a:rPr lang="en-US" sz="2400"/>
              <a:t>K</a:t>
            </a:r>
            <a:r>
              <a:rPr lang="en-US" sz="2400" b="0"/>
              <a:t> is specified by the user </a:t>
            </a:r>
          </a:p>
          <a:p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DA9A14-DBC1-6554-9B99-CEC842CD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33224"/>
            <a:ext cx="10487884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370526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088F-85A2-F61C-CF5B-64026E04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66354-B95D-B3C6-0630-44ED5AEA7D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050CC92-374B-8F34-331F-F9C894CE27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AD5C40-518F-3440-61DF-4B5B9AA4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8" y="1920240"/>
            <a:ext cx="10177273" cy="2477601"/>
          </a:xfrm>
        </p:spPr>
        <p:txBody>
          <a:bodyPr/>
          <a:lstStyle/>
          <a:p>
            <a:endParaRPr lang="en-US" b="0"/>
          </a:p>
          <a:p>
            <a:r>
              <a:rPr lang="en-US" b="0"/>
              <a:t>Given </a:t>
            </a:r>
            <a:r>
              <a:rPr lang="en-US" b="0" i="1"/>
              <a:t>k</a:t>
            </a:r>
            <a:r>
              <a:rPr lang="en-US" b="0"/>
              <a:t>, the </a:t>
            </a:r>
            <a:r>
              <a:rPr lang="en-US" b="0" i="1"/>
              <a:t>k-means </a:t>
            </a:r>
            <a:r>
              <a:rPr lang="en-US" b="0"/>
              <a:t>algorithm works as follows:</a:t>
            </a:r>
          </a:p>
          <a:p>
            <a:pPr marL="0" indent="0">
              <a:buNone/>
            </a:pPr>
            <a:r>
              <a:rPr lang="en-US" b="0"/>
              <a:t>1. Choose </a:t>
            </a:r>
            <a:r>
              <a:rPr lang="en-US" b="0" i="1"/>
              <a:t>k</a:t>
            </a:r>
            <a:r>
              <a:rPr lang="en-US" b="0"/>
              <a:t>(random) data points (seeds) to be the initial centroids, cluster centers</a:t>
            </a:r>
          </a:p>
          <a:p>
            <a:pPr marL="0" indent="0">
              <a:buNone/>
            </a:pPr>
            <a:r>
              <a:rPr lang="en-US" b="0"/>
              <a:t>2. Assign each data point to the closest centroid</a:t>
            </a:r>
          </a:p>
          <a:p>
            <a:pPr marL="0" indent="0">
              <a:buNone/>
            </a:pPr>
            <a:r>
              <a:rPr lang="en-US" b="0"/>
              <a:t>3. Re-compute the centroids using the current cluster memberships</a:t>
            </a:r>
          </a:p>
          <a:p>
            <a:pPr marL="0" indent="0">
              <a:buNone/>
            </a:pPr>
            <a:r>
              <a:rPr lang="en-US" b="0"/>
              <a:t>4. If a convergence criterion is not met, repeat steps 2 and 3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FE9910-4800-1F08-8F2C-D15E1603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1052096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algorithm</a:t>
            </a:r>
          </a:p>
        </p:txBody>
      </p:sp>
    </p:spTree>
    <p:extLst>
      <p:ext uri="{BB962C8B-B14F-4D97-AF65-F5344CB8AC3E}">
        <p14:creationId xmlns:p14="http://schemas.microsoft.com/office/powerpoint/2010/main" val="4057176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74B2-7625-E4C7-8E1F-E14FB797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4AD6832-9991-EE4F-0CAA-20ECB61E4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34CE7DE-A80C-D173-9819-D72853B5FD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8AC964-E43D-7DC5-51EA-46C1F546B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8" y="1473273"/>
            <a:ext cx="10871932" cy="1377300"/>
          </a:xfrm>
        </p:spPr>
        <p:txBody>
          <a:bodyPr/>
          <a:lstStyle/>
          <a:p>
            <a:endParaRPr lang="en-US" b="0"/>
          </a:p>
          <a:p>
            <a:r>
              <a:rPr lang="en-US" b="0"/>
              <a:t>no (or minimum) re-assignments of data points to different clusters, </a:t>
            </a:r>
            <a:r>
              <a:rPr lang="en-US" b="0" i="1"/>
              <a:t>or</a:t>
            </a:r>
            <a:endParaRPr lang="en-US" b="0"/>
          </a:p>
          <a:p>
            <a:r>
              <a:rPr lang="en-US" b="0"/>
              <a:t>no (or minimum) change of centroids, or</a:t>
            </a:r>
          </a:p>
          <a:p>
            <a:r>
              <a:rPr lang="en-US" b="0"/>
              <a:t>minimum decrease in the </a:t>
            </a:r>
            <a:r>
              <a:rPr lang="en-US"/>
              <a:t>sum of squared error</a:t>
            </a:r>
            <a:r>
              <a:rPr lang="en-US" b="0"/>
              <a:t>(SSE),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D641AD-406F-20BF-B85D-E6424559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713060"/>
            <a:ext cx="10871932" cy="360099"/>
          </a:xfrm>
        </p:spPr>
        <p:txBody>
          <a:bodyPr/>
          <a:lstStyle/>
          <a:p>
            <a:r>
              <a:rPr lang="en-US"/>
              <a:t>K-means convergence (stopping) criterion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EB2A0-AF96-3A50-E62A-495A3628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09" y="3429000"/>
            <a:ext cx="814561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68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876C-FCC9-A2A9-080D-DA34A4AC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D92E84F-7D87-766C-A46E-A3A765A5E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64ABCC2-7BE3-D4D7-0FD0-A2D803110C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CA6A93C-434D-3D88-92B6-B2091A40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707392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 example: step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D92943-DD32-8294-C844-9A29DC29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4" y="1282101"/>
            <a:ext cx="68770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25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7684-2B3A-1D80-047E-23DD68C4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094954-4841-3BF8-D777-A9FE591A5F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3476745-12EA-EFDE-C6CD-5B08F37862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3FFB3BD-B43D-B282-87A5-7EB7F3B5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759488"/>
            <a:ext cx="8229600" cy="304699"/>
          </a:xfrm>
        </p:spPr>
        <p:txBody>
          <a:bodyPr/>
          <a:lstStyle/>
          <a:p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 example –step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EC5A5-B9AD-9DC3-6D64-720005655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153" y="1305687"/>
            <a:ext cx="62293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36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C57-6C9D-3719-31B1-7FA6D971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25EB768-460B-E7C4-B720-8BCE4A66C4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C7D1299-B726-A6E0-83E0-5E43473D3D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A93AD0D-820A-3FB0-FAB0-5EBAD0D5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709761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297A0-3594-F9F6-9868-8E2FB298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81" y="1286839"/>
            <a:ext cx="6155268" cy="487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33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3DEB-71A6-3C76-08D5-E72CD21E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CA8CB90-D71D-9F9E-5FC3-F7B64DBD73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13F4F0E-FE00-C54B-F1B3-0D4755C634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F6C7EB7-69AE-F516-FC6D-2E0F5DB0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620068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47A38-2381-85A6-DF7F-1FE0BB91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26" y="1206490"/>
            <a:ext cx="6984102" cy="508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97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BF84-A6E5-1D76-A174-B63CCBB7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2A5D41C-5A94-2496-F5FF-C5431F0FC2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EAE3550-A379-0315-2FEB-35DCF56A9F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A97CB75-4860-EF53-CCBF-410BFBBF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639190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K-means clustering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5F61BD-26AB-EA19-122E-A361E37D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98" y="1152594"/>
            <a:ext cx="7737402" cy="51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31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A63F-D22E-DC72-2F2D-B3DA122B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BB60609-5C39-66B6-AF47-7CE5F08F16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E633EB0-9F3D-7000-5EB9-6E1491535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8AE27-50BB-EDB7-00A5-BFCB12577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78680"/>
            <a:ext cx="10347548" cy="4090863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Strengths: </a:t>
            </a:r>
          </a:p>
          <a:p>
            <a:r>
              <a:rPr lang="en-US" b="0"/>
              <a:t>Simple: easy to understand and to implement</a:t>
            </a:r>
          </a:p>
          <a:p>
            <a:r>
              <a:rPr lang="en-US" b="0"/>
              <a:t>Efficient: Time complexity: </a:t>
            </a:r>
            <a:r>
              <a:rPr lang="en-US" b="0" i="1"/>
              <a:t>O</a:t>
            </a:r>
            <a:r>
              <a:rPr lang="en-US" b="0"/>
              <a:t>(</a:t>
            </a:r>
            <a:r>
              <a:rPr lang="en-US" b="0" i="1" err="1"/>
              <a:t>tkn</a:t>
            </a:r>
            <a:r>
              <a:rPr lang="en-US" b="0"/>
              <a:t>), </a:t>
            </a:r>
          </a:p>
          <a:p>
            <a:pPr lvl="1"/>
            <a:r>
              <a:rPr lang="en-US" b="0"/>
              <a:t>where </a:t>
            </a:r>
            <a:r>
              <a:rPr lang="en-US" b="0" i="1"/>
              <a:t>n </a:t>
            </a:r>
            <a:r>
              <a:rPr lang="en-US" b="0"/>
              <a:t>is the number of data points, </a:t>
            </a:r>
          </a:p>
          <a:p>
            <a:pPr lvl="1"/>
            <a:r>
              <a:rPr lang="en-US" b="0" i="1"/>
              <a:t>K is the number of clusters, and </a:t>
            </a:r>
            <a:endParaRPr lang="en-US" b="0"/>
          </a:p>
          <a:p>
            <a:pPr lvl="1"/>
            <a:r>
              <a:rPr lang="en-US" b="0" i="1"/>
              <a:t>t is the number of iterations. </a:t>
            </a:r>
            <a:endParaRPr lang="en-US" b="0"/>
          </a:p>
          <a:p>
            <a:r>
              <a:rPr lang="en-US" b="0"/>
              <a:t>Since both </a:t>
            </a:r>
            <a:r>
              <a:rPr lang="en-US" b="0" i="1"/>
              <a:t>k </a:t>
            </a:r>
            <a:r>
              <a:rPr lang="en-US" b="0"/>
              <a:t>and </a:t>
            </a:r>
            <a:r>
              <a:rPr lang="en-US" b="0" i="1"/>
              <a:t>t </a:t>
            </a:r>
            <a:r>
              <a:rPr lang="en-US" b="0"/>
              <a:t>are small. </a:t>
            </a:r>
            <a:r>
              <a:rPr lang="en-US" b="0" i="1"/>
              <a:t>k</a:t>
            </a:r>
            <a:r>
              <a:rPr lang="en-US" b="0"/>
              <a:t>-means is considered a linear algorithm. </a:t>
            </a:r>
          </a:p>
          <a:p>
            <a:r>
              <a:rPr lang="en-US" b="0"/>
              <a:t>K-means is the most popular clustering algorithm.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0"/>
              <a:t>Note that: it terminates at a </a:t>
            </a:r>
            <a:r>
              <a:rPr lang="en-US" b="0">
                <a:solidFill>
                  <a:srgbClr val="FF0000"/>
                </a:solidFill>
              </a:rPr>
              <a:t>local optimum </a:t>
            </a:r>
            <a:r>
              <a:rPr lang="en-US" b="0"/>
              <a:t>if SSE is used. </a:t>
            </a:r>
            <a:r>
              <a:rPr lang="en-US" b="0">
                <a:solidFill>
                  <a:srgbClr val="FF0000"/>
                </a:solidFill>
              </a:rPr>
              <a:t>The global optimum</a:t>
            </a:r>
            <a:r>
              <a:rPr lang="en-US" b="0"/>
              <a:t> is hard to find due to complexity. 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4A19EF-8CB2-9F6E-86BF-5DFFEE5E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7" y="768721"/>
            <a:ext cx="10180729" cy="609398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Why use K-means?</a:t>
            </a:r>
            <a:b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826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39914-1674-5B38-F3DB-471588AE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F23C08B-FCC3-3039-D63C-87439F3065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CEF24E5-D81A-68EA-EB00-741A4E3345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9DE1C7-92E8-FF35-0E4E-DE1377363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04" y="2286000"/>
            <a:ext cx="11226896" cy="2023631"/>
          </a:xfrm>
        </p:spPr>
        <p:txBody>
          <a:bodyPr/>
          <a:lstStyle/>
          <a:p>
            <a:r>
              <a:rPr lang="en-US" b="0"/>
              <a:t>The algorithm is only applicable if the mean is defined. </a:t>
            </a:r>
          </a:p>
          <a:p>
            <a:pPr lvl="1"/>
            <a:r>
              <a:rPr lang="en-US" b="0"/>
              <a:t>For categorical data, </a:t>
            </a:r>
            <a:r>
              <a:rPr lang="en-US" b="0" i="1"/>
              <a:t>k</a:t>
            </a:r>
            <a:r>
              <a:rPr lang="en-US" b="0"/>
              <a:t>-mode -the centroid is represented by most frequent values. </a:t>
            </a:r>
          </a:p>
          <a:p>
            <a:r>
              <a:rPr lang="en-US" b="0"/>
              <a:t>The user needs to specify k.</a:t>
            </a:r>
          </a:p>
          <a:p>
            <a:r>
              <a:rPr lang="en-US" b="0"/>
              <a:t>The algorithm is sensitive to </a:t>
            </a:r>
            <a:r>
              <a:rPr lang="en-US"/>
              <a:t>outliers</a:t>
            </a:r>
            <a:endParaRPr lang="en-US" b="0"/>
          </a:p>
          <a:p>
            <a:pPr lvl="1"/>
            <a:r>
              <a:rPr lang="en-US" b="0"/>
              <a:t>Outliers are data points that are very far away from other data points. </a:t>
            </a:r>
          </a:p>
          <a:p>
            <a:pPr lvl="1"/>
            <a:r>
              <a:rPr lang="en-US" b="0"/>
              <a:t>Outliers could be errors in the data recording or some special data points with very different values.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265077-00DD-3E8F-8915-6AD707AC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1070473"/>
            <a:ext cx="8229600" cy="609398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Weaknesses of K-means</a:t>
            </a:r>
            <a:b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23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3457-2B79-6D57-E5CA-5CD714B4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58B8B24-1364-D81B-A720-A146706EF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F72613B-A2A9-D043-A3D5-2592366872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A40235F-5022-B430-1CCF-0E10F104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1" y="797444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865F56-969B-C031-68E0-E7C7E616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1" y="1299354"/>
            <a:ext cx="80676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60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BCB1-4B5F-27B6-1A09-6780ACC2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8A462B-B485-AA32-236B-3DBB000C94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8561BC2-E432-68DD-967C-A30EE6E0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0BC904-5D5A-BCCA-1CCF-8D63CDD2F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554480"/>
            <a:ext cx="10320401" cy="3534301"/>
          </a:xfrm>
        </p:spPr>
        <p:txBody>
          <a:bodyPr/>
          <a:lstStyle/>
          <a:p>
            <a:r>
              <a:rPr lang="en-US" sz="2400" b="0"/>
              <a:t>Remove some data points that are much further away from the centroids than other data points </a:t>
            </a:r>
          </a:p>
          <a:p>
            <a:pPr lvl="2"/>
            <a:r>
              <a:rPr lang="en-US" sz="2200" b="0"/>
              <a:t>To be safe, we may want to monitor these possible outliers over a few iterations and then decide to remove them. </a:t>
            </a:r>
          </a:p>
          <a:p>
            <a:r>
              <a:rPr lang="en-US" sz="2400" b="0"/>
              <a:t>Perform random sampling: by choosing a small subset of the data points, the chance of selecting an outlier is much smaller </a:t>
            </a:r>
          </a:p>
          <a:p>
            <a:pPr lvl="2"/>
            <a:r>
              <a:rPr lang="en-US" sz="2200" b="0"/>
              <a:t>Assign the rest of the data points to the clusters by distance or similarity comparison, or classification</a:t>
            </a:r>
          </a:p>
          <a:p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3CBBBA-9151-B02D-B865-30EA3F53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731520"/>
            <a:ext cx="8229600" cy="674031"/>
          </a:xfrm>
        </p:spPr>
        <p:txBody>
          <a:bodyPr/>
          <a:lstStyle/>
          <a:p>
            <a:r>
              <a:rPr lang="en-US"/>
              <a:t>Dealing with outliers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0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FCD-7D6D-956B-163A-4E4D3F97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66CC1FB-A881-59C0-3404-4F5AACDCA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25BF15E-2E99-0101-9385-899E8D8424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8DA1450-9570-37C3-DBA1-745EFEF7B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5" y="673847"/>
            <a:ext cx="8229600" cy="387798"/>
          </a:xfrm>
        </p:spPr>
        <p:txBody>
          <a:bodyPr/>
          <a:lstStyle/>
          <a:p>
            <a:r>
              <a:rPr lang="en-US" sz="2800" b="1">
                <a:solidFill>
                  <a:schemeClr val="tx2">
                    <a:lumMod val="60000"/>
                    <a:lumOff val="40000"/>
                  </a:schemeClr>
                </a:solidFill>
              </a:rPr>
              <a:t>Sensitivity to initial seeds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82070-3803-7C65-27FB-6D599938C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42" y="1342737"/>
            <a:ext cx="8041034" cy="44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3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03F4-48CA-B7C6-9811-F18ACA26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610264C-4F04-1A08-2FB2-6E246ECD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DDE776D-0347-C2DB-F649-E3CEAE7089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9ECCD7-EE52-9167-7231-85BD784E6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75913"/>
            <a:ext cx="11239501" cy="920765"/>
          </a:xfrm>
        </p:spPr>
        <p:txBody>
          <a:bodyPr/>
          <a:lstStyle/>
          <a:p>
            <a:r>
              <a:rPr lang="en-US" b="0"/>
              <a:t>The </a:t>
            </a:r>
            <a:r>
              <a:rPr lang="en-US" b="0" i="1"/>
              <a:t>k</a:t>
            </a:r>
            <a:r>
              <a:rPr lang="en-US" b="0"/>
              <a:t>-means algorithm is not suitable for discovering clusters that are not hyper-ellipsoids (or hyper-spheres). 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1CD75F-0408-F14E-A0C2-78D7F924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689031"/>
            <a:ext cx="8229600" cy="609398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Special data structures</a:t>
            </a:r>
            <a:b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63374-7072-1ADD-5BA8-9FA267556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49" y="2296678"/>
            <a:ext cx="7891510" cy="353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17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7EBA-97EE-BFCA-2CA3-6CCB091B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67404A3-972F-FBB5-A9E0-4A5B95622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7B222F7-066B-3DCA-CC6F-2A3BCEC087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93F57-2C7C-49BF-C5AB-94D3FB32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84" y="643272"/>
            <a:ext cx="8345488" cy="609398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Optimizing the Number of Clusters in K-means</a:t>
            </a:r>
            <a:b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E8C894-91BB-6964-00EB-363BBA8133E0}"/>
              </a:ext>
            </a:extLst>
          </p:cNvPr>
          <p:cNvSpPr/>
          <p:nvPr/>
        </p:nvSpPr>
        <p:spPr>
          <a:xfrm>
            <a:off x="261256" y="1042912"/>
            <a:ext cx="1120532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Two common methods:</a:t>
            </a:r>
          </a:p>
          <a:p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 Silhouette Score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 Elbow Method.</a:t>
            </a:r>
          </a:p>
          <a:p>
            <a:endParaRPr lang="en-US"/>
          </a:p>
          <a:p>
            <a:pPr marL="257175" indent="-257175">
              <a:buAutoNum type="arabicPeriod"/>
            </a:pPr>
            <a:r>
              <a:rPr lang="en-US" b="1"/>
              <a:t>Silhouette Score</a:t>
            </a:r>
          </a:p>
          <a:p>
            <a:endParaRPr lang="en-US" b="1"/>
          </a:p>
          <a:p>
            <a:r>
              <a:rPr lang="en-US"/>
              <a:t>Measures how similar an object is to its own cluster compared to other clusters.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s(</a:t>
            </a:r>
            <a:r>
              <a:rPr lang="en-US" err="1"/>
              <a:t>i</a:t>
            </a:r>
            <a:r>
              <a:rPr lang="en-US"/>
              <a:t>) is the Silhouette Score for data point </a:t>
            </a:r>
            <a:r>
              <a:rPr lang="en-US" err="1"/>
              <a:t>i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a(</a:t>
            </a:r>
            <a:r>
              <a:rPr lang="en-US" err="1"/>
              <a:t>i</a:t>
            </a:r>
            <a:r>
              <a:rPr lang="en-US"/>
              <a:t>) is the average distance from the </a:t>
            </a:r>
            <a:r>
              <a:rPr lang="en-US" err="1"/>
              <a:t>i</a:t>
            </a:r>
            <a:r>
              <a:rPr lang="en-US" err="1">
                <a:effectLst/>
              </a:rPr>
              <a:t>th</a:t>
            </a:r>
            <a:r>
              <a:rPr lang="en-US"/>
              <a:t> data point to the other data points in the same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b(</a:t>
            </a:r>
            <a:r>
              <a:rPr lang="en-US" err="1"/>
              <a:t>i</a:t>
            </a:r>
            <a:r>
              <a:rPr lang="en-US"/>
              <a:t>) is the smallest average distance from the </a:t>
            </a:r>
            <a:r>
              <a:rPr lang="en-US" err="1"/>
              <a:t>i</a:t>
            </a:r>
            <a:r>
              <a:rPr lang="en-US" err="1">
                <a:effectLst/>
              </a:rPr>
              <a:t>th</a:t>
            </a:r>
            <a:r>
              <a:rPr lang="en-US"/>
              <a:t> data point to data points in a different cluster.</a:t>
            </a:r>
          </a:p>
          <a:p>
            <a:endParaRPr lang="en-US"/>
          </a:p>
          <a:p>
            <a:r>
              <a:rPr lang="en-US"/>
              <a:t>The overall Silhouette Score for the dataset is the average of the Silhouette Score for each instance. </a:t>
            </a:r>
          </a:p>
          <a:p>
            <a:r>
              <a:rPr lang="en-US"/>
              <a:t>You choose the number that gives the highest Silhouette Score.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10C70-C30B-D2E8-873F-045F91E97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5" y="3291793"/>
            <a:ext cx="1757441" cy="5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8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2447-1D07-CB0A-E1E7-C8C02BB3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1932873-2CE8-6A51-F408-1E4829929E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7B66B3B-638C-26B8-C73C-3107022B3B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1A15C-76D3-F4B2-E61B-6796D752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60" y="570585"/>
            <a:ext cx="10459435" cy="674031"/>
          </a:xfrm>
        </p:spPr>
        <p:txBody>
          <a:bodyPr/>
          <a:lstStyle/>
          <a:p>
            <a:r>
              <a:rPr lang="en-US"/>
              <a:t>Optimizing the Number of Clusters in K-means</a:t>
            </a:r>
            <a:br>
              <a:rPr lang="en-US"/>
            </a:b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6FF48-CF92-E680-361E-DAE0B4B80DB0}"/>
              </a:ext>
            </a:extLst>
          </p:cNvPr>
          <p:cNvSpPr/>
          <p:nvPr/>
        </p:nvSpPr>
        <p:spPr>
          <a:xfrm>
            <a:off x="105260" y="1111550"/>
            <a:ext cx="1113375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2. Elbow Method</a:t>
            </a:r>
          </a:p>
          <a:p>
            <a:endParaRPr lang="en-US"/>
          </a:p>
          <a:p>
            <a:r>
              <a:rPr lang="en-US"/>
              <a:t>Within-cluster sum of squares (WCSS) is plotted for a range of cluster numbers (k). WCSS is the sum of the squared distance between each point in a cluster and the centroid of that cluster.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Where: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 k is the number of clusters.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 n is the number of points in a cluster.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xj</a:t>
            </a:r>
            <a:r>
              <a:rPr lang="en-US"/>
              <a:t> is a point in a cluster.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 ci​ is the centroid of a cluster.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As the number of clusters increases, the WCSS decreases.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The point where the rate of decrease sharply changes, representing an 'elbow' in the graph, is considered an optimal number of clusters.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Beyond this point, the gains from increasing the number of clusters are usually marginal or negligible.</a:t>
            </a:r>
          </a:p>
          <a:p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94D75-4A93-527C-82BB-DAD11035F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61" y="2350763"/>
            <a:ext cx="2533781" cy="378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EE73A-64CE-7041-5C2A-EAE566C70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263" y="2350763"/>
            <a:ext cx="4475364" cy="239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51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715431-E472-0A8B-122C-4402158122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76D501D-34FC-DE28-98C8-809134C37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0FB05D4F-DA1C-AD82-A03E-E31DD6742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98" y="1015697"/>
            <a:ext cx="973054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A typical formulation of the Hopkins statistic follows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Arial" panose="020B0604020202020204" pitchFamily="34" charset="0"/>
              </a:rPr>
              <a:t>    Let X be the set of n data points.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Arial" panose="020B0604020202020204" pitchFamily="34" charset="0"/>
              </a:rPr>
              <a:t>    Consider a random sample (without replacement) of m ≪ n data points with members x</a:t>
            </a:r>
            <a:r>
              <a:rPr lang="en-US" altLang="en-US" sz="1400">
                <a:latin typeface="Arial" panose="020B0604020202020204" pitchFamily="34" charset="0"/>
              </a:rPr>
              <a:t>i</a:t>
            </a:r>
            <a:endParaRPr lang="en-US" altLang="en-US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Arial" panose="020B0604020202020204" pitchFamily="34" charset="0"/>
              </a:rPr>
              <a:t>    Generate a set Y of m uniformly randomly distributed data points.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Arial" panose="020B0604020202020204" pitchFamily="34" charset="0"/>
              </a:rPr>
              <a:t>    Define two distance measures,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      </a:t>
            </a:r>
            <a:r>
              <a:rPr lang="en-US" altLang="en-US" err="1">
                <a:latin typeface="Arial" panose="020B0604020202020204" pitchFamily="34" charset="0"/>
              </a:rPr>
              <a:t>u</a:t>
            </a:r>
            <a:r>
              <a:rPr lang="en-US" altLang="en-US" sz="1100" err="1">
                <a:latin typeface="Arial" panose="020B0604020202020204" pitchFamily="34" charset="0"/>
              </a:rPr>
              <a:t>i</a:t>
            </a:r>
            <a:r>
              <a:rPr lang="en-US" altLang="en-US">
                <a:latin typeface="Arial" panose="020B0604020202020204" pitchFamily="34" charset="0"/>
              </a:rPr>
              <a:t> , the distance of </a:t>
            </a:r>
            <a:r>
              <a:rPr lang="en-US" altLang="en-US" err="1">
                <a:latin typeface="Arial" panose="020B0604020202020204" pitchFamily="34" charset="0"/>
              </a:rPr>
              <a:t>y</a:t>
            </a:r>
            <a:r>
              <a:rPr lang="en-US" altLang="en-US" sz="1200" err="1">
                <a:latin typeface="Arial" panose="020B0604020202020204" pitchFamily="34" charset="0"/>
              </a:rPr>
              <a:t>i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</a:rPr>
              <a:t>∈ Y from its nearest neighbour in X,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      </a:t>
            </a:r>
            <a:r>
              <a:rPr lang="en-US" altLang="en-US" err="1">
                <a:latin typeface="Arial" panose="020B0604020202020204" pitchFamily="34" charset="0"/>
              </a:rPr>
              <a:t>w</a:t>
            </a:r>
            <a:r>
              <a:rPr lang="en-US" altLang="en-US" sz="1200" err="1">
                <a:latin typeface="Arial" panose="020B0604020202020204" pitchFamily="34" charset="0"/>
              </a:rPr>
              <a:t>i</a:t>
            </a:r>
            <a:r>
              <a:rPr lang="en-US" altLang="en-US">
                <a:latin typeface="Arial" panose="020B0604020202020204" pitchFamily="34" charset="0"/>
              </a:rPr>
              <a:t> , the distance of m number of randomly chosen x</a:t>
            </a:r>
            <a:r>
              <a:rPr lang="en-US" altLang="en-US" sz="1200">
                <a:latin typeface="Arial" panose="020B0604020202020204" pitchFamily="34" charset="0"/>
              </a:rPr>
              <a:t>i </a:t>
            </a:r>
            <a:r>
              <a:rPr lang="en-US" altLang="en-US">
                <a:latin typeface="Arial" panose="020B0604020202020204" pitchFamily="34" charset="0"/>
              </a:rPr>
              <a:t>, x</a:t>
            </a:r>
            <a:r>
              <a:rPr lang="en-US" altLang="en-US" sz="1100">
                <a:latin typeface="Arial" panose="020B0604020202020204" pitchFamily="34" charset="0"/>
              </a:rPr>
              <a:t>i </a:t>
            </a:r>
            <a:r>
              <a:rPr lang="en-US" altLang="en-US">
                <a:latin typeface="Arial" panose="020B0604020202020204" pitchFamily="34" charset="0"/>
              </a:rPr>
              <a:t>∈ X from its nearest neighbour X.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17" descr="X">
            <a:extLst>
              <a:ext uri="{FF2B5EF4-FFF2-40B4-BE49-F238E27FC236}">
                <a16:creationId xmlns:a16="http://schemas.microsoft.com/office/drawing/2014/main" id="{49AF50D3-F567-D3C1-0E13-2EEC4CC4E7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3775" y="-6302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8" descr="n">
            <a:extLst>
              <a:ext uri="{FF2B5EF4-FFF2-40B4-BE49-F238E27FC236}">
                <a16:creationId xmlns:a16="http://schemas.microsoft.com/office/drawing/2014/main" id="{EDB96A9D-3E14-7871-EF4D-52332387B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8250" y="-6302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9" descr="{\displaystyle m\ll n}">
            <a:extLst>
              <a:ext uri="{FF2B5EF4-FFF2-40B4-BE49-F238E27FC236}">
                <a16:creationId xmlns:a16="http://schemas.microsoft.com/office/drawing/2014/main" id="{57AB302D-8106-670C-4A65-FC042BBA4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4075" y="-3413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20" descr="x_{i}">
            <a:extLst>
              <a:ext uri="{FF2B5EF4-FFF2-40B4-BE49-F238E27FC236}">
                <a16:creationId xmlns:a16="http://schemas.microsoft.com/office/drawing/2014/main" id="{BA6ED656-05D2-362A-B709-31EC2C8C1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94750" y="-3413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1" descr="Y">
            <a:extLst>
              <a:ext uri="{FF2B5EF4-FFF2-40B4-BE49-F238E27FC236}">
                <a16:creationId xmlns:a16="http://schemas.microsoft.com/office/drawing/2014/main" id="{8C61ACC8-1E74-2481-370E-14EBA706F4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7575" y="-5238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22" descr="m">
            <a:extLst>
              <a:ext uri="{FF2B5EF4-FFF2-40B4-BE49-F238E27FC236}">
                <a16:creationId xmlns:a16="http://schemas.microsoft.com/office/drawing/2014/main" id="{1F5400CC-9E50-E53D-6DFC-C9D2FDC09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97568" y="-12909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3" descr="{\displaystyle u_{i},}">
            <a:extLst>
              <a:ext uri="{FF2B5EF4-FFF2-40B4-BE49-F238E27FC236}">
                <a16:creationId xmlns:a16="http://schemas.microsoft.com/office/drawing/2014/main" id="{7B657071-1161-23C1-8336-F0A9548FA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9975" y="511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24" descr="y_{i}\in Y">
            <a:extLst>
              <a:ext uri="{FF2B5EF4-FFF2-40B4-BE49-F238E27FC236}">
                <a16:creationId xmlns:a16="http://schemas.microsoft.com/office/drawing/2014/main" id="{F1BAF92B-8DC5-F682-CC37-FE7FDDCA60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3050" y="511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25" descr="X">
            <a:extLst>
              <a:ext uri="{FF2B5EF4-FFF2-40B4-BE49-F238E27FC236}">
                <a16:creationId xmlns:a16="http://schemas.microsoft.com/office/drawing/2014/main" id="{AC0A04E4-5F37-748B-57F0-F9007AEA58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65825" y="5111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26" descr="{\displaystyle w_{i},}">
            <a:extLst>
              <a:ext uri="{FF2B5EF4-FFF2-40B4-BE49-F238E27FC236}">
                <a16:creationId xmlns:a16="http://schemas.microsoft.com/office/drawing/2014/main" id="{50560946-5296-2579-F061-6E5A50BB8B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9975" y="800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27" descr="m">
            <a:extLst>
              <a:ext uri="{FF2B5EF4-FFF2-40B4-BE49-F238E27FC236}">
                <a16:creationId xmlns:a16="http://schemas.microsoft.com/office/drawing/2014/main" id="{B55196E8-F68E-D391-0A78-1C1C5424C0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3050" y="800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28" descr="{\displaystyle x_{i},}">
            <a:extLst>
              <a:ext uri="{FF2B5EF4-FFF2-40B4-BE49-F238E27FC236}">
                <a16:creationId xmlns:a16="http://schemas.microsoft.com/office/drawing/2014/main" id="{D4150A95-98BC-6E7B-DB57-00A71E81AA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2325" y="800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29" descr="x_{i}\in X">
            <a:extLst>
              <a:ext uri="{FF2B5EF4-FFF2-40B4-BE49-F238E27FC236}">
                <a16:creationId xmlns:a16="http://schemas.microsoft.com/office/drawing/2014/main" id="{536D2573-A577-8DFF-0641-24B10459D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800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30" descr="X">
            <a:extLst>
              <a:ext uri="{FF2B5EF4-FFF2-40B4-BE49-F238E27FC236}">
                <a16:creationId xmlns:a16="http://schemas.microsoft.com/office/drawing/2014/main" id="{CA107563-75E2-5188-D110-733960459D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48775" y="800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D0216B-54DA-0F88-F2C7-B6960BFC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12" y="3867351"/>
            <a:ext cx="2962275" cy="990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970A8F-7A92-7B3F-465B-5090E704E37A}"/>
              </a:ext>
            </a:extLst>
          </p:cNvPr>
          <p:cNvSpPr txBox="1"/>
          <p:nvPr/>
        </p:nvSpPr>
        <p:spPr>
          <a:xfrm>
            <a:off x="89358" y="5075473"/>
            <a:ext cx="4049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H&gt;0.8 == Good clusters in your data</a:t>
            </a:r>
          </a:p>
          <a:p>
            <a:r>
              <a:rPr lang="en-US"/>
              <a:t>H 0.5-0.8== Ok</a:t>
            </a:r>
          </a:p>
          <a:p>
            <a:r>
              <a:rPr lang="en-US"/>
              <a:t>H&lt;= 0.5: Random, not good for clustering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DBC04F-74D5-8A50-D3CE-B6CCCA146778}"/>
              </a:ext>
            </a:extLst>
          </p:cNvPr>
          <p:cNvSpPr txBox="1"/>
          <p:nvPr/>
        </p:nvSpPr>
        <p:spPr>
          <a:xfrm>
            <a:off x="399375" y="430922"/>
            <a:ext cx="3093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Hopkins Statistics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DBFE5E-AD52-33C2-4119-8311C4D64B3C}"/>
              </a:ext>
            </a:extLst>
          </p:cNvPr>
          <p:cNvGrpSpPr/>
          <p:nvPr/>
        </p:nvGrpSpPr>
        <p:grpSpPr>
          <a:xfrm>
            <a:off x="3853464" y="3326148"/>
            <a:ext cx="8959252" cy="3321500"/>
            <a:chOff x="3853464" y="3326148"/>
            <a:chExt cx="8959252" cy="332150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9EFFD90-E08C-1410-7324-F259BD31A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3464" y="3713948"/>
              <a:ext cx="8258175" cy="2933700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4DB6674-960E-21B4-EFA2-FA235D22162A}"/>
                </a:ext>
              </a:extLst>
            </p:cNvPr>
            <p:cNvGrpSpPr/>
            <p:nvPr/>
          </p:nvGrpSpPr>
          <p:grpSpPr>
            <a:xfrm>
              <a:off x="10663186" y="3326148"/>
              <a:ext cx="2149530" cy="617981"/>
              <a:chOff x="2029325" y="5703588"/>
              <a:chExt cx="2149530" cy="617981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1716C50-DFB8-6859-E38D-4B73B166A8FB}"/>
                  </a:ext>
                </a:extLst>
              </p:cNvPr>
              <p:cNvSpPr/>
              <p:nvPr/>
            </p:nvSpPr>
            <p:spPr>
              <a:xfrm>
                <a:off x="2040554" y="5871410"/>
                <a:ext cx="57752" cy="4571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1D92C5-9AC8-FE57-10A6-2044F21E937F}"/>
                  </a:ext>
                </a:extLst>
              </p:cNvPr>
              <p:cNvSpPr txBox="1"/>
              <p:nvPr/>
            </p:nvSpPr>
            <p:spPr>
              <a:xfrm>
                <a:off x="2056844" y="5703588"/>
                <a:ext cx="2122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Random data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712400F-BBDF-1E38-DBC2-2989EF718AD4}"/>
                  </a:ext>
                </a:extLst>
              </p:cNvPr>
              <p:cNvSpPr/>
              <p:nvPr/>
            </p:nvSpPr>
            <p:spPr>
              <a:xfrm>
                <a:off x="2029325" y="6120059"/>
                <a:ext cx="57752" cy="45719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3E69996-9F75-8EB3-3C98-DE41284AF7AE}"/>
                  </a:ext>
                </a:extLst>
              </p:cNvPr>
              <p:cNvSpPr txBox="1"/>
              <p:nvPr/>
            </p:nvSpPr>
            <p:spPr>
              <a:xfrm>
                <a:off x="2045615" y="5952237"/>
                <a:ext cx="2122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Data point</a:t>
                </a:r>
              </a:p>
            </p:txBody>
          </p:sp>
        </p:grpSp>
        <p:sp>
          <p:nvSpPr>
            <p:cNvPr id="30" name="Rounded Rectangle 45">
              <a:extLst>
                <a:ext uri="{FF2B5EF4-FFF2-40B4-BE49-F238E27FC236}">
                  <a16:creationId xmlns:a16="http://schemas.microsoft.com/office/drawing/2014/main" id="{162D21BC-BD97-AE87-C644-86A94FE15B14}"/>
                </a:ext>
              </a:extLst>
            </p:cNvPr>
            <p:cNvSpPr/>
            <p:nvPr/>
          </p:nvSpPr>
          <p:spPr>
            <a:xfrm>
              <a:off x="11842500" y="3690692"/>
              <a:ext cx="269139" cy="25025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46">
              <a:extLst>
                <a:ext uri="{FF2B5EF4-FFF2-40B4-BE49-F238E27FC236}">
                  <a16:creationId xmlns:a16="http://schemas.microsoft.com/office/drawing/2014/main" id="{4B01F07C-705E-B474-8B2F-E3F06475C650}"/>
                </a:ext>
              </a:extLst>
            </p:cNvPr>
            <p:cNvSpPr/>
            <p:nvPr/>
          </p:nvSpPr>
          <p:spPr>
            <a:xfrm>
              <a:off x="11617140" y="5284269"/>
              <a:ext cx="318186" cy="25286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47">
              <a:extLst>
                <a:ext uri="{FF2B5EF4-FFF2-40B4-BE49-F238E27FC236}">
                  <a16:creationId xmlns:a16="http://schemas.microsoft.com/office/drawing/2014/main" id="{EC619F22-BA48-E357-6A57-467DEC7BE599}"/>
                </a:ext>
              </a:extLst>
            </p:cNvPr>
            <p:cNvSpPr/>
            <p:nvPr/>
          </p:nvSpPr>
          <p:spPr>
            <a:xfrm>
              <a:off x="8719570" y="5392207"/>
              <a:ext cx="269139" cy="25025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599B0123-468A-E2FE-90EC-4B214C2BFDF4}"/>
              </a:ext>
            </a:extLst>
          </p:cNvPr>
          <p:cNvSpPr/>
          <p:nvPr/>
        </p:nvSpPr>
        <p:spPr>
          <a:xfrm>
            <a:off x="10613985" y="3437682"/>
            <a:ext cx="141799" cy="131535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28E7C1FE-E56A-98AB-CA0D-86318235854D}"/>
              </a:ext>
            </a:extLst>
          </p:cNvPr>
          <p:cNvSpPr/>
          <p:nvPr/>
        </p:nvSpPr>
        <p:spPr>
          <a:xfrm>
            <a:off x="10604338" y="3682679"/>
            <a:ext cx="141799" cy="131535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32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87F9-1D68-33AF-BC34-18DE1D27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A4AEDD-6D49-4A69-1BB0-6D84C28EA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6858C03-D4A6-6621-8FAD-873C568B47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0A997E7-15D5-EA0D-BEF6-5259330E9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01" y="6106247"/>
            <a:ext cx="8229600" cy="249299"/>
          </a:xfrm>
        </p:spPr>
        <p:txBody>
          <a:bodyPr/>
          <a:lstStyle/>
          <a:p>
            <a: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</a:rPr>
              <a:t>Example: Biological taxonomy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A41C3-702C-88AF-ECCE-8DD0C281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35" y="2070266"/>
            <a:ext cx="8686799" cy="3947593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985DD772-A757-B3C6-2C8E-08CC0BFD66B9}"/>
              </a:ext>
            </a:extLst>
          </p:cNvPr>
          <p:cNvSpPr txBox="1">
            <a:spLocks/>
          </p:cNvSpPr>
          <p:nvPr/>
        </p:nvSpPr>
        <p:spPr bwMode="auto">
          <a:xfrm>
            <a:off x="224815" y="807153"/>
            <a:ext cx="7109905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 b="0">
                <a:solidFill>
                  <a:srgbClr val="5B6770"/>
                </a:solidFill>
                <a:latin typeface="Arial" charset="0"/>
                <a:ea typeface="Arial" charset="0"/>
                <a:cs typeface="Arial" charset="0"/>
              </a:defRPr>
            </a:lvl1pPr>
            <a:lvl2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600" kern="0">
                <a:solidFill>
                  <a:schemeClr val="tx2">
                    <a:lumMod val="60000"/>
                    <a:lumOff val="40000"/>
                  </a:schemeClr>
                </a:solidFill>
              </a:rPr>
              <a:t>Hierarchical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D6C17-AE8E-68C0-E963-FAA893A4E676}"/>
              </a:ext>
            </a:extLst>
          </p:cNvPr>
          <p:cNvSpPr txBox="1"/>
          <p:nvPr/>
        </p:nvSpPr>
        <p:spPr>
          <a:xfrm>
            <a:off x="224814" y="1305751"/>
            <a:ext cx="11471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Hierarchical clustering is an unsupervised machine learning technique that groups data points into a tree-like hierarchy of clusters, represented by a dendrogram.</a:t>
            </a:r>
          </a:p>
        </p:txBody>
      </p:sp>
    </p:spTree>
    <p:extLst>
      <p:ext uri="{BB962C8B-B14F-4D97-AF65-F5344CB8AC3E}">
        <p14:creationId xmlns:p14="http://schemas.microsoft.com/office/powerpoint/2010/main" val="3695584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6836-4498-78EB-58D9-AFAFB2F1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3E5F703-391B-EBFA-F6A2-B82C699E9E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0413B29-F491-A5D8-EBDA-F3A889A1BB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33C3367-E28F-2CED-8D8F-B49CEBDB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38" y="1140452"/>
            <a:ext cx="7109905" cy="36009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Hierarchical clustering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09B3DC-AE27-3F24-9EBB-D78F1C920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07" y="2195333"/>
            <a:ext cx="3394062" cy="246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53D7E30E-8DD8-DC89-3375-D271E1E05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37" y="2051724"/>
            <a:ext cx="3324667" cy="27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3592BFF-84CD-E03C-4E31-6BAA58830F47}"/>
              </a:ext>
            </a:extLst>
          </p:cNvPr>
          <p:cNvSpPr/>
          <p:nvPr/>
        </p:nvSpPr>
        <p:spPr bwMode="auto">
          <a:xfrm>
            <a:off x="4419642" y="3224486"/>
            <a:ext cx="779015" cy="24635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18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3DC9-1FB5-2FC9-FD48-9D35D69A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43716D1-2D7F-0104-73FD-376A0A8EA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58165CF-4F06-8672-064D-0066489727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35872-3A29-BD97-FADE-F0E8BB06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8" y="1719417"/>
            <a:ext cx="10487884" cy="2949525"/>
          </a:xfrm>
        </p:spPr>
        <p:txBody>
          <a:bodyPr/>
          <a:lstStyle/>
          <a:p>
            <a:r>
              <a:rPr lang="en-US" b="0"/>
              <a:t>Divisive (top down) clustering: Starts with all data points in one cluster, the root, then</a:t>
            </a:r>
          </a:p>
          <a:p>
            <a:pPr lvl="1"/>
            <a:r>
              <a:rPr lang="en-US" b="0"/>
              <a:t>Splits the root into a set of child clusters. Each child cluster is recursively divided further </a:t>
            </a:r>
          </a:p>
          <a:p>
            <a:pPr lvl="1"/>
            <a:r>
              <a:rPr lang="en-US" b="0"/>
              <a:t>stops when only singleton clusters of individual data points remain, i.e., each cluster with only a single point </a:t>
            </a:r>
          </a:p>
          <a:p>
            <a:pPr lvl="1"/>
            <a:endParaRPr lang="en-US"/>
          </a:p>
          <a:p>
            <a:pPr lvl="1"/>
            <a:endParaRPr lang="en-US" b="0"/>
          </a:p>
          <a:p>
            <a:r>
              <a:rPr lang="en-US" b="0"/>
              <a:t>Agglomerative (bottom up) clustering: The dendrogram is built from the bottom level by</a:t>
            </a:r>
          </a:p>
          <a:p>
            <a:pPr lvl="1"/>
            <a:r>
              <a:rPr lang="en-US" b="0"/>
              <a:t>merging the most similar (or nearest) pair of clusters </a:t>
            </a:r>
          </a:p>
          <a:p>
            <a:pPr lvl="1"/>
            <a:r>
              <a:rPr lang="en-US" b="0"/>
              <a:t>stopping when all the data points are merged into a single cluster (i.e., the root cluster). 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FE1F6-4073-E187-E47B-C496D9E7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795528"/>
            <a:ext cx="10487884" cy="674031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Types of hierarchical clustering</a:t>
            </a:r>
            <a:b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56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3650-3A4A-B12E-4654-D4FB1E66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E76D0D4-796D-F4D2-7CAD-31F2A9C13C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D49F3B0-8C1B-BD00-D27E-2F03AE9E84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B65F0B-022A-E05B-9762-7290713B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70" y="1236771"/>
            <a:ext cx="8742818" cy="3770199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b="0"/>
              <a:t>Agglomerative (bottom up) clustering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50" b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b="0"/>
              <a:t>Divisive (top down) clustering</a:t>
            </a:r>
          </a:p>
          <a:p>
            <a:pPr>
              <a:lnSpc>
                <a:spcPct val="150000"/>
              </a:lnSpc>
            </a:pPr>
            <a:endParaRPr lang="en-US" sz="1350" b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B20B45-76A2-C16A-535E-B239BAD2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56" y="852725"/>
            <a:ext cx="7109905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Hierarchical clustering</a:t>
            </a:r>
          </a:p>
        </p:txBody>
      </p:sp>
      <p:pic>
        <p:nvPicPr>
          <p:cNvPr id="4" name="Picture 2" descr="Hierarchical Divisive clustering - Geeksforgeeks">
            <a:extLst>
              <a:ext uri="{FF2B5EF4-FFF2-40B4-BE49-F238E27FC236}">
                <a16:creationId xmlns:a16="http://schemas.microsoft.com/office/drawing/2014/main" id="{657F6B6A-E54D-73AB-EAD6-411146F6F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125" y="3837512"/>
            <a:ext cx="3259382" cy="222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ierarchical Agglomerative Clustering - Geeksforgeeks">
            <a:extLst>
              <a:ext uri="{FF2B5EF4-FFF2-40B4-BE49-F238E27FC236}">
                <a16:creationId xmlns:a16="http://schemas.microsoft.com/office/drawing/2014/main" id="{3DBCA053-DC2D-F182-95E0-A68DD05A2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125" y="1157424"/>
            <a:ext cx="3100936" cy="211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30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5397-70D1-9FC9-9ED9-7DEF4AB2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B3E4C3E-34C3-EB55-6E57-61F8CD89B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BF0A835-A3BA-5287-D372-3C0BD4449C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9000B34-67A6-2723-4FE9-5A07E37F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674943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Divisive hierarchical clustering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11E40-86E2-B2D6-CF47-E6D6D572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6" y="1086804"/>
            <a:ext cx="7112569" cy="504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01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B985-ED37-ED39-F0CB-AFF557FB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35F4C06-87B6-B825-779C-C6966B525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C63DD6F-B872-8162-822E-A7C61B5EEB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A75FF54-2D70-4557-D344-4C55E215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75" y="658457"/>
            <a:ext cx="82296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Agglomerative hierarchical clustering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B0067-1CD5-3C14-265B-4F10659A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02" y="963156"/>
            <a:ext cx="7517651" cy="53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4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7EF9-9ED3-02D9-E320-838C99BE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ABCCEA0-7075-CEF7-F9DE-D224849E8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82C91CA-51EB-72BF-4AA9-FEC4BF554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3F23670-2FE3-A7C8-0E0B-FADF104694CB}"/>
              </a:ext>
            </a:extLst>
          </p:cNvPr>
          <p:cNvSpPr txBox="1">
            <a:spLocks/>
          </p:cNvSpPr>
          <p:nvPr/>
        </p:nvSpPr>
        <p:spPr>
          <a:xfrm>
            <a:off x="6878574" y="6420359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fld id="{B3F753CD-4A73-4EF5-AEFC-79F241B03FA0}" type="slidenum">
              <a:rPr lang="en-US" sz="750" smtClean="0">
                <a:solidFill>
                  <a:srgbClr val="000000"/>
                </a:solidFill>
                <a:latin typeface="Arial" pitchFamily="34" charset="0"/>
              </a:rPr>
              <a:pPr algn="r" defTabSz="685800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t>36</a:t>
            </a:fld>
            <a:endParaRPr lang="en-US" sz="75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59C6C5-DB57-4913-D4EB-C9FBB028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76" y="1000451"/>
            <a:ext cx="6858000" cy="320857"/>
          </a:xfrm>
        </p:spPr>
        <p:txBody>
          <a:bodyPr>
            <a:normAutofit/>
          </a:bodyPr>
          <a:lstStyle/>
          <a:p>
            <a:r>
              <a:rPr lang="en-US" sz="2100" b="1">
                <a:solidFill>
                  <a:schemeClr val="tx2">
                    <a:lumMod val="60000"/>
                    <a:lumOff val="40000"/>
                  </a:schemeClr>
                </a:solidFill>
              </a:rPr>
              <a:t>DBSCAN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DCD81-2FA4-1CDA-58EB-676A5D7312A5}"/>
              </a:ext>
            </a:extLst>
          </p:cNvPr>
          <p:cNvSpPr/>
          <p:nvPr/>
        </p:nvSpPr>
        <p:spPr>
          <a:xfrm>
            <a:off x="691162" y="1554015"/>
            <a:ext cx="1082113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/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DBSCAN algorithm groups together closely packed points or regions of high density and separates regions of low point density.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/>
              <a:t>The user specifies two parameters:  epsilon ϵ (eps) and the minimum number of points required to form a dense region (</a:t>
            </a:r>
            <a:r>
              <a:rPr lang="en-US" sz="1200" err="1"/>
              <a:t>minPts</a:t>
            </a:r>
            <a:r>
              <a:rPr lang="en-US" sz="1200"/>
              <a:t>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200"/>
          </a:p>
          <a:p>
            <a:r>
              <a:rPr lang="en-US" b="1"/>
              <a:t>Algorithm</a:t>
            </a:r>
          </a:p>
          <a:p>
            <a:endParaRPr lang="en-US" sz="1200"/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200"/>
              <a:t>For each point in the dataset, determine the neighboring points within epsilon ϵ distance.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200"/>
              <a:t>If a point has at least </a:t>
            </a:r>
            <a:r>
              <a:rPr lang="en-US" sz="1200" err="1"/>
              <a:t>minPts</a:t>
            </a:r>
            <a:r>
              <a:rPr lang="en-US" sz="1200"/>
              <a:t> neighboring points, create a new cluster and include all the reachable points in this cluster.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200"/>
              <a:t>Assign each point to a specific cluster or mark it as noise (a point that is not part of any cluster) based on the density.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200"/>
              <a:t>Continue the process until all the points are either assigned to a cluster or marked as noise.</a:t>
            </a:r>
          </a:p>
          <a:p>
            <a:endParaRPr lang="en-US" sz="1200"/>
          </a:p>
          <a:p>
            <a:endParaRPr lang="en-US" sz="1200"/>
          </a:p>
          <a:p>
            <a:r>
              <a:rPr lang="en-US" sz="1200"/>
              <a:t>This algorithm does not require the user to specify the number of clusters in advance, unlike K-means. It can discover clusters of arbitrary shape, and it is robust to outliers.</a:t>
            </a:r>
          </a:p>
        </p:txBody>
      </p:sp>
    </p:spTree>
    <p:extLst>
      <p:ext uri="{BB962C8B-B14F-4D97-AF65-F5344CB8AC3E}">
        <p14:creationId xmlns:p14="http://schemas.microsoft.com/office/powerpoint/2010/main" val="1684878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BE98-EF55-A0F5-DB09-5A2FC5DC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AA585E3-7DED-C897-9D64-DFBF94D55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34A27AC-0A7C-61FD-EC58-F81A28BACD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C89141-D185-7028-A512-8589F43D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35" y="1012699"/>
            <a:ext cx="6858000" cy="320857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rgbClr val="00B0F0"/>
                </a:solidFill>
              </a:rPr>
              <a:t>DBSCAN – Stopping Criteria</a:t>
            </a:r>
            <a:endParaRPr lang="en-US" sz="21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04A3AF-5E56-7E6E-7B0C-F6E0B8F6ACBE}"/>
              </a:ext>
            </a:extLst>
          </p:cNvPr>
          <p:cNvSpPr/>
          <p:nvPr/>
        </p:nvSpPr>
        <p:spPr>
          <a:xfrm>
            <a:off x="579035" y="1720849"/>
            <a:ext cx="88104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DBSCAN stops when:</a:t>
            </a:r>
          </a:p>
          <a:p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Every point in the dataset has been visited.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All points have been assigned to a cluster or marked as noise, based on the density criteria.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In DBSCAN, there is no concept of centroid or sum of squared error (SSE),  as in K-means, since it does not compute the center of clusters and it can find arbitrarily shaped clusters. </a:t>
            </a:r>
          </a:p>
          <a:p>
            <a:endParaRPr lang="en-US"/>
          </a:p>
          <a:p>
            <a:r>
              <a:rPr lang="en-US"/>
              <a:t>The clusters are formed based on the density of data points in the region, and the algorithm terminates once all the points are either assigned to a cluster or marked as noise, based on the specified ϵ\epsilonϵ and </a:t>
            </a:r>
            <a:r>
              <a:rPr lang="en-US" err="1"/>
              <a:t>minPts</a:t>
            </a:r>
            <a:r>
              <a:rPr lang="en-US"/>
              <a:t> parameters.</a:t>
            </a:r>
          </a:p>
          <a:p>
            <a:pPr marL="257175" indent="-257175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86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9BEA-3249-4E93-FA1A-D1E6EE22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1D7584C-ED43-36CC-269F-65BBC5989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26C6691-74EA-991B-7E28-22E8F6CDC5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E3AED-57C8-5C75-E3BB-27C242FD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3159"/>
            <a:ext cx="78867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DBSCAN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4AC0C-18A8-3641-C244-BA55F75B1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67732"/>
            <a:ext cx="1630783" cy="13888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6EFD1-ECAB-37F9-9AAE-D79529D5E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751" y="1867732"/>
            <a:ext cx="1613441" cy="1463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6754E-33CA-6BDE-045F-C696BA6FF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510" y="1954915"/>
            <a:ext cx="1613441" cy="143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9E1A3-821E-E6A4-5DA0-C515E804C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793" y="1900605"/>
            <a:ext cx="1779965" cy="143086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CDD83A6-0657-3B3A-BB4F-000EE235E117}"/>
              </a:ext>
            </a:extLst>
          </p:cNvPr>
          <p:cNvSpPr/>
          <p:nvPr/>
        </p:nvSpPr>
        <p:spPr bwMode="auto">
          <a:xfrm>
            <a:off x="2309837" y="2479834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AF9DD8E-F300-8777-F1A7-D012E680C72F}"/>
              </a:ext>
            </a:extLst>
          </p:cNvPr>
          <p:cNvSpPr/>
          <p:nvPr/>
        </p:nvSpPr>
        <p:spPr bwMode="auto">
          <a:xfrm>
            <a:off x="4466202" y="2509394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EB58E8D-ABAD-23E7-5369-9AB026F8F5AA}"/>
              </a:ext>
            </a:extLst>
          </p:cNvPr>
          <p:cNvSpPr/>
          <p:nvPr/>
        </p:nvSpPr>
        <p:spPr bwMode="auto">
          <a:xfrm>
            <a:off x="6603391" y="2492190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40E22F-F0F6-67CD-841F-562F82813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64" y="4283560"/>
            <a:ext cx="1670168" cy="1388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33DF45-3085-EF12-2D65-E441284FAB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8608" y="4215667"/>
            <a:ext cx="1610583" cy="1502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098A86-A4A3-63C7-EA03-DA56EE7386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191" y="4297879"/>
            <a:ext cx="1671761" cy="14323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5C3224-3313-4E70-CB8E-DB7DA4A2C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5895" y="4215666"/>
            <a:ext cx="1671761" cy="13819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C3C204B-D666-6517-7505-A6AAC6B992CA}"/>
              </a:ext>
            </a:extLst>
          </p:cNvPr>
          <p:cNvSpPr/>
          <p:nvPr/>
        </p:nvSpPr>
        <p:spPr bwMode="auto">
          <a:xfrm>
            <a:off x="2424918" y="4861727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9A7F4B1-C092-26F6-C059-3009E751CE2A}"/>
              </a:ext>
            </a:extLst>
          </p:cNvPr>
          <p:cNvSpPr/>
          <p:nvPr/>
        </p:nvSpPr>
        <p:spPr bwMode="auto">
          <a:xfrm>
            <a:off x="4477711" y="4897015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2884B00-8E4B-3101-ED27-A17FDBF9DEDC}"/>
              </a:ext>
            </a:extLst>
          </p:cNvPr>
          <p:cNvSpPr/>
          <p:nvPr/>
        </p:nvSpPr>
        <p:spPr bwMode="auto">
          <a:xfrm>
            <a:off x="6718471" y="4874084"/>
            <a:ext cx="328904" cy="1399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350">
              <a:latin typeface="Arial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E861E9-726B-61E6-7623-8377210F8E66}"/>
              </a:ext>
            </a:extLst>
          </p:cNvPr>
          <p:cNvCxnSpPr/>
          <p:nvPr/>
        </p:nvCxnSpPr>
        <p:spPr bwMode="auto">
          <a:xfrm flipH="1">
            <a:off x="1818963" y="3385781"/>
            <a:ext cx="5854340" cy="8193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</p:cxnSp>
    </p:spTree>
    <p:extLst>
      <p:ext uri="{BB962C8B-B14F-4D97-AF65-F5344CB8AC3E}">
        <p14:creationId xmlns:p14="http://schemas.microsoft.com/office/powerpoint/2010/main" val="2725447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E52D-82BD-61EE-FDF2-EEF57CD4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54FF155-0541-BAB7-059B-CDC6C32848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0B40BF4-1927-2AF3-453B-540335357C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D8F5B-19A1-C715-1968-DFFDF4FC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3159"/>
            <a:ext cx="7886700" cy="304699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APPENDIX </a:t>
            </a:r>
          </a:p>
        </p:txBody>
      </p:sp>
    </p:spTree>
    <p:extLst>
      <p:ext uri="{BB962C8B-B14F-4D97-AF65-F5344CB8AC3E}">
        <p14:creationId xmlns:p14="http://schemas.microsoft.com/office/powerpoint/2010/main" val="3741313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F168-03E6-8F15-27D3-4BD2A770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192FC7A-8BE2-38D9-0985-782CCFB64F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D6DEBB-9960-D6F0-7419-E2FEC8C563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144D7-88DF-7AB7-4C72-313114A29B9F}"/>
              </a:ext>
            </a:extLst>
          </p:cNvPr>
          <p:cNvSpPr txBox="1">
            <a:spLocks/>
          </p:cNvSpPr>
          <p:nvPr/>
        </p:nvSpPr>
        <p:spPr bwMode="auto">
          <a:xfrm>
            <a:off x="127256" y="857250"/>
            <a:ext cx="83454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" tIns="6858" rIns="6858" bIns="6858" numCol="1" anchor="ctr" anchorCtr="0" compatLnSpc="1">
            <a:prstTxWarp prst="textNoShape">
              <a:avLst/>
            </a:prstTxWarp>
          </a:bodyPr>
          <a:lstStyle>
            <a:lvl1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2pPr>
            <a:lvl3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3pPr>
            <a:lvl4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4pPr>
            <a:lvl5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1"/>
            <a: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</a:rPr>
              <a:t>Association rule Mining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258A7-D276-21F7-4C28-9955B34A56E6}"/>
              </a:ext>
            </a:extLst>
          </p:cNvPr>
          <p:cNvSpPr/>
          <p:nvPr/>
        </p:nvSpPr>
        <p:spPr>
          <a:xfrm>
            <a:off x="614842" y="2140282"/>
            <a:ext cx="56670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11111"/>
                </a:solidFill>
                <a:latin typeface="open sans"/>
              </a:rPr>
              <a:t>U</a:t>
            </a:r>
            <a:r>
              <a:rPr lang="en-US" b="0" i="0">
                <a:solidFill>
                  <a:srgbClr val="111111"/>
                </a:solidFill>
                <a:effectLst/>
                <a:latin typeface="open sans"/>
              </a:rPr>
              <a:t>ncover how items are associated to each other</a:t>
            </a:r>
            <a:r>
              <a:rPr lang="en-US"/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/>
              <a:t>Predicts occurrence of an item based on occurrences of other item in the transaction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9E4A287-F9AE-6BD1-4521-31441C5D1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044" y="2131724"/>
            <a:ext cx="4404722" cy="270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97B8E-C3CA-CA58-120D-2AD65889B645}"/>
              </a:ext>
            </a:extLst>
          </p:cNvPr>
          <p:cNvSpPr txBox="1"/>
          <p:nvPr/>
        </p:nvSpPr>
        <p:spPr>
          <a:xfrm>
            <a:off x="6885432" y="4912029"/>
            <a:ext cx="440472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/>
              <a:t>Fig. adapted from </a:t>
            </a:r>
            <a:r>
              <a:rPr lang="en-US" sz="600" err="1"/>
              <a:t>rsquaredacademy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404412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6A86D-43F8-3BA5-8E77-6D50708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0AF38D1-CA5D-572B-6683-428B33E6C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20EC403-34F8-AE16-F514-A26605C8B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355C7-1768-CA3D-03AB-27C993A59349}"/>
              </a:ext>
            </a:extLst>
          </p:cNvPr>
          <p:cNvSpPr txBox="1">
            <a:spLocks/>
          </p:cNvSpPr>
          <p:nvPr/>
        </p:nvSpPr>
        <p:spPr bwMode="auto">
          <a:xfrm>
            <a:off x="127256" y="857250"/>
            <a:ext cx="83454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" tIns="6858" rIns="6858" bIns="6858" numCol="1" anchor="ctr" anchorCtr="0" compatLnSpc="1">
            <a:prstTxWarp prst="textNoShape">
              <a:avLst/>
            </a:prstTxWarp>
          </a:bodyPr>
          <a:lstStyle>
            <a:lvl1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2pPr>
            <a:lvl3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3pPr>
            <a:lvl4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4pPr>
            <a:lvl5pPr algn="l" defTabSz="1020763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l" defTabSz="10207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lvl="1"/>
            <a:r>
              <a:rPr lang="en-US" sz="1800">
                <a:solidFill>
                  <a:schemeClr val="tx2">
                    <a:lumMod val="60000"/>
                    <a:lumOff val="40000"/>
                  </a:schemeClr>
                </a:solidFill>
              </a:rPr>
              <a:t>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11D905-43CF-C140-359C-F9C3E5C1CEF3}"/>
              </a:ext>
            </a:extLst>
          </p:cNvPr>
          <p:cNvSpPr/>
          <p:nvPr/>
        </p:nvSpPr>
        <p:spPr>
          <a:xfrm>
            <a:off x="519408" y="1538006"/>
            <a:ext cx="5844816" cy="3670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11111"/>
                </a:solidFill>
                <a:latin typeface="open sans"/>
              </a:rPr>
              <a:t>Reducing the number of features in a dataset while retaining most of the information.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Common Algorithms</a:t>
            </a:r>
          </a:p>
          <a:p>
            <a:endParaRPr lang="en-US"/>
          </a:p>
          <a:p>
            <a:pPr marL="600075" lvl="1" indent="-257175">
              <a:buFont typeface="+mj-lt"/>
              <a:buAutoNum type="arabicPeriod"/>
            </a:pPr>
            <a:r>
              <a:rPr lang="en-US" sz="1050"/>
              <a:t>Principal Component Analysis ( PCA ) </a:t>
            </a:r>
          </a:p>
          <a:p>
            <a:pPr marL="600075" lvl="1" indent="-257175">
              <a:buFont typeface="+mj-lt"/>
              <a:buAutoNum type="arabicPeriod"/>
            </a:pPr>
            <a:endParaRPr lang="en-US" sz="1050"/>
          </a:p>
          <a:p>
            <a:pPr marL="600075" lvl="1" indent="-257175">
              <a:buFont typeface="+mj-lt"/>
              <a:buAutoNum type="arabicPeriod"/>
            </a:pPr>
            <a:r>
              <a:rPr lang="en-US" sz="1050"/>
              <a:t>Linear Discriminant Analysis (LDA) </a:t>
            </a:r>
          </a:p>
          <a:p>
            <a:pPr marL="600075" lvl="1" indent="-257175">
              <a:buFont typeface="+mj-lt"/>
              <a:buAutoNum type="arabicPeriod"/>
            </a:pPr>
            <a:endParaRPr lang="en-US" sz="1050"/>
          </a:p>
          <a:p>
            <a:pPr marL="600075" lvl="1" indent="-257175">
              <a:buFont typeface="+mj-lt"/>
              <a:buAutoNum type="arabicPeriod"/>
            </a:pPr>
            <a:r>
              <a:rPr lang="en-US" sz="1050"/>
              <a:t>t-distributed Stochastic Neighbor Embedding (t-SNE)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5" name="Picture 2" descr="Straightforward Guide to Dimensionality Reduction | Pinecone">
            <a:extLst>
              <a:ext uri="{FF2B5EF4-FFF2-40B4-BE49-F238E27FC236}">
                <a16:creationId xmlns:a16="http://schemas.microsoft.com/office/drawing/2014/main" id="{40D03FC2-FC5E-8728-D476-441D8252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53" y="1436720"/>
            <a:ext cx="4467086" cy="332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53F24-2577-FDD4-D0BA-7A487FA430F0}"/>
              </a:ext>
            </a:extLst>
          </p:cNvPr>
          <p:cNvSpPr txBox="1"/>
          <p:nvPr/>
        </p:nvSpPr>
        <p:spPr>
          <a:xfrm>
            <a:off x="7501942" y="4839959"/>
            <a:ext cx="440472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/>
              <a:t>Fig. adapted from </a:t>
            </a:r>
            <a:r>
              <a:rPr lang="en-US" sz="600"/>
              <a:t>pinecone</a:t>
            </a:r>
          </a:p>
        </p:txBody>
      </p:sp>
    </p:spTree>
    <p:extLst>
      <p:ext uri="{BB962C8B-B14F-4D97-AF65-F5344CB8AC3E}">
        <p14:creationId xmlns:p14="http://schemas.microsoft.com/office/powerpoint/2010/main" val="2548155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2558D1-976C-2F95-5595-D2C01FCC9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BB76-5D70-346B-040F-13D5B225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03958"/>
            <a:ext cx="10980835" cy="276999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https://www.naftaliharris.com/blog/visualizing-k-means-clustering/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14E5DC-070E-0CB7-02A3-D09E0135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Visualization 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3225C-59A8-13B7-7CF8-BBE07ECB7909}"/>
              </a:ext>
            </a:extLst>
          </p:cNvPr>
          <p:cNvSpPr txBox="1"/>
          <p:nvPr/>
        </p:nvSpPr>
        <p:spPr>
          <a:xfrm>
            <a:off x="466344" y="182771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https://clustering-visualizer.web.app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6B0E346-5FFC-39AC-B6BB-833BC3E45D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77311"/>
            <a:ext cx="7772400" cy="215444"/>
          </a:xfrm>
        </p:spPr>
        <p:txBody>
          <a:bodyPr/>
          <a:lstStyle/>
          <a:p>
            <a:r>
              <a:rPr lang="en-US"/>
              <a:t>Engineering, Test &amp; Technology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460924-4BF6-EF3E-3695-16CAB7CACA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2137" y="188083"/>
            <a:ext cx="6024563" cy="215444"/>
          </a:xfrm>
        </p:spPr>
        <p:txBody>
          <a:bodyPr/>
          <a:lstStyle/>
          <a:p>
            <a:r>
              <a:rPr lang="en-US"/>
              <a:t>Boeing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056523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280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Living Blue Option">
  <a:themeElements>
    <a:clrScheme name="Custom 5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69C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3A1"/>
        </a:dk2>
        <a:lt2>
          <a:srgbClr val="A5ACB0"/>
        </a:lt2>
        <a:accent1>
          <a:srgbClr val="0033A1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253746"/>
    </a:custClr>
    <a:custClr name="PANTONE 431">
      <a:srgbClr val="5B6770"/>
    </a:custClr>
    <a:custClr name="PANTONE 429">
      <a:srgbClr val="A3AAAE"/>
    </a:custClr>
    <a:custClr name="PANTONE CG1">
      <a:srgbClr val="DAD9D7"/>
    </a:custClr>
    <a:custClr name="Process Magenta">
      <a:srgbClr val="E5007E"/>
    </a:custClr>
    <a:custClr name="PANTONE 4975">
      <a:srgbClr val="402020"/>
    </a:custClr>
    <a:custClr name="PANTONE 201">
      <a:srgbClr val="A32136"/>
    </a:custClr>
    <a:custClr name="PANTONE 185">
      <a:srgbClr val="EA002A"/>
    </a:custClr>
    <a:custClr name="PANTONE 1665">
      <a:srgbClr val="E14504"/>
    </a:custClr>
    <a:custClr name="PANTONE 137">
      <a:srgbClr val="FFA400"/>
    </a:custClr>
    <a:custClr name="PANTONE 108">
      <a:srgbClr val="FFDB00"/>
    </a:custClr>
    <a:custClr name="PANTONE 1215">
      <a:srgbClr val="FDD773"/>
    </a:custClr>
    <a:custClr name="PANTONE 7499">
      <a:srgbClr val="F2E5B3"/>
    </a:custClr>
    <a:custClr name="PANTONE 553">
      <a:srgbClr val="294635"/>
    </a:custClr>
    <a:custClr name="PANTONE 376">
      <a:srgbClr val="81BC00"/>
    </a:custClr>
    <a:custClr name="PANTONE 373">
      <a:srgbClr val="CCE981"/>
    </a:custClr>
    <a:custClr name="PANTONE 328">
      <a:srgbClr val="007167"/>
    </a:custClr>
    <a:custClr name="PANTONE 309">
      <a:srgbClr val="003B4A"/>
    </a:custClr>
    <a:custClr name="PANTONE 3135">
      <a:srgbClr val="008BAC"/>
    </a:custClr>
    <a:custClr name="PANTONE 7457">
      <a:srgbClr val="BADCE6"/>
    </a:custClr>
    <a:custClr name="PANTONE 289">
      <a:srgbClr val="0A2240"/>
    </a:custClr>
    <a:custClr name="PANTONE 2925">
      <a:srgbClr val="009BDF"/>
    </a:custClr>
    <a:custClr name="PANTONE 283">
      <a:srgbClr val="92C0EA"/>
    </a:custClr>
    <a:custClr name="PANTONE 2597">
      <a:srgbClr val="5C0F8C"/>
    </a:custClr>
  </a:custClrLst>
  <a:extLst>
    <a:ext uri="{05A4C25C-085E-4340-85A3-A5531E510DB2}">
      <thm15:themeFamily xmlns:thm15="http://schemas.microsoft.com/office/thememl/2012/main" name="2024ETTtemplate.pptx" id="{349AFE1D-4FEB-491F-8D8D-B9724EAB2F8B}" vid="{94142E90-8EBB-4F0B-8330-9DEA7E143F25}"/>
    </a:ext>
  </a:extLst>
</a:theme>
</file>

<file path=ppt/theme/theme2.xml><?xml version="1.0" encoding="utf-8"?>
<a:theme xmlns:a="http://schemas.openxmlformats.org/drawingml/2006/main" name="1_Living Blue Option">
  <a:themeElements>
    <a:clrScheme name="Custom 5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69C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3A1"/>
        </a:dk2>
        <a:lt2>
          <a:srgbClr val="A5ACB0"/>
        </a:lt2>
        <a:accent1>
          <a:srgbClr val="0033A1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253746"/>
    </a:custClr>
    <a:custClr name="PANTONE 431">
      <a:srgbClr val="5B6770"/>
    </a:custClr>
    <a:custClr name="PANTONE 429">
      <a:srgbClr val="A3AAAE"/>
    </a:custClr>
    <a:custClr name="PANTONE CG1">
      <a:srgbClr val="DAD9D7"/>
    </a:custClr>
    <a:custClr name="Process Magenta">
      <a:srgbClr val="E5007E"/>
    </a:custClr>
    <a:custClr name="PANTONE 4975">
      <a:srgbClr val="402020"/>
    </a:custClr>
    <a:custClr name="PANTONE 201">
      <a:srgbClr val="A32136"/>
    </a:custClr>
    <a:custClr name="PANTONE 185">
      <a:srgbClr val="EA002A"/>
    </a:custClr>
    <a:custClr name="PANTONE 1665">
      <a:srgbClr val="E14504"/>
    </a:custClr>
    <a:custClr name="PANTONE 137">
      <a:srgbClr val="FFA400"/>
    </a:custClr>
    <a:custClr name="PANTONE 108">
      <a:srgbClr val="FFDB00"/>
    </a:custClr>
    <a:custClr name="PANTONE 1215">
      <a:srgbClr val="FDD773"/>
    </a:custClr>
    <a:custClr name="PANTONE 7499">
      <a:srgbClr val="F2E5B3"/>
    </a:custClr>
    <a:custClr name="PANTONE 553">
      <a:srgbClr val="294635"/>
    </a:custClr>
    <a:custClr name="PANTONE 376">
      <a:srgbClr val="81BC00"/>
    </a:custClr>
    <a:custClr name="PANTONE 373">
      <a:srgbClr val="CCE981"/>
    </a:custClr>
    <a:custClr name="PANTONE 328">
      <a:srgbClr val="007167"/>
    </a:custClr>
    <a:custClr name="PANTONE 309">
      <a:srgbClr val="003B4A"/>
    </a:custClr>
    <a:custClr name="PANTONE 3135">
      <a:srgbClr val="008BAC"/>
    </a:custClr>
    <a:custClr name="PANTONE 7457">
      <a:srgbClr val="BADCE6"/>
    </a:custClr>
    <a:custClr name="PANTONE 289">
      <a:srgbClr val="0A2240"/>
    </a:custClr>
    <a:custClr name="PANTONE 2925">
      <a:srgbClr val="009BDF"/>
    </a:custClr>
    <a:custClr name="PANTONE 283">
      <a:srgbClr val="92C0EA"/>
    </a:custClr>
    <a:custClr name="PANTONE 2597">
      <a:srgbClr val="5C0F8C"/>
    </a:custClr>
  </a:custClrLst>
  <a:extLst>
    <a:ext uri="{05A4C25C-085E-4340-85A3-A5531E510DB2}">
      <thm15:themeFamily xmlns:thm15="http://schemas.microsoft.com/office/thememl/2012/main" name="2024ETTtemplate.pptx" id="{349AFE1D-4FEB-491F-8D8D-B9724EAB2F8B}" vid="{33D349A1-9378-45EE-B3AD-0C80307AF161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ANTONE 7421">
      <a:srgbClr val="61162D"/>
    </a:custClr>
    <a:custClr name="PANTONE 221">
      <a:srgbClr val="96004B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9041">
      <a:srgbClr val="E2EBE4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39868D-6329-4CDE-A406-97544F74D117}">
  <ds:schemaRefs>
    <ds:schemaRef ds:uri="8c12c600-281c-447d-b46e-b9bb40c18af1"/>
    <ds:schemaRef ds:uri="aeedbc09-5934-4ae8-94fa-6aed887e04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F98695-55E3-4DD6-9329-99DDB26C1DD9}">
  <ds:schemaRefs>
    <ds:schemaRef ds:uri="fe15599f-644d-4048-90f0-ecdf2cf8f2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E06DDF0-0AA8-40D3-A77D-BF87FD8012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2024ETTtemplate</Template>
  <Application>Microsoft Office PowerPoint</Application>
  <PresentationFormat>Widescreen</PresentationFormat>
  <Slides>43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Living Blue Option</vt:lpstr>
      <vt:lpstr>1_Living Blue Option</vt:lpstr>
      <vt:lpstr>Unsupervised Learning:  Clustering</vt:lpstr>
      <vt:lpstr>PowerPoint Presentation</vt:lpstr>
      <vt:lpstr>What is clustering? </vt:lpstr>
      <vt:lpstr>What is the “natural grouping”?</vt:lpstr>
      <vt:lpstr>What is the “natural grouping”?</vt:lpstr>
      <vt:lpstr>Clustering problem in general</vt:lpstr>
      <vt:lpstr>PowerPoint Presentation</vt:lpstr>
      <vt:lpstr>What do we need for clustering?</vt:lpstr>
      <vt:lpstr>Distance (dissimilarity) measures</vt:lpstr>
      <vt:lpstr>Cluster evaluation (a hard problem) </vt:lpstr>
      <vt:lpstr>How many clusters?</vt:lpstr>
      <vt:lpstr>PowerPoint Presentation</vt:lpstr>
      <vt:lpstr>K-Means clustering</vt:lpstr>
      <vt:lpstr>K-means algorithm</vt:lpstr>
      <vt:lpstr>K-means convergence (stopping) criterion </vt:lpstr>
      <vt:lpstr>K-means clustering example: step 1</vt:lpstr>
      <vt:lpstr>K-means clustering example –step 2</vt:lpstr>
      <vt:lpstr>K-means clustering example</vt:lpstr>
      <vt:lpstr>K-means clustering example</vt:lpstr>
      <vt:lpstr>K-means clustering example</vt:lpstr>
      <vt:lpstr>Why use K-means? </vt:lpstr>
      <vt:lpstr>Weaknesses of K-means </vt:lpstr>
      <vt:lpstr>Outliers</vt:lpstr>
      <vt:lpstr>Dealing with outliers </vt:lpstr>
      <vt:lpstr>Sensitivity to initial seeds</vt:lpstr>
      <vt:lpstr>Special data structures </vt:lpstr>
      <vt:lpstr>Optimizing the Number of Clusters in K-means </vt:lpstr>
      <vt:lpstr>Optimizing the Number of Clusters in K-means </vt:lpstr>
      <vt:lpstr>PowerPoint Presentation</vt:lpstr>
      <vt:lpstr>Example: Biological taxonomy</vt:lpstr>
      <vt:lpstr>Hierarchical clustering</vt:lpstr>
      <vt:lpstr>Types of hierarchical clustering </vt:lpstr>
      <vt:lpstr>Hierarchical clustering</vt:lpstr>
      <vt:lpstr>Divisive hierarchical clustering</vt:lpstr>
      <vt:lpstr>Agglomerative hierarchical clustering</vt:lpstr>
      <vt:lpstr>DBSCAN Algorithm</vt:lpstr>
      <vt:lpstr>DBSCAN – Stopping Criteria</vt:lpstr>
      <vt:lpstr>DBSCAN </vt:lpstr>
      <vt:lpstr>APPENDIX </vt:lpstr>
      <vt:lpstr>PowerPoint Presentation</vt:lpstr>
      <vt:lpstr>PowerPoint Presentation</vt:lpstr>
      <vt:lpstr>Visualization Tools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McDannald</dc:creator>
  <cp:revision>1</cp:revision>
  <dcterms:created xsi:type="dcterms:W3CDTF">2024-01-18T14:56:42Z</dcterms:created>
  <dcterms:modified xsi:type="dcterms:W3CDTF">2025-11-19T10:10:41Z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  <property fmtid="{D5CDD505-2E9C-101B-9397-08002B2CF9AE}" pid="3" name="Order">
    <vt:r8>5800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