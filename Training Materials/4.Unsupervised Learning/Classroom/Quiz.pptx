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74" r:id="rId4"/>
    <p:sldId id="257" r:id="rId5"/>
    <p:sldId id="273" r:id="rId6"/>
    <p:sldId id="258" r:id="rId7"/>
    <p:sldId id="259" r:id="rId8"/>
    <p:sldId id="260" r:id="rId9"/>
    <p:sldId id="261" r:id="rId10"/>
    <p:sldId id="275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B393-2B30-2D89-62F7-2B32F7313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05BC8-02E8-9DA0-7540-423120146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7B333-A2D8-DF81-5A3F-12A24639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29AD9-9300-B8C7-70C2-8882536E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3F717-63BD-2A38-8A59-34970008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5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EE11-7A74-52CA-915E-66212DFE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8BA4-4A9D-ED97-ED73-E7275DCB2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D48E6-1953-4D5C-265C-0A38C43B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89E65-CF7A-4755-1D65-80F1EF88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2C97-7D18-6AD5-85C7-5645D46D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9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B695-BA68-B0AC-80AD-85888C5B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0C44F-B5E5-63E0-DB75-202E66A0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9FC6C-3F75-42B3-1B23-4A062406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DDCAA-650D-2081-EFB4-DEB17644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C87A0-5B9C-516D-27C2-81598D92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2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690E-5802-E67B-B031-1D11003B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510E-D839-FD34-C44E-373C04A01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2DD93-76F6-46BF-FC44-7BBFC6471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83617-91CA-08DA-C48A-20980EE3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5AFA8-1244-45E8-409F-514AED76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B8CC-AD61-EFA2-F500-8FA6B6EF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2C0D-ACEC-E577-F002-0E502B6F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0D703-C3F7-691C-B668-DE0C2217D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6F5C9-3EFB-1DF2-4320-414DFC97D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480EF-9F46-5BAF-DE21-AAC0AB23C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510DB-E946-E653-6A76-6D240DBE3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55C85-8CFE-9C0A-0D75-2303D467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0BB549-3EB2-CAA7-0AF2-D4EA34E8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8221A-C58E-5CA0-0561-9C6D41C4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7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9579-6599-940E-506E-7D907888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F7A66F-82E0-D23A-5FF7-EAFC3050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161E7-B919-593F-2F74-84544DBD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7898C-85E0-5373-5181-A357FF94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8CB83-B706-F4B0-5A1F-533D28AF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E166-D2F8-04C9-F966-B61DCF43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77993-E17A-6234-0863-7AC458A3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5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846F-9B69-45CD-724E-DEC8DBDC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BA5E-E32E-0748-9BCE-6AA037E6C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A66EC-906B-BD84-6DB2-FE9D83F9D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2F76A-BBD2-F275-C360-7314D0B7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D250-5C8F-4D91-2539-4A102664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5FC5C-2E06-A22B-07A8-F21C2E34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8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4838-9F04-478C-E6AA-AA388CECA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06358-3D91-E9D7-5081-01A0E461A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F63F4-2915-C610-17D3-7B769B403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F5F44-9B29-1B57-43E8-239833A1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8F80B-5255-E559-0EED-7CCA40A8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F0D96-6163-E435-CB51-C4F55289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2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5053-5D0D-9313-9094-127D379A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659B4-0F0D-A0A7-15C0-774759C19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4EC9C-09C0-F157-B213-B1A885C05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A417-E420-6BCE-068E-4EDF44D95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08B7-5FEE-61AA-B9EF-D84A33D4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6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E48AF-4B56-C23A-9880-475437050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78FFA-6B1C-8D6D-675B-D8F6F1C63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7E243-3EC5-BB36-BE3E-70860DAB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146A-4588-4086-8D25-572D3F81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77DE1-DB6A-87EF-9CF1-9968447D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7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A991E-15D8-55ED-EF1F-331632E1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A7C0A-8BE7-B39F-400A-FDF503EE4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341A8-E38F-906B-40A1-BC12E9BC3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6CFFA-1F11-4F17-85A5-08C677318D4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65933-6E82-E81F-6D88-5070F8072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49DCC-F200-E79A-3ED4-DC5419BA8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8894F-D575-4392-BF39-2E255CDDB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943A8-668A-3567-227F-FB68EF2893C9}"/>
              </a:ext>
            </a:extLst>
          </p:cNvPr>
          <p:cNvSpPr txBox="1"/>
          <p:nvPr/>
        </p:nvSpPr>
        <p:spPr>
          <a:xfrm>
            <a:off x="6364609" y="202721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QUIZ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8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-Clustering</a:t>
            </a:r>
            <a:endParaRPr lang="en-US" sz="88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7A107699-EDC6-A442-A3EF-861C5FEC9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838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79F65-D3BA-3D4F-A09C-C036131BED38}"/>
              </a:ext>
            </a:extLst>
          </p:cNvPr>
          <p:cNvSpPr txBox="1"/>
          <p:nvPr/>
        </p:nvSpPr>
        <p:spPr>
          <a:xfrm>
            <a:off x="648929" y="845574"/>
            <a:ext cx="531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1. Explain the steps involved in K- Means clustering?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D2C5B-FE22-5383-0B48-F8ACBD1201C1}"/>
              </a:ext>
            </a:extLst>
          </p:cNvPr>
          <p:cNvSpPr txBox="1"/>
          <p:nvPr/>
        </p:nvSpPr>
        <p:spPr>
          <a:xfrm>
            <a:off x="727587" y="2012674"/>
            <a:ext cx="96552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Answer:</a:t>
            </a:r>
          </a:p>
          <a:p>
            <a:endParaRPr lang="en-US"/>
          </a:p>
          <a:p>
            <a:r>
              <a:rPr lang="en-US" b="0"/>
              <a:t>Given </a:t>
            </a:r>
            <a:r>
              <a:rPr lang="en-US" b="0" i="1"/>
              <a:t>k</a:t>
            </a:r>
            <a:r>
              <a:rPr lang="en-US" b="0"/>
              <a:t>, the </a:t>
            </a:r>
            <a:r>
              <a:rPr lang="en-US" b="0" i="1"/>
              <a:t>k-means </a:t>
            </a:r>
            <a:r>
              <a:rPr lang="en-US" b="0"/>
              <a:t>algorithm works as follows:</a:t>
            </a:r>
          </a:p>
          <a:p>
            <a:pPr marL="0" indent="0">
              <a:buNone/>
            </a:pPr>
            <a:r>
              <a:rPr lang="en-US" b="0"/>
              <a:t>1. Choose </a:t>
            </a:r>
            <a:r>
              <a:rPr lang="en-US" b="0" i="1"/>
              <a:t>k</a:t>
            </a:r>
            <a:r>
              <a:rPr lang="en-US" b="0"/>
              <a:t>(random) data points (seeds) to be the initial centroids, cluster centers</a:t>
            </a:r>
          </a:p>
          <a:p>
            <a:pPr marL="0" indent="0">
              <a:buNone/>
            </a:pPr>
            <a:r>
              <a:rPr lang="en-US" b="0"/>
              <a:t>2. Assign each data point to the closest centroid</a:t>
            </a:r>
          </a:p>
          <a:p>
            <a:pPr marL="0" indent="0">
              <a:buNone/>
            </a:pPr>
            <a:r>
              <a:rPr lang="en-US" b="0"/>
              <a:t>3. Re-compute the centroids using the current cluster memberships</a:t>
            </a:r>
          </a:p>
          <a:p>
            <a:pPr marL="0" indent="0">
              <a:buNone/>
            </a:pPr>
            <a:r>
              <a:rPr lang="en-US" b="0"/>
              <a:t>4. If a convergence criterion is not met, repeat steps 2 and 3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4081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2F1EA-999D-696B-55AE-20FBC8A1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138339-B40D-E8E0-17DF-BE65F15F3A98}"/>
              </a:ext>
            </a:extLst>
          </p:cNvPr>
          <p:cNvSpPr txBox="1"/>
          <p:nvPr/>
        </p:nvSpPr>
        <p:spPr>
          <a:xfrm>
            <a:off x="648929" y="845574"/>
            <a:ext cx="5940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What is the convergence criteria in  K- Means clustering?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005F9-5645-DAAA-36BA-C6139EA00ED2}"/>
              </a:ext>
            </a:extLst>
          </p:cNvPr>
          <p:cNvSpPr txBox="1"/>
          <p:nvPr/>
        </p:nvSpPr>
        <p:spPr>
          <a:xfrm>
            <a:off x="727587" y="2012674"/>
            <a:ext cx="96552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no (or minimum) re-assignments of data points to different clusters, </a:t>
            </a:r>
            <a:r>
              <a:rPr lang="en-US" b="0" i="1" dirty="0"/>
              <a:t>or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no (or minimum) change of centroids,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minimum decrease in the </a:t>
            </a:r>
            <a:r>
              <a:rPr lang="en-US" dirty="0"/>
              <a:t>sum of squared error</a:t>
            </a:r>
            <a:r>
              <a:rPr lang="en-US" b="0" dirty="0"/>
              <a:t>(SSE),</a:t>
            </a:r>
          </a:p>
        </p:txBody>
      </p:sp>
    </p:spTree>
    <p:extLst>
      <p:ext uri="{BB962C8B-B14F-4D97-AF65-F5344CB8AC3E}">
        <p14:creationId xmlns:p14="http://schemas.microsoft.com/office/powerpoint/2010/main" val="384812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21EC-7120-F99C-4837-F8D32906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DA9EC-7406-3F4E-791E-74B4970FA4D5}"/>
              </a:ext>
            </a:extLst>
          </p:cNvPr>
          <p:cNvSpPr txBox="1"/>
          <p:nvPr/>
        </p:nvSpPr>
        <p:spPr>
          <a:xfrm>
            <a:off x="688258" y="766915"/>
            <a:ext cx="7901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What is the alternative for K-means clustering if categorical Data is present?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D1709-1AC3-C2C5-2594-53BBDFDC9666}"/>
              </a:ext>
            </a:extLst>
          </p:cNvPr>
          <p:cNvSpPr txBox="1"/>
          <p:nvPr/>
        </p:nvSpPr>
        <p:spPr>
          <a:xfrm>
            <a:off x="511277" y="1524000"/>
            <a:ext cx="2908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K-Mode Clustering</a:t>
            </a:r>
          </a:p>
        </p:txBody>
      </p:sp>
    </p:spTree>
    <p:extLst>
      <p:ext uri="{BB962C8B-B14F-4D97-AF65-F5344CB8AC3E}">
        <p14:creationId xmlns:p14="http://schemas.microsoft.com/office/powerpoint/2010/main" val="400339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49FF0A-753D-810A-7BB5-E39E7CEDACDF}"/>
              </a:ext>
            </a:extLst>
          </p:cNvPr>
          <p:cNvSpPr txBox="1"/>
          <p:nvPr/>
        </p:nvSpPr>
        <p:spPr>
          <a:xfrm>
            <a:off x="658762" y="1499422"/>
            <a:ext cx="862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What is the alternative for K-means clustering when K  initialization is not random?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6D05E-1E3F-D88F-71B4-3321B1D2B964}"/>
              </a:ext>
            </a:extLst>
          </p:cNvPr>
          <p:cNvSpPr txBox="1"/>
          <p:nvPr/>
        </p:nvSpPr>
        <p:spPr>
          <a:xfrm>
            <a:off x="481781" y="2256507"/>
            <a:ext cx="207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K-Mean++</a:t>
            </a:r>
          </a:p>
        </p:txBody>
      </p:sp>
    </p:spTree>
    <p:extLst>
      <p:ext uri="{BB962C8B-B14F-4D97-AF65-F5344CB8AC3E}">
        <p14:creationId xmlns:p14="http://schemas.microsoft.com/office/powerpoint/2010/main" val="197896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B25C-87BE-7292-A787-DC6D5671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6D5BF7-276A-B3C9-7C87-1B5D3D2B2C65}"/>
              </a:ext>
            </a:extLst>
          </p:cNvPr>
          <p:cNvSpPr txBox="1"/>
          <p:nvPr/>
        </p:nvSpPr>
        <p:spPr>
          <a:xfrm>
            <a:off x="1120877" y="984525"/>
            <a:ext cx="8200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Give two practical strategies to choose the number of clusters K for K‑means.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0BF65-6173-C215-8D8F-6966607644B0}"/>
              </a:ext>
            </a:extLst>
          </p:cNvPr>
          <p:cNvSpPr txBox="1"/>
          <p:nvPr/>
        </p:nvSpPr>
        <p:spPr>
          <a:xfrm>
            <a:off x="1356852" y="22627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</a:t>
            </a:r>
          </a:p>
          <a:p>
            <a:r>
              <a:rPr lang="en-US" dirty="0"/>
              <a:t>elbow method (plot WCSS vs K) </a:t>
            </a:r>
          </a:p>
          <a:p>
            <a:r>
              <a:rPr lang="en-US" dirty="0"/>
              <a:t>silhouette score (choose K with high average silhouette)</a:t>
            </a:r>
          </a:p>
        </p:txBody>
      </p:sp>
    </p:spTree>
    <p:extLst>
      <p:ext uri="{BB962C8B-B14F-4D97-AF65-F5344CB8AC3E}">
        <p14:creationId xmlns:p14="http://schemas.microsoft.com/office/powerpoint/2010/main" val="47236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AE55-85CB-6B93-E1EF-4077CA9A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D48402-F702-60A8-CA32-E67AEAD3877B}"/>
              </a:ext>
            </a:extLst>
          </p:cNvPr>
          <p:cNvSpPr txBox="1"/>
          <p:nvPr/>
        </p:nvSpPr>
        <p:spPr>
          <a:xfrm>
            <a:off x="1012722" y="955029"/>
            <a:ext cx="9134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6. What is the difference between agglomerative and divisive hierarchical clustering?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D2EC2-3047-32E5-3B98-4F23D17B3A2C}"/>
              </a:ext>
            </a:extLst>
          </p:cNvPr>
          <p:cNvSpPr txBox="1"/>
          <p:nvPr/>
        </p:nvSpPr>
        <p:spPr>
          <a:xfrm>
            <a:off x="1101212" y="2419187"/>
            <a:ext cx="85540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Answer: </a:t>
            </a:r>
          </a:p>
          <a:p>
            <a:r>
              <a:rPr lang="en-US" dirty="0"/>
              <a:t>Agglomerative: bottom‑up (start with each point as its own cluster and merge); Divisive: top‑down (start with all points in one cluster and split).</a:t>
            </a:r>
          </a:p>
        </p:txBody>
      </p:sp>
    </p:spTree>
    <p:extLst>
      <p:ext uri="{BB962C8B-B14F-4D97-AF65-F5344CB8AC3E}">
        <p14:creationId xmlns:p14="http://schemas.microsoft.com/office/powerpoint/2010/main" val="425123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234D-460B-B9F8-521E-C4AD19A8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664B5E-48B7-1CAD-0EC2-311A2DFC5AB4}"/>
              </a:ext>
            </a:extLst>
          </p:cNvPr>
          <p:cNvSpPr txBox="1"/>
          <p:nvPr/>
        </p:nvSpPr>
        <p:spPr>
          <a:xfrm>
            <a:off x="1022555" y="1132009"/>
            <a:ext cx="8593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7.What two parameters control DBSCAN and what do they represent?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F1983-7F56-08E9-1173-CCDBA64CB403}"/>
              </a:ext>
            </a:extLst>
          </p:cNvPr>
          <p:cNvSpPr txBox="1"/>
          <p:nvPr/>
        </p:nvSpPr>
        <p:spPr>
          <a:xfrm>
            <a:off x="1022555" y="2950128"/>
            <a:ext cx="85933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eps — neighborhood radius;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min_samples</a:t>
            </a:r>
            <a:r>
              <a:rPr lang="en-US" dirty="0"/>
              <a:t> (or </a:t>
            </a:r>
            <a:r>
              <a:rPr lang="en-US" dirty="0" err="1"/>
              <a:t>minPts</a:t>
            </a:r>
            <a:r>
              <a:rPr lang="en-US" dirty="0"/>
              <a:t>) — minimum number of points required inside eps neighborhood to form a core point.</a:t>
            </a:r>
          </a:p>
        </p:txBody>
      </p:sp>
    </p:spTree>
    <p:extLst>
      <p:ext uri="{BB962C8B-B14F-4D97-AF65-F5344CB8AC3E}">
        <p14:creationId xmlns:p14="http://schemas.microsoft.com/office/powerpoint/2010/main" val="225815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D1D1-2745-2E08-9515-126F5230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5896F3-31E8-E0FD-E6BE-8FFE7DB0C9ED}"/>
              </a:ext>
            </a:extLst>
          </p:cNvPr>
          <p:cNvSpPr txBox="1"/>
          <p:nvPr/>
        </p:nvSpPr>
        <p:spPr>
          <a:xfrm>
            <a:off x="1219199" y="1122177"/>
            <a:ext cx="8947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8. What happens to DBSCAN clustering results when eps is set too small? Too large?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25C57-6540-5047-A538-C837E695A236}"/>
              </a:ext>
            </a:extLst>
          </p:cNvPr>
          <p:cNvSpPr txBox="1"/>
          <p:nvPr/>
        </p:nvSpPr>
        <p:spPr>
          <a:xfrm>
            <a:off x="1219199" y="2674825"/>
            <a:ext cx="792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Answer:</a:t>
            </a:r>
          </a:p>
          <a:p>
            <a:r>
              <a:rPr lang="en-US" dirty="0"/>
              <a:t>Too small — many points are labeled noise and clusters fragment. </a:t>
            </a:r>
          </a:p>
          <a:p>
            <a:r>
              <a:rPr lang="en-US" dirty="0"/>
              <a:t>Too large — distinct clusters may merge into larger clusters; fewer noise points.</a:t>
            </a:r>
          </a:p>
        </p:txBody>
      </p:sp>
    </p:spTree>
    <p:extLst>
      <p:ext uri="{BB962C8B-B14F-4D97-AF65-F5344CB8AC3E}">
        <p14:creationId xmlns:p14="http://schemas.microsoft.com/office/powerpoint/2010/main" val="256859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2491-0EB8-1744-7803-1EC6E6E8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863B09-3340-CE92-AA37-5AD36065E5F5}"/>
              </a:ext>
            </a:extLst>
          </p:cNvPr>
          <p:cNvSpPr txBox="1"/>
          <p:nvPr/>
        </p:nvSpPr>
        <p:spPr>
          <a:xfrm>
            <a:off x="1219199" y="1122177"/>
            <a:ext cx="8947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9. What is the convergence criteria in DBSCAN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C4C1CA-FD0D-7482-4CB7-B954413102E2}"/>
              </a:ext>
            </a:extLst>
          </p:cNvPr>
          <p:cNvSpPr txBox="1"/>
          <p:nvPr/>
        </p:nvSpPr>
        <p:spPr>
          <a:xfrm>
            <a:off x="1219199" y="2674825"/>
            <a:ext cx="7924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Every point in the dataset has been visited.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All points have been assigned to a cluster or marked as noise, based on the density criteria.</a:t>
            </a:r>
          </a:p>
        </p:txBody>
      </p:sp>
    </p:spTree>
    <p:extLst>
      <p:ext uri="{BB962C8B-B14F-4D97-AF65-F5344CB8AC3E}">
        <p14:creationId xmlns:p14="http://schemas.microsoft.com/office/powerpoint/2010/main" val="247460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FF12D-6065-CF82-FCEB-BCA19956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A5E5AC-D12A-B69F-BDD3-0CA1736128F0}"/>
              </a:ext>
            </a:extLst>
          </p:cNvPr>
          <p:cNvSpPr txBox="1"/>
          <p:nvPr/>
        </p:nvSpPr>
        <p:spPr>
          <a:xfrm>
            <a:off x="639095" y="1476138"/>
            <a:ext cx="10323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10. What does a silhouette score close to +1 indicate for a sample? What about close to -1?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875F3-4AE3-4305-2C2D-EFB22580AC97}"/>
              </a:ext>
            </a:extLst>
          </p:cNvPr>
          <p:cNvSpPr txBox="1"/>
          <p:nvPr/>
        </p:nvSpPr>
        <p:spPr>
          <a:xfrm>
            <a:off x="943897" y="2881303"/>
            <a:ext cx="77281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</a:t>
            </a:r>
          </a:p>
          <a:p>
            <a:r>
              <a:rPr lang="en-US" dirty="0"/>
              <a:t>+1 — sample is well matched to its cluster and far from neighboring clusters. -1 — sample likely misassigned, closer to another cluster than its own.</a:t>
            </a:r>
          </a:p>
        </p:txBody>
      </p:sp>
    </p:spTree>
    <p:extLst>
      <p:ext uri="{BB962C8B-B14F-4D97-AF65-F5344CB8AC3E}">
        <p14:creationId xmlns:p14="http://schemas.microsoft.com/office/powerpoint/2010/main" val="378596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6689-924D-C1AC-3C29-38F61AEE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05E031-55BD-8524-CBDF-E96947310097}"/>
              </a:ext>
            </a:extLst>
          </p:cNvPr>
          <p:cNvSpPr txBox="1"/>
          <p:nvPr/>
        </p:nvSpPr>
        <p:spPr>
          <a:xfrm>
            <a:off x="658761" y="1161506"/>
            <a:ext cx="790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11.  What metric is plotted in an elbow plot for K‑means to help select 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A400A-DFBF-8CBE-029F-8F527635A0F3}"/>
              </a:ext>
            </a:extLst>
          </p:cNvPr>
          <p:cNvSpPr txBox="1"/>
          <p:nvPr/>
        </p:nvSpPr>
        <p:spPr>
          <a:xfrm>
            <a:off x="1327355" y="24897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Within‑cluster sum of squares (WCSS, inertia) vs K.</a:t>
            </a:r>
          </a:p>
        </p:txBody>
      </p:sp>
    </p:spTree>
    <p:extLst>
      <p:ext uri="{BB962C8B-B14F-4D97-AF65-F5344CB8AC3E}">
        <p14:creationId xmlns:p14="http://schemas.microsoft.com/office/powerpoint/2010/main" val="385630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A839-68AB-D4B4-D938-72E602A3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C46B6-B3B0-2510-17F8-EC4966E1E399}"/>
              </a:ext>
            </a:extLst>
          </p:cNvPr>
          <p:cNvSpPr txBox="1"/>
          <p:nvPr/>
        </p:nvSpPr>
        <p:spPr>
          <a:xfrm>
            <a:off x="658760" y="1033687"/>
            <a:ext cx="10992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12. What does the Hopkins statistic test for in a dataset? What value range indicates significant clustering tendency?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4A66-068F-89CB-9363-0757D541395B}"/>
              </a:ext>
            </a:extLst>
          </p:cNvPr>
          <p:cNvSpPr txBox="1"/>
          <p:nvPr/>
        </p:nvSpPr>
        <p:spPr>
          <a:xfrm>
            <a:off x="747252" y="233069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Tests spatial randomness vs cluster tendency.</a:t>
            </a:r>
          </a:p>
          <a:p>
            <a:endParaRPr lang="en-US" dirty="0"/>
          </a:p>
          <a:p>
            <a:r>
              <a:rPr lang="en-US" dirty="0"/>
              <a:t>H&gt;0.8 == Good clusters in your data</a:t>
            </a:r>
          </a:p>
          <a:p>
            <a:r>
              <a:rPr lang="en-US" dirty="0"/>
              <a:t>H 0.5-0.8== Ok</a:t>
            </a:r>
          </a:p>
          <a:p>
            <a:r>
              <a:rPr lang="en-US" dirty="0"/>
              <a:t>H&lt;= 0.5: Random, not good for clustering</a:t>
            </a:r>
          </a:p>
        </p:txBody>
      </p:sp>
    </p:spTree>
    <p:extLst>
      <p:ext uri="{BB962C8B-B14F-4D97-AF65-F5344CB8AC3E}">
        <p14:creationId xmlns:p14="http://schemas.microsoft.com/office/powerpoint/2010/main" val="230825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CF72-0813-616F-5991-D9821797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BBEBAE-E82E-B85A-5B74-C888EA3B0F8D}"/>
              </a:ext>
            </a:extLst>
          </p:cNvPr>
          <p:cNvSpPr txBox="1"/>
          <p:nvPr/>
        </p:nvSpPr>
        <p:spPr>
          <a:xfrm>
            <a:off x="747251" y="1426976"/>
            <a:ext cx="9792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13.  Write the formula for Euclidean distance between two 2D points p=(x1,y1) and q=(x2,y2)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D4355-318B-C4B3-2F3D-CD45DC796C4A}"/>
              </a:ext>
            </a:extLst>
          </p:cNvPr>
          <p:cNvSpPr txBox="1"/>
          <p:nvPr/>
        </p:nvSpPr>
        <p:spPr>
          <a:xfrm>
            <a:off x="1297858" y="200792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Answer:</a:t>
            </a:r>
          </a:p>
          <a:p>
            <a:r>
              <a:rPr lang="en-US" dirty="0"/>
              <a:t>d(</a:t>
            </a:r>
            <a:r>
              <a:rPr lang="en-US" dirty="0" err="1"/>
              <a:t>p,q</a:t>
            </a:r>
            <a:r>
              <a:rPr lang="en-US" dirty="0"/>
              <a:t>)=SQRT( (x1−x2)^2+(y1−y2)^2)</a:t>
            </a:r>
          </a:p>
        </p:txBody>
      </p:sp>
    </p:spTree>
    <p:extLst>
      <p:ext uri="{BB962C8B-B14F-4D97-AF65-F5344CB8AC3E}">
        <p14:creationId xmlns:p14="http://schemas.microsoft.com/office/powerpoint/2010/main" val="279994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ECA2-E258-1063-51D3-AB0BC1A9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2F21B2-E4CA-0783-953F-AA4ACB57305A}"/>
              </a:ext>
            </a:extLst>
          </p:cNvPr>
          <p:cNvSpPr txBox="1"/>
          <p:nvPr/>
        </p:nvSpPr>
        <p:spPr>
          <a:xfrm>
            <a:off x="899651" y="1210044"/>
            <a:ext cx="9792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14. Between Euclidean and Manhattan distance, which is computationally more intensive?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A2FC7-393C-F7F0-6C4F-136061085D3A}"/>
              </a:ext>
            </a:extLst>
          </p:cNvPr>
          <p:cNvSpPr txBox="1"/>
          <p:nvPr/>
        </p:nvSpPr>
        <p:spPr>
          <a:xfrm>
            <a:off x="899651" y="2169311"/>
            <a:ext cx="9792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Euclidean Distance</a:t>
            </a:r>
          </a:p>
        </p:txBody>
      </p:sp>
    </p:spTree>
    <p:extLst>
      <p:ext uri="{BB962C8B-B14F-4D97-AF65-F5344CB8AC3E}">
        <p14:creationId xmlns:p14="http://schemas.microsoft.com/office/powerpoint/2010/main" val="227888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9526-0339-F8DD-5D9C-C2C5A0B7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7A4137-6975-8E6B-DCBE-34C22EC90411}"/>
              </a:ext>
            </a:extLst>
          </p:cNvPr>
          <p:cNvSpPr txBox="1"/>
          <p:nvPr/>
        </p:nvSpPr>
        <p:spPr>
          <a:xfrm>
            <a:off x="147484" y="1199535"/>
            <a:ext cx="11701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15. For dataset with high dimensionality, which distance metric would be chosen (Euclidean or Manhattan) and why?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60FB2-3526-6924-95C6-4E00E7832E30}"/>
              </a:ext>
            </a:extLst>
          </p:cNvPr>
          <p:cNvSpPr txBox="1"/>
          <p:nvPr/>
        </p:nvSpPr>
        <p:spPr>
          <a:xfrm>
            <a:off x="899651" y="2169311"/>
            <a:ext cx="9792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Answer</a:t>
            </a:r>
            <a:r>
              <a:rPr lang="en-US" dirty="0"/>
              <a:t>: Manhattan Distance; less computation intensive</a:t>
            </a:r>
          </a:p>
        </p:txBody>
      </p:sp>
    </p:spTree>
    <p:extLst>
      <p:ext uri="{BB962C8B-B14F-4D97-AF65-F5344CB8AC3E}">
        <p14:creationId xmlns:p14="http://schemas.microsoft.com/office/powerpoint/2010/main" val="39063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9F148F-E38C-4DE5-A463-E4DC8587FC6B}"/>
</file>

<file path=customXml/itemProps2.xml><?xml version="1.0" encoding="utf-8"?>
<ds:datastoreItem xmlns:ds="http://schemas.openxmlformats.org/officeDocument/2006/customXml" ds:itemID="{3D9F60BF-9FBF-4573-87A5-9440568642EC}"/>
</file>

<file path=customXml/itemProps3.xml><?xml version="1.0" encoding="utf-8"?>
<ds:datastoreItem xmlns:ds="http://schemas.openxmlformats.org/officeDocument/2006/customXml" ds:itemID="{142AE6FD-B205-49FE-A060-D4F86F9B2DCA}"/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624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Vittal Shetty, Adarsh</dc:creator>
  <cp:lastModifiedBy>Vittal Shetty, Adarsh</cp:lastModifiedBy>
  <cp:revision>6</cp:revision>
  <dcterms:created xsi:type="dcterms:W3CDTF">2025-11-19T15:37:42Z</dcterms:created>
  <dcterms:modified xsi:type="dcterms:W3CDTF">2025-11-19T16:20:02Z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