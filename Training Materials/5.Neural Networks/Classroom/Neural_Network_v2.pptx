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2" r:id="rId13"/>
    <p:sldId id="273" r:id="rId14"/>
    <p:sldId id="274" r:id="rId15"/>
    <p:sldId id="275" r:id="rId16"/>
    <p:sldId id="284" r:id="rId17"/>
    <p:sldId id="276" r:id="rId18"/>
    <p:sldId id="277" r:id="rId19"/>
    <p:sldId id="278" r:id="rId20"/>
    <p:sldId id="280" r:id="rId21"/>
    <p:sldId id="279" r:id="rId22"/>
    <p:sldId id="281" r:id="rId23"/>
    <p:sldId id="282" r:id="rId24"/>
    <p:sldId id="283" r:id="rId25"/>
    <p:sldId id="285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258" r:id="rId59"/>
    <p:sldId id="259" r:id="rId60"/>
    <p:sldId id="260" r:id="rId61"/>
    <p:sldId id="261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7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presProps" Target="presProps.xml"/><Relationship Id="rId68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69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customXml" Target="../customXml/item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BE7E-D4E5-7153-AF80-1B662701A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8BC91-A08F-9C41-7CBD-2EA4D18EF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2266C-F413-18D1-D05C-36F43961C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7FB2A-36DC-1974-6A7F-C72B4A754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F4422-BE86-C39A-E22A-0913EB9E7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92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1886F-FC39-7AF2-4C68-0ACFC9A48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8DFF4-820B-BA7A-2739-E673DA6AD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18F6C-FF70-6797-4512-BBC24655B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6E209-4060-C6C3-2F42-3349DCA6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82D0B-29A8-375D-FBA3-B16C0F59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04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8B1E-524C-5ED9-EEEA-C2297418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89A36C-A7D6-9738-FBCA-869D61962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AF5A6-CD8C-547B-50BD-D52A35F9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85B21-FAC9-B846-ED94-89E1ACDF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EE0F2-4359-0658-DDB9-090D9EA2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6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3E61E-268E-41FF-6511-719D343A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BE11E-F4CD-184B-76FD-B6A590849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461DF-8E9A-B07A-A9EB-DA87B8F13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B3FBE-2464-E8FF-E704-A45F2CF6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1FBC0-E569-154D-DF8A-27A3BB4F8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A3D1A-16FE-C759-6B89-D51D0F41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9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8D895-3A22-A688-9261-EC494B7C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49F07-4997-8620-986D-D7C3741C4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02C6F-C6EA-B9A5-1718-DE4FD475DA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039BA0-CF8A-B89C-1F88-E9D278043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96A973-4C45-492F-304B-E9A759AC0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DA1C1C-C5E3-368C-2229-353BB4C16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5C0211-D2A3-A8FA-B1C9-33E0BCCDA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F93D8-2A16-3187-FD16-E7B7E29D2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90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21BCE-BA62-1986-CFDA-79566DC6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85AE09-AAFF-91AE-1662-2EC3A2927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C036FF-0080-5719-DFCB-21D1D6404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97B64-54F3-81E2-FBB9-84234499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56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57845-33EA-08A7-A0B8-922B17EDC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B68C47-905E-13FD-955C-57F5CEA5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9B895-EC8C-D484-F00C-E8150C6D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7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14380-A3B3-0AD7-03C9-7CDC8A359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F360-63D5-6510-CEE1-235502D5F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A8F07B-9D1D-F9AF-6606-EB53F0D4A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B668B-13A1-7C9F-61CE-5609EC34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AF394-65CE-91A9-24F4-AAFB6E1C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84E08-D9D9-DF4D-7576-0CF7C672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0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C54E8-CCB2-12BC-E075-EDE41DA5A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391B32-86CA-9C8F-1931-A3415E22D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1FFA3-3778-BFE2-3EA1-EEA5247C2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D936C-2930-C143-88A2-6F58F02C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884EB-8E8F-A3D2-B701-8CF203EB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8669B-C3DC-0176-5C7D-F5DDC6A17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49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E445F-3B07-4B54-7F8D-BA2057B7C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E939AA-A7E5-95C7-6525-3FCCC68FD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76AFB-8DD3-D416-367C-5CBACE76B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9544F-13DC-FB55-C891-266E0D5E1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DC7F4-48BE-D8E1-4785-F05705F3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130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6F7119-5978-E862-0EB1-0AF7EE884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6B770B-3D48-3F62-2516-76F2A421F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38B5C-75C4-9E11-4AED-1BBAF7FC3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08710-6345-C3D3-4E31-0B4FA127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307F3-D546-D7E5-1C50-7374CC6AA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6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C79F51-BA5A-8062-EA09-3C82EFCA0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5F20C-0F27-E493-6240-1FC0D35F8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7E60C-4555-822A-ED8B-9DC1795F1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23CF3-E594-47C9-9A05-93DDA6D1D197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7395B-7811-67A7-813D-B31979661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1CF9A-799E-5421-4E40-D12B8625C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4EBF93-2C51-4823-9826-C5CE7E9372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7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26B11-F192-3D66-EE2C-25D0E8BE22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90A44-458D-B555-F13E-B32FE7C080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351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DA99-414E-644E-C18D-9758F0D6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464C7-195A-ED88-1C6A-2A66418FD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438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FAFD70-B3DF-7E83-653D-9E4FB83D9F5A}"/>
              </a:ext>
            </a:extLst>
          </p:cNvPr>
          <p:cNvSpPr/>
          <p:nvPr/>
        </p:nvSpPr>
        <p:spPr>
          <a:xfrm>
            <a:off x="4251832" y="2466575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</p:spTree>
    <p:extLst>
      <p:ext uri="{BB962C8B-B14F-4D97-AF65-F5344CB8AC3E}">
        <p14:creationId xmlns:p14="http://schemas.microsoft.com/office/powerpoint/2010/main" val="3805800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660C1-980A-DA9B-DB8D-61F84330A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5EDDDB-1F0F-F22F-106F-B47F9896557D}"/>
              </a:ext>
            </a:extLst>
          </p:cNvPr>
          <p:cNvSpPr/>
          <p:nvPr/>
        </p:nvSpPr>
        <p:spPr>
          <a:xfrm>
            <a:off x="4251832" y="2466575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3499276-99D2-3820-F504-342D3E31489C}"/>
              </a:ext>
            </a:extLst>
          </p:cNvPr>
          <p:cNvSpPr/>
          <p:nvPr/>
        </p:nvSpPr>
        <p:spPr>
          <a:xfrm>
            <a:off x="1198710" y="2389735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2849059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AB32-39F8-FFAE-A5AF-7DD30FD05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BD57D4-21AA-6EBC-4EC9-22E389AB5EB6}"/>
              </a:ext>
            </a:extLst>
          </p:cNvPr>
          <p:cNvSpPr/>
          <p:nvPr/>
        </p:nvSpPr>
        <p:spPr>
          <a:xfrm>
            <a:off x="4251832" y="2466575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516594-289B-E401-5619-1C88E3DBF351}"/>
              </a:ext>
            </a:extLst>
          </p:cNvPr>
          <p:cNvSpPr/>
          <p:nvPr/>
        </p:nvSpPr>
        <p:spPr>
          <a:xfrm>
            <a:off x="1198710" y="2389735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BEE3E5-2B0A-4B48-076D-D3ECFCB5FC40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443523" y="2992932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51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9390A-59D1-47C7-69F6-BD578B729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5548C6-67B5-E27F-7BB0-457865D7176E}"/>
              </a:ext>
            </a:extLst>
          </p:cNvPr>
          <p:cNvSpPr/>
          <p:nvPr/>
        </p:nvSpPr>
        <p:spPr>
          <a:xfrm>
            <a:off x="4251832" y="2466575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ADF770-7751-84B9-57A4-6D98D87AB989}"/>
              </a:ext>
            </a:extLst>
          </p:cNvPr>
          <p:cNvSpPr/>
          <p:nvPr/>
        </p:nvSpPr>
        <p:spPr>
          <a:xfrm>
            <a:off x="1198710" y="2389735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BD8911-2990-1EA4-509E-D3AF6CBA459F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443523" y="2992932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2C3A22-D4ED-B364-F521-3C689FF81497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7940168" y="2994852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185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C51F5-505B-91C0-3697-46C03B8CE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A8DDE1-4490-3841-8C76-917DDD5A8D53}"/>
              </a:ext>
            </a:extLst>
          </p:cNvPr>
          <p:cNvSpPr/>
          <p:nvPr/>
        </p:nvSpPr>
        <p:spPr>
          <a:xfrm>
            <a:off x="4251832" y="2466575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3560455-F570-5C7E-60ED-ABE441A8C426}"/>
              </a:ext>
            </a:extLst>
          </p:cNvPr>
          <p:cNvSpPr/>
          <p:nvPr/>
        </p:nvSpPr>
        <p:spPr>
          <a:xfrm>
            <a:off x="1198710" y="2389735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46CD64C-EA84-3D91-490A-AC9FD6AED8A2}"/>
              </a:ext>
            </a:extLst>
          </p:cNvPr>
          <p:cNvSpPr/>
          <p:nvPr/>
        </p:nvSpPr>
        <p:spPr>
          <a:xfrm>
            <a:off x="9748477" y="2393575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07B04E6-13E3-70F0-2C48-EBE140886907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443523" y="2992932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F142C4-58A2-6537-8A3F-9F87C93EDB73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7940168" y="2994852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2393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ABAB9-0146-361B-50F8-897179FE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3C4DFD-1132-A157-A67B-9F6437E178A2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F866B1-5B47-E3D7-EE99-20F22FB71D71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E5E5D43-8884-700B-0188-B9B160C4380C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4CF65AA-78F9-A428-5578-74C27CE8C964}"/>
              </a:ext>
            </a:extLst>
          </p:cNvPr>
          <p:cNvSpPr/>
          <p:nvPr/>
        </p:nvSpPr>
        <p:spPr>
          <a:xfrm>
            <a:off x="9863737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B332931-B0F4-2D4E-4E4C-D3232F6793E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5777E4-AFFE-ECB0-44B3-B5E452D443F1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6607BB-6FAC-7007-EF95-479F6CD7D395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</p:spTree>
    <p:extLst>
      <p:ext uri="{BB962C8B-B14F-4D97-AF65-F5344CB8AC3E}">
        <p14:creationId xmlns:p14="http://schemas.microsoft.com/office/powerpoint/2010/main" val="1393757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61DD8-619F-DEF3-2691-AF5355AB2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D0358E8-FF18-2FAB-1C99-B20AB0129397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221CF3D-9B84-D297-EEA3-0BF6F0B5CD7D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490EFDC-42DF-6125-8872-29C00020E8C6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8D3D67-F82B-35A0-54AD-2A7D8044F586}"/>
              </a:ext>
            </a:extLst>
          </p:cNvPr>
          <p:cNvSpPr/>
          <p:nvPr/>
        </p:nvSpPr>
        <p:spPr>
          <a:xfrm>
            <a:off x="9863737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DE0B5E-92AA-D8D2-286D-B04FD3E6FAE3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070E1D-DF01-B80D-DF13-C98BA38263DD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F1BE8B5-8532-F4E0-B8F5-3CE99EE81624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F95883-BDF4-1150-2226-4F157C0F77F5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8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4106-F0CB-D3B3-3BF4-8DE4226D4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502AF5C-50A0-B63C-4DE0-10D3A2079B16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787D2C-AB71-EF22-73D5-66D6A53E07F8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F4DEC29-362B-D1EB-B347-22B4F4B25B7F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35BA35-4685-CE34-4FD2-4DD583A13632}"/>
              </a:ext>
            </a:extLst>
          </p:cNvPr>
          <p:cNvSpPr/>
          <p:nvPr/>
        </p:nvSpPr>
        <p:spPr>
          <a:xfrm>
            <a:off x="9863737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A539E0-6599-1700-BDB8-1A67050D45DD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9E569BC-5D05-FC30-9322-4434E0905346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81F18A-A940-D26D-81D1-8E3110412687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29FA9B-B43C-9A7E-145D-89597AA1D650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F092CE6-C31D-77EC-755D-75EC102C1566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CD4C1C3-A522-90EC-7871-80314B96335F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329AC6-2914-17CC-CDFF-544A33CA3633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9F32EF3-8470-3D80-4E96-C3CD9B292341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47D5819-19C2-FEFE-3DF9-19A71F924B50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923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9DEB6-0A08-B7E4-A51B-DADEEA596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FC20BE7-BD73-5DF0-5043-79B4F2A071F6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ED5AD2-4021-F3CA-0621-3B08AB68C6DE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C93CDD8-27D5-F231-09A4-095C78C6407C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AA5E06-A44C-CFAF-BF88-2A74FD683586}"/>
              </a:ext>
            </a:extLst>
          </p:cNvPr>
          <p:cNvSpPr/>
          <p:nvPr/>
        </p:nvSpPr>
        <p:spPr>
          <a:xfrm>
            <a:off x="9863737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A7F4BAD-64BD-F282-1E02-0445F81E2F2B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5DA36ED-5C48-3F4F-D48E-CE0C06E335A2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CA11990-CE3F-8FE6-D8DD-E2E551E23CF5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F55B45-8460-EF79-BAAA-FE360DAB5D0D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E8ED1F-741F-C182-A4EC-91BFA774B251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B69C722-861B-D5EF-B1E6-A5244F6CF215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330B9B-0228-7155-598C-302B665D1935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B9F7A9-ADFC-4E6A-4F02-99844C6795DA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B3B5B7A-C1FC-4F0D-BD1F-C3E73A645DCF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701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8BEEC-5FD7-C443-A666-AED67A363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7FA561-4E3C-59A1-3022-D0D2620F711D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43E4FC-66D4-5F8E-4218-C3C11BF58A77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CA4E1E5-C5C5-770D-C0ED-70D73285AAD3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14BD05-263E-064F-2EE7-735BC7F7DCF5}"/>
              </a:ext>
            </a:extLst>
          </p:cNvPr>
          <p:cNvSpPr/>
          <p:nvPr/>
        </p:nvSpPr>
        <p:spPr>
          <a:xfrm>
            <a:off x="9863737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44D64DC-4CF1-8B8F-96FD-0B7864BA0B42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137CD9-709F-C12C-2663-32D2DCDFA862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22ED87-8F4E-0081-8B67-B72B9D0FF300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1BA0C5-E6C0-E060-CC34-FBCF924319CC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B08E0CB-CBDE-47B7-F910-1D3B4DB287A5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2890686-04E4-122D-F4CD-A527B8747413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15DFCB1-88A3-3243-CCE2-BA82D2696137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9B0FAD-5392-21E9-ACA3-1E5AE70BED6F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F85793-2A61-DE6D-EF7E-69E2F2A46804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A747E61-5B22-EE7C-54A0-5D28AD2A8B5C}"/>
              </a:ext>
            </a:extLst>
          </p:cNvPr>
          <p:cNvSpPr txBox="1"/>
          <p:nvPr/>
        </p:nvSpPr>
        <p:spPr>
          <a:xfrm>
            <a:off x="4013583" y="3513275"/>
            <a:ext cx="4419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How do we produce this approximation? </a:t>
            </a:r>
          </a:p>
        </p:txBody>
      </p:sp>
    </p:spTree>
    <p:extLst>
      <p:ext uri="{BB962C8B-B14F-4D97-AF65-F5344CB8AC3E}">
        <p14:creationId xmlns:p14="http://schemas.microsoft.com/office/powerpoint/2010/main" val="2208281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C5D3C-92A7-1519-A913-CE1194DB5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609AF2D-EC60-E6EC-5477-3A00C2D766B7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490AB90-BE4D-2DD5-D62D-25C3ECE203D5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3C3D49D-A30A-6370-0C77-0AFDF36EB7CD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174A70-8DF6-AE5B-5823-18FA4AB26032}"/>
              </a:ext>
            </a:extLst>
          </p:cNvPr>
          <p:cNvSpPr/>
          <p:nvPr/>
        </p:nvSpPr>
        <p:spPr>
          <a:xfrm>
            <a:off x="9863737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B7F479F-DB0E-F740-6A1C-182F7EF4437E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B38C230-AE7C-1ECF-7E3B-979B876956D8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BF1082B-5BFC-9F19-84BC-824877A1514D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B31858-256F-C58E-A3B2-ADA0CC37AB92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124A6A2-CA51-2554-808A-3983B8278B84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5E50B6C-F4BC-2867-5CD2-1856128D6528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C571B34-8614-947F-D210-AD1FEB408F2C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637C551-1B49-AFA4-9D61-59CF162EEBB2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041B6E9-0E8C-490D-632E-4D366D849E6C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8F29E52-6BE7-B941-7339-EE6482152624}"/>
              </a:ext>
            </a:extLst>
          </p:cNvPr>
          <p:cNvSpPr txBox="1"/>
          <p:nvPr/>
        </p:nvSpPr>
        <p:spPr>
          <a:xfrm>
            <a:off x="727421" y="3656489"/>
            <a:ext cx="126028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Modeling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012697-901A-C355-76CA-B6D34905AB45}"/>
              </a:ext>
            </a:extLst>
          </p:cNvPr>
          <p:cNvSpPr txBox="1"/>
          <p:nvPr/>
        </p:nvSpPr>
        <p:spPr>
          <a:xfrm>
            <a:off x="4013583" y="3513275"/>
            <a:ext cx="4419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How do we produce this approximation? </a:t>
            </a:r>
          </a:p>
        </p:txBody>
      </p:sp>
    </p:spTree>
    <p:extLst>
      <p:ext uri="{BB962C8B-B14F-4D97-AF65-F5344CB8AC3E}">
        <p14:creationId xmlns:p14="http://schemas.microsoft.com/office/powerpoint/2010/main" val="902033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8D209-FE72-5E0A-AD00-EC65B1CF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467CCE-9A27-FEFB-4B9D-FA44A4CCB070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</p:spTree>
    <p:extLst>
      <p:ext uri="{BB962C8B-B14F-4D97-AF65-F5344CB8AC3E}">
        <p14:creationId xmlns:p14="http://schemas.microsoft.com/office/powerpoint/2010/main" val="4123852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EBD5D-8F01-1C82-0351-F1A6E509C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A179939-3822-9F8D-AC71-653A53FF3594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Mathematical Function/Decision Rules</a:t>
            </a:r>
          </a:p>
        </p:txBody>
      </p:sp>
    </p:spTree>
    <p:extLst>
      <p:ext uri="{BB962C8B-B14F-4D97-AF65-F5344CB8AC3E}">
        <p14:creationId xmlns:p14="http://schemas.microsoft.com/office/powerpoint/2010/main" val="2643678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6BE93-E3F4-4380-74DD-887678F0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EF7082B-2BCF-7F12-6CC4-C9F1116C22FF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Function Approximation</a:t>
            </a:r>
          </a:p>
        </p:txBody>
      </p:sp>
    </p:spTree>
    <p:extLst>
      <p:ext uri="{BB962C8B-B14F-4D97-AF65-F5344CB8AC3E}">
        <p14:creationId xmlns:p14="http://schemas.microsoft.com/office/powerpoint/2010/main" val="1547854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CAAAC-B277-CA9D-FD04-1CB3898F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EB23FCA-0C72-25F4-2FB4-5711F1D86950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3757488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E5FA0-C3C6-232B-F148-8EED17BF2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0429A74-7936-D246-4D54-AD28DDC82BCE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Machine Learning Model</a:t>
            </a:r>
          </a:p>
        </p:txBody>
      </p:sp>
    </p:spTree>
    <p:extLst>
      <p:ext uri="{BB962C8B-B14F-4D97-AF65-F5344CB8AC3E}">
        <p14:creationId xmlns:p14="http://schemas.microsoft.com/office/powerpoint/2010/main" val="5904888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01C3-3E8F-DAB2-BFD9-ED92BE61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</p:spTree>
    <p:extLst>
      <p:ext uri="{BB962C8B-B14F-4D97-AF65-F5344CB8AC3E}">
        <p14:creationId xmlns:p14="http://schemas.microsoft.com/office/powerpoint/2010/main" val="3871773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D9D4A-D5F2-FCCC-3EE4-D26B3A0D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1891-2E42-587B-ADB2-F568706F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0C043C-E200-AD97-C163-A396208C6742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3263082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8CB6F-88E8-A82A-F391-2635750B5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1C400-3C73-2C11-BD01-F3D52A8F6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BC8A52-93E0-BE93-27C2-293BBA88D470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Mathematical Function/Decision Rules</a:t>
            </a:r>
          </a:p>
        </p:txBody>
      </p:sp>
    </p:spTree>
    <p:extLst>
      <p:ext uri="{BB962C8B-B14F-4D97-AF65-F5344CB8AC3E}">
        <p14:creationId xmlns:p14="http://schemas.microsoft.com/office/powerpoint/2010/main" val="912974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EE90E-7E4B-1C6E-15BE-1EB33D13C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76F11-C046-9568-10F6-8A37209ED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BE22A5F-0B70-A222-58AF-F9093974DC4B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Mathematical Function</a:t>
            </a:r>
          </a:p>
        </p:txBody>
      </p:sp>
    </p:spTree>
    <p:extLst>
      <p:ext uri="{BB962C8B-B14F-4D97-AF65-F5344CB8AC3E}">
        <p14:creationId xmlns:p14="http://schemas.microsoft.com/office/powerpoint/2010/main" val="2515367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750C-FC0A-78B8-8879-318D36261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C4923-ED25-2566-811B-834921A9C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2DD83C5-51F2-AF71-FD93-77913E13AF7E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Mathematical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25639C-8A0F-CA86-148E-901E69B664C6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latin typeface="Cambria Math" panose="02040503050406030204" pitchFamily="18" charset="0"/>
              </a:rPr>
              <a:t>𝑦=𝑓(𝑥|𝑤)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</p:spTree>
    <p:extLst>
      <p:ext uri="{BB962C8B-B14F-4D97-AF65-F5344CB8AC3E}">
        <p14:creationId xmlns:p14="http://schemas.microsoft.com/office/powerpoint/2010/main" val="2504753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BD81B-C02A-0976-3256-6E78F1C6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AA7C1-4E77-A2C8-1397-A7423DC7F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847CD05-D772-27BA-D52E-C3E4CA737CAE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Mathematical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9FCF62-9EFD-940E-7FD3-D5AE432DC315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latin typeface="Cambria Math" panose="02040503050406030204" pitchFamily="18" charset="0"/>
              </a:rPr>
              <a:t>𝑦=𝑓(𝑥|𝑤)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BF9FE6-FA94-B08B-C09F-F57217A1B9CA}"/>
              </a:ext>
            </a:extLst>
          </p:cNvPr>
          <p:cNvSpPr txBox="1"/>
          <p:nvPr/>
        </p:nvSpPr>
        <p:spPr>
          <a:xfrm>
            <a:off x="1681843" y="23517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ambria Math" panose="02040503050406030204" pitchFamily="18" charset="0"/>
              </a:rPr>
              <a:t>𝑦=𝑚𝑥+𝑐 </a:t>
            </a:r>
            <a:r>
              <a:rPr lang="en-US" dirty="0">
                <a:latin typeface="Cambria Math" panose="02040503050406030204" pitchFamily="18" charset="0"/>
              </a:rPr>
              <a:t>– Concrete form of a Mathematical Function</a:t>
            </a:r>
          </a:p>
        </p:txBody>
      </p:sp>
    </p:spTree>
    <p:extLst>
      <p:ext uri="{BB962C8B-B14F-4D97-AF65-F5344CB8AC3E}">
        <p14:creationId xmlns:p14="http://schemas.microsoft.com/office/powerpoint/2010/main" val="3785927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962A-6052-52E4-4A5D-D1F44E276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CD669-0FE9-BB08-9C12-BAEAFF914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B18EE7-8905-3835-C33F-BAC6861F24F4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Mathematical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764EB-9E5A-F287-EDA9-CBE1F76CCA27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=𝑓(𝑥|𝑤)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D78B99-843F-D552-9EC6-9F331C7633F7}"/>
              </a:ext>
            </a:extLst>
          </p:cNvPr>
          <p:cNvSpPr txBox="1"/>
          <p:nvPr/>
        </p:nvSpPr>
        <p:spPr>
          <a:xfrm>
            <a:off x="1681843" y="23517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b="1" dirty="0">
                <a:latin typeface="Cambria Math" panose="02040503050406030204" pitchFamily="18" charset="0"/>
              </a:rPr>
              <a:t>=𝑚𝑥+𝑐 </a:t>
            </a:r>
            <a:r>
              <a:rPr lang="en-US" dirty="0">
                <a:latin typeface="Cambria Math" panose="02040503050406030204" pitchFamily="18" charset="0"/>
              </a:rPr>
              <a:t>– Concrete form of a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308EAC-9250-1233-8258-B8BA17E5CCB7}"/>
              </a:ext>
            </a:extLst>
          </p:cNvPr>
          <p:cNvSpPr txBox="1"/>
          <p:nvPr/>
        </p:nvSpPr>
        <p:spPr>
          <a:xfrm>
            <a:off x="1236849" y="34290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966036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8A916-3DE1-1E59-A6CA-176D4F10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89DA-DADA-E692-786D-03F27A52B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08327EB-0609-918A-2127-5C5DA0A80BB8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Mathematical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0E3E67-953A-AD28-358E-B3D3E9093428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|𝑤)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CCA5BF-131F-0DB9-667B-D6C4BEB2959B}"/>
              </a:ext>
            </a:extLst>
          </p:cNvPr>
          <p:cNvSpPr txBox="1"/>
          <p:nvPr/>
        </p:nvSpPr>
        <p:spPr>
          <a:xfrm>
            <a:off x="1681843" y="23517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b="1" dirty="0">
                <a:latin typeface="Cambria Math" panose="02040503050406030204" pitchFamily="18" charset="0"/>
              </a:rPr>
              <a:t>=𝑚</a:t>
            </a:r>
            <a:r>
              <a:rPr lang="en-US" b="1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b="1" dirty="0">
                <a:latin typeface="Cambria Math" panose="02040503050406030204" pitchFamily="18" charset="0"/>
              </a:rPr>
              <a:t>+𝑐 </a:t>
            </a:r>
            <a:r>
              <a:rPr lang="en-US" dirty="0">
                <a:latin typeface="Cambria Math" panose="02040503050406030204" pitchFamily="18" charset="0"/>
              </a:rPr>
              <a:t>– Concrete form of a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4A5A8-9D97-1576-365F-CD8AC10E1CB1}"/>
              </a:ext>
            </a:extLst>
          </p:cNvPr>
          <p:cNvSpPr txBox="1"/>
          <p:nvPr/>
        </p:nvSpPr>
        <p:spPr>
          <a:xfrm>
            <a:off x="1236849" y="34290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C23A3-488F-9FE9-C395-C7AFBA61EDA2}"/>
              </a:ext>
            </a:extLst>
          </p:cNvPr>
          <p:cNvSpPr txBox="1"/>
          <p:nvPr/>
        </p:nvSpPr>
        <p:spPr>
          <a:xfrm>
            <a:off x="2826163" y="342900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1235601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D2032-D888-ED5B-DD79-F9895195C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38D3-4AA1-3509-F732-5BD61B59D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A64B94-EED0-CA98-D2CC-DF6ABBDE1229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Mathematical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101D6A-3FF6-CC0C-1FCD-4850C3612F67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796E6-85D6-220F-0980-55BB6FE29417}"/>
              </a:ext>
            </a:extLst>
          </p:cNvPr>
          <p:cNvSpPr txBox="1"/>
          <p:nvPr/>
        </p:nvSpPr>
        <p:spPr>
          <a:xfrm>
            <a:off x="1681843" y="23517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b="1" dirty="0">
                <a:latin typeface="Cambria Math" panose="02040503050406030204" pitchFamily="18" charset="0"/>
              </a:rPr>
              <a:t>=</a:t>
            </a:r>
            <a:r>
              <a:rPr lang="en-US" b="1" dirty="0">
                <a:solidFill>
                  <a:srgbClr val="0070C0"/>
                </a:solidFill>
                <a:latin typeface="Cambria Math" panose="02040503050406030204" pitchFamily="18" charset="0"/>
              </a:rPr>
              <a:t>𝑚</a:t>
            </a:r>
            <a:r>
              <a:rPr lang="en-US" b="1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b="1" dirty="0">
                <a:latin typeface="Cambria Math" panose="02040503050406030204" pitchFamily="18" charset="0"/>
              </a:rPr>
              <a:t>+</a:t>
            </a:r>
            <a:r>
              <a:rPr lang="en-US" b="1" dirty="0">
                <a:solidFill>
                  <a:srgbClr val="0070C0"/>
                </a:solidFill>
                <a:latin typeface="Cambria Math" panose="02040503050406030204" pitchFamily="18" charset="0"/>
              </a:rPr>
              <a:t>𝑐</a:t>
            </a:r>
            <a:r>
              <a:rPr lang="en-US" b="1" dirty="0">
                <a:latin typeface="Cambria Math" panose="02040503050406030204" pitchFamily="18" charset="0"/>
              </a:rPr>
              <a:t> </a:t>
            </a:r>
            <a:r>
              <a:rPr lang="en-US" dirty="0">
                <a:latin typeface="Cambria Math" panose="02040503050406030204" pitchFamily="18" charset="0"/>
              </a:rPr>
              <a:t>– Concrete form of a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D9B3F-817E-F0C6-3426-BD70290D5F72}"/>
              </a:ext>
            </a:extLst>
          </p:cNvPr>
          <p:cNvSpPr txBox="1"/>
          <p:nvPr/>
        </p:nvSpPr>
        <p:spPr>
          <a:xfrm>
            <a:off x="1236849" y="3429000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7521EE-1506-31EF-C319-C58876239E4E}"/>
              </a:ext>
            </a:extLst>
          </p:cNvPr>
          <p:cNvSpPr txBox="1"/>
          <p:nvPr/>
        </p:nvSpPr>
        <p:spPr>
          <a:xfrm>
            <a:off x="2826163" y="3429000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128193-47C8-06E9-B715-0892EA3493A7}"/>
              </a:ext>
            </a:extLst>
          </p:cNvPr>
          <p:cNvSpPr txBox="1"/>
          <p:nvPr/>
        </p:nvSpPr>
        <p:spPr>
          <a:xfrm>
            <a:off x="4431806" y="3429000"/>
            <a:ext cx="1328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Parameters</a:t>
            </a:r>
          </a:p>
        </p:txBody>
      </p:sp>
    </p:spTree>
    <p:extLst>
      <p:ext uri="{BB962C8B-B14F-4D97-AF65-F5344CB8AC3E}">
        <p14:creationId xmlns:p14="http://schemas.microsoft.com/office/powerpoint/2010/main" val="22318362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3FC5-4713-AEEB-6A21-7C064104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E488-006D-AD65-68E7-94E555721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10105-018A-FCD9-270D-1246772C8777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</p:spTree>
    <p:extLst>
      <p:ext uri="{BB962C8B-B14F-4D97-AF65-F5344CB8AC3E}">
        <p14:creationId xmlns:p14="http://schemas.microsoft.com/office/powerpoint/2010/main" val="2160046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6FAC4-9A2D-FD0C-0F09-74FB58E66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02339-F685-37B2-94FE-E2E282C69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70E4A4-D5AA-B19E-C18F-2EC5330CFC8B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A9C2E5-2032-0BC1-CD64-5A865CA6A9B0}"/>
              </a:ext>
            </a:extLst>
          </p:cNvPr>
          <p:cNvSpPr txBox="1"/>
          <p:nvPr/>
        </p:nvSpPr>
        <p:spPr>
          <a:xfrm>
            <a:off x="1681842" y="2567225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9329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5D900-4A03-5721-7F3E-B91E97575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56409-8037-A7FB-1CCE-FFE61C0E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C5C0-6CED-0442-6129-51AF3724D7A3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B4FF6-2080-4530-F688-82C0F1729C58}"/>
              </a:ext>
            </a:extLst>
          </p:cNvPr>
          <p:cNvSpPr txBox="1"/>
          <p:nvPr/>
        </p:nvSpPr>
        <p:spPr>
          <a:xfrm>
            <a:off x="1681842" y="2567225"/>
            <a:ext cx="2733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</a:t>
            </a:r>
          </a:p>
        </p:txBody>
      </p:sp>
    </p:spTree>
    <p:extLst>
      <p:ext uri="{BB962C8B-B14F-4D97-AF65-F5344CB8AC3E}">
        <p14:creationId xmlns:p14="http://schemas.microsoft.com/office/powerpoint/2010/main" val="3875867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6459C-7D62-054C-F1E2-1B5878B0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6C54-D938-C85D-7646-5131EA80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A8293-E21D-FE2A-B0B8-C8BF443DD560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4A0FD-B660-4CF1-9130-8B98BE8A9DDB}"/>
              </a:ext>
            </a:extLst>
          </p:cNvPr>
          <p:cNvSpPr txBox="1"/>
          <p:nvPr/>
        </p:nvSpPr>
        <p:spPr>
          <a:xfrm>
            <a:off x="1681842" y="2567225"/>
            <a:ext cx="3443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541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DEA4-5D25-B1BD-9CC7-9F235A0CF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DDC13-1815-D73A-C0AC-B90F63E45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99A6C-289B-69C3-8818-50CE1B08BF93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67FA1-FA07-75A9-3CD5-3DE952CB722A}"/>
              </a:ext>
            </a:extLst>
          </p:cNvPr>
          <p:cNvSpPr txBox="1"/>
          <p:nvPr/>
        </p:nvSpPr>
        <p:spPr>
          <a:xfrm>
            <a:off x="1681842" y="2567225"/>
            <a:ext cx="640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by the mathematical function</a:t>
            </a:r>
          </a:p>
        </p:txBody>
      </p:sp>
    </p:spTree>
    <p:extLst>
      <p:ext uri="{BB962C8B-B14F-4D97-AF65-F5344CB8AC3E}">
        <p14:creationId xmlns:p14="http://schemas.microsoft.com/office/powerpoint/2010/main" val="4048646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74506-E0C6-E3C4-26CC-65DA1FAC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B9ABB-1E64-7496-2B23-1F655D640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09D54-2227-0FF2-641B-661F77352BF5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3D60B9-676E-E4F2-C7E5-9981D658BCD4}"/>
              </a:ext>
            </a:extLst>
          </p:cNvPr>
          <p:cNvSpPr txBox="1"/>
          <p:nvPr/>
        </p:nvSpPr>
        <p:spPr>
          <a:xfrm>
            <a:off x="1681842" y="2567225"/>
            <a:ext cx="640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by the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BC86C6-829F-794C-1A9E-F365366C90B8}"/>
              </a:ext>
            </a:extLst>
          </p:cNvPr>
          <p:cNvSpPr txBox="1"/>
          <p:nvPr/>
        </p:nvSpPr>
        <p:spPr>
          <a:xfrm>
            <a:off x="4595564" y="3324028"/>
            <a:ext cx="28998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TRANSFORMATION LOGIC</a:t>
            </a:r>
          </a:p>
        </p:txBody>
      </p:sp>
    </p:spTree>
    <p:extLst>
      <p:ext uri="{BB962C8B-B14F-4D97-AF65-F5344CB8AC3E}">
        <p14:creationId xmlns:p14="http://schemas.microsoft.com/office/powerpoint/2010/main" val="1335219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508D5-431F-E664-0F28-45891FC3B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B13FB-9AB1-5720-C719-4E57B1D4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2E6258-6864-3F26-D762-60B479A695C2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859F26-2583-BC07-A0D5-595B7A7CBEA3}"/>
              </a:ext>
            </a:extLst>
          </p:cNvPr>
          <p:cNvSpPr txBox="1"/>
          <p:nvPr/>
        </p:nvSpPr>
        <p:spPr>
          <a:xfrm>
            <a:off x="1681842" y="2567225"/>
            <a:ext cx="640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by the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C1F93-7A94-74CF-1345-A5B9D3BF8BA5}"/>
              </a:ext>
            </a:extLst>
          </p:cNvPr>
          <p:cNvSpPr txBox="1"/>
          <p:nvPr/>
        </p:nvSpPr>
        <p:spPr>
          <a:xfrm>
            <a:off x="4595564" y="3324028"/>
            <a:ext cx="28998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TRANSFORMATION LOGIC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A87C83-A2DF-A031-99D2-45ECD91E0AAF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3107978" y="3693360"/>
            <a:ext cx="2937503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B3233A-EC5E-F609-E03F-BC3DA555DCC2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045481" y="3693360"/>
            <a:ext cx="2614370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9228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F08A-82A6-45FB-A2A8-420A2B02C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0D3C-3554-A8C5-8FBB-602534039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31128-DE8F-79BE-4A52-97E0919F3DAA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F55593-FFE5-9FCF-3481-B14284834BBD}"/>
              </a:ext>
            </a:extLst>
          </p:cNvPr>
          <p:cNvSpPr txBox="1"/>
          <p:nvPr/>
        </p:nvSpPr>
        <p:spPr>
          <a:xfrm>
            <a:off x="1681842" y="2567225"/>
            <a:ext cx="640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by the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74EDB5-F42A-0307-2C94-2D8D6AF81158}"/>
              </a:ext>
            </a:extLst>
          </p:cNvPr>
          <p:cNvSpPr txBox="1"/>
          <p:nvPr/>
        </p:nvSpPr>
        <p:spPr>
          <a:xfrm>
            <a:off x="4595564" y="3324028"/>
            <a:ext cx="28998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TRANSFORMATION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28D490-5628-2B93-126A-1D7C9427E811}"/>
              </a:ext>
            </a:extLst>
          </p:cNvPr>
          <p:cNvSpPr txBox="1"/>
          <p:nvPr/>
        </p:nvSpPr>
        <p:spPr>
          <a:xfrm>
            <a:off x="1620391" y="4254756"/>
            <a:ext cx="29751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STRUCTURE OF FUNCTION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D3A131-2CC8-8563-1E61-55A11C800E7D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3107978" y="3693360"/>
            <a:ext cx="2937503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3B67FB-0B13-BEBE-5981-DD32BA4733F9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045481" y="3693360"/>
            <a:ext cx="2614370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6212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48568-D69C-22E7-2BA3-D44745E46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06B8D-A5D0-921A-F00B-DA94E7D9A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F2D28-F416-5B88-D491-B6897605E73B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DA642E-8678-8586-1DC4-7671D18E627D}"/>
              </a:ext>
            </a:extLst>
          </p:cNvPr>
          <p:cNvSpPr txBox="1"/>
          <p:nvPr/>
        </p:nvSpPr>
        <p:spPr>
          <a:xfrm>
            <a:off x="1681842" y="2567225"/>
            <a:ext cx="640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by the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A62B6D-09C6-F733-800C-D9A3EEE75380}"/>
              </a:ext>
            </a:extLst>
          </p:cNvPr>
          <p:cNvSpPr txBox="1"/>
          <p:nvPr/>
        </p:nvSpPr>
        <p:spPr>
          <a:xfrm>
            <a:off x="4595564" y="3324028"/>
            <a:ext cx="28998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TRANSFORMATION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0AACCE-9464-1D72-BF85-9A5699C855A0}"/>
              </a:ext>
            </a:extLst>
          </p:cNvPr>
          <p:cNvSpPr txBox="1"/>
          <p:nvPr/>
        </p:nvSpPr>
        <p:spPr>
          <a:xfrm>
            <a:off x="1620391" y="4254756"/>
            <a:ext cx="29751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STRUCTURE OF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A87997-2949-4EB6-01D3-2F729F2559D4}"/>
              </a:ext>
            </a:extLst>
          </p:cNvPr>
          <p:cNvSpPr txBox="1"/>
          <p:nvPr/>
        </p:nvSpPr>
        <p:spPr>
          <a:xfrm>
            <a:off x="7495397" y="4254756"/>
            <a:ext cx="23289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PARAMETER VALUES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482366-8009-695D-0EAD-5C6EF3F304B3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3107978" y="3693360"/>
            <a:ext cx="2937503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821299A-C0A0-E172-9B1F-0641729C4A33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6045481" y="3693360"/>
            <a:ext cx="2614370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7644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CAF6F-10D0-5AFF-1911-45A8700FE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75C46-C032-1B28-B7FB-90C5D155C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63CD4C-AC0B-6056-84DB-B91F1549D772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625187-DF48-C934-7751-75654770C3E6}"/>
              </a:ext>
            </a:extLst>
          </p:cNvPr>
          <p:cNvSpPr txBox="1"/>
          <p:nvPr/>
        </p:nvSpPr>
        <p:spPr>
          <a:xfrm>
            <a:off x="1681842" y="2567225"/>
            <a:ext cx="640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by the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5A329-6921-2808-9B96-8764B6112A33}"/>
              </a:ext>
            </a:extLst>
          </p:cNvPr>
          <p:cNvSpPr txBox="1"/>
          <p:nvPr/>
        </p:nvSpPr>
        <p:spPr>
          <a:xfrm>
            <a:off x="4595564" y="3324028"/>
            <a:ext cx="28998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TRANSFORMATION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621FA6-6B21-9CEE-52E2-C9A2E5F93A29}"/>
              </a:ext>
            </a:extLst>
          </p:cNvPr>
          <p:cNvSpPr txBox="1"/>
          <p:nvPr/>
        </p:nvSpPr>
        <p:spPr>
          <a:xfrm>
            <a:off x="1620391" y="4254756"/>
            <a:ext cx="29751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STRUCTURE OF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AF93A-DD76-FF08-6993-E381890B2347}"/>
              </a:ext>
            </a:extLst>
          </p:cNvPr>
          <p:cNvSpPr txBox="1"/>
          <p:nvPr/>
        </p:nvSpPr>
        <p:spPr>
          <a:xfrm>
            <a:off x="7495397" y="4254756"/>
            <a:ext cx="23289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PARAMETER VALUES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B33EDF-9175-37AA-5A5A-3D10F4C74173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3107978" y="3693360"/>
            <a:ext cx="2937503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F9C822-7F4F-D502-0D37-3158DBA24E3E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6045481" y="3693360"/>
            <a:ext cx="2614370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523F3AA-B13E-C634-2FBD-75D677EE0B21}"/>
              </a:ext>
            </a:extLst>
          </p:cNvPr>
          <p:cNvSpPr txBox="1"/>
          <p:nvPr/>
        </p:nvSpPr>
        <p:spPr>
          <a:xfrm>
            <a:off x="5029395" y="5167312"/>
            <a:ext cx="2323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3600" b="1" dirty="0">
                <a:latin typeface="Cambria Math" panose="02040503050406030204" pitchFamily="18" charset="0"/>
              </a:rPr>
              <a:t>=</a:t>
            </a:r>
            <a:r>
              <a:rPr lang="en-US" sz="3600" b="1" dirty="0">
                <a:solidFill>
                  <a:srgbClr val="0070C0"/>
                </a:solidFill>
                <a:latin typeface="Cambria Math" panose="02040503050406030204" pitchFamily="18" charset="0"/>
              </a:rPr>
              <a:t>𝑚</a:t>
            </a:r>
            <a:r>
              <a:rPr lang="en-US" sz="3600" b="1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3600" b="1" dirty="0">
                <a:latin typeface="Cambria Math" panose="02040503050406030204" pitchFamily="18" charset="0"/>
              </a:rPr>
              <a:t>+</a:t>
            </a:r>
            <a:r>
              <a:rPr lang="en-US" sz="3600" b="1" dirty="0">
                <a:solidFill>
                  <a:srgbClr val="0070C0"/>
                </a:solidFill>
                <a:latin typeface="Cambria Math" panose="02040503050406030204" pitchFamily="18" charset="0"/>
              </a:rPr>
              <a:t>𝑐</a:t>
            </a:r>
            <a:r>
              <a:rPr lang="en-US" sz="3600" b="1" dirty="0">
                <a:latin typeface="Cambria Math" panose="02040503050406030204" pitchFamily="18" charset="0"/>
              </a:rPr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558557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96633-F8FE-0969-C8F7-301157BC5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E4BFF-2BC4-0C27-09AA-703D8154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A3E681-75B7-F077-0E22-94F0855BE4FB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BB10F6-57AE-F338-3831-684A28F6AC44}"/>
              </a:ext>
            </a:extLst>
          </p:cNvPr>
          <p:cNvSpPr txBox="1"/>
          <p:nvPr/>
        </p:nvSpPr>
        <p:spPr>
          <a:xfrm>
            <a:off x="1681842" y="2567225"/>
            <a:ext cx="640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by the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B91793-7514-F645-24AD-BCED6F9DA80A}"/>
              </a:ext>
            </a:extLst>
          </p:cNvPr>
          <p:cNvSpPr txBox="1"/>
          <p:nvPr/>
        </p:nvSpPr>
        <p:spPr>
          <a:xfrm>
            <a:off x="4595564" y="3324028"/>
            <a:ext cx="28998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TRANSFORMATION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2FDA4D-191E-514F-94F5-953314C694AE}"/>
              </a:ext>
            </a:extLst>
          </p:cNvPr>
          <p:cNvSpPr txBox="1"/>
          <p:nvPr/>
        </p:nvSpPr>
        <p:spPr>
          <a:xfrm>
            <a:off x="1620391" y="4254756"/>
            <a:ext cx="29751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STRUCTURE OF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2363CF-FEA8-8EE2-79AE-7F5A17416A1B}"/>
              </a:ext>
            </a:extLst>
          </p:cNvPr>
          <p:cNvSpPr txBox="1"/>
          <p:nvPr/>
        </p:nvSpPr>
        <p:spPr>
          <a:xfrm>
            <a:off x="7495397" y="4254756"/>
            <a:ext cx="23289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PARAMETER VALUES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2F3C393-5582-0A4E-5547-3F4D1E0B0768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3107978" y="3693360"/>
            <a:ext cx="2937503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581C13-9B03-D081-6908-0145E8CCCEC2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6045481" y="3693360"/>
            <a:ext cx="2614370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2E3D0C-4BC3-2111-5C1C-E1F5FE1707C4}"/>
              </a:ext>
            </a:extLst>
          </p:cNvPr>
          <p:cNvSpPr txBox="1"/>
          <p:nvPr/>
        </p:nvSpPr>
        <p:spPr>
          <a:xfrm>
            <a:off x="5029395" y="5167312"/>
            <a:ext cx="2323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3600" b="1" dirty="0">
                <a:latin typeface="Cambria Math" panose="02040503050406030204" pitchFamily="18" charset="0"/>
              </a:rPr>
              <a:t>=</a:t>
            </a:r>
            <a:r>
              <a:rPr lang="en-US" sz="3600" b="1" dirty="0">
                <a:solidFill>
                  <a:srgbClr val="0070C0"/>
                </a:solidFill>
                <a:latin typeface="Cambria Math" panose="02040503050406030204" pitchFamily="18" charset="0"/>
              </a:rPr>
              <a:t>𝑚</a:t>
            </a:r>
            <a:r>
              <a:rPr lang="en-US" sz="3600" b="1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3600" b="1" dirty="0">
                <a:latin typeface="Cambria Math" panose="02040503050406030204" pitchFamily="18" charset="0"/>
              </a:rPr>
              <a:t>+</a:t>
            </a:r>
            <a:r>
              <a:rPr lang="en-US" sz="3600" b="1" dirty="0">
                <a:solidFill>
                  <a:srgbClr val="0070C0"/>
                </a:solidFill>
                <a:latin typeface="Cambria Math" panose="02040503050406030204" pitchFamily="18" charset="0"/>
              </a:rPr>
              <a:t>𝑐</a:t>
            </a:r>
            <a:r>
              <a:rPr lang="en-US" sz="3600" b="1" dirty="0">
                <a:latin typeface="Cambria Math" panose="02040503050406030204" pitchFamily="18" charset="0"/>
              </a:rPr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75451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CC751-FD95-C7B9-B005-B15041653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AEEB2-E9C3-0772-1D37-48CEF1A09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A6E72-3D17-3162-DAC1-83D407D1CA61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5CE77-919C-5FB2-6A54-819CB4FDF499}"/>
              </a:ext>
            </a:extLst>
          </p:cNvPr>
          <p:cNvSpPr txBox="1"/>
          <p:nvPr/>
        </p:nvSpPr>
        <p:spPr>
          <a:xfrm>
            <a:off x="1681842" y="2567225"/>
            <a:ext cx="640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by the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0B045-0E7C-7161-B197-E14B2C5DC3EE}"/>
              </a:ext>
            </a:extLst>
          </p:cNvPr>
          <p:cNvSpPr txBox="1"/>
          <p:nvPr/>
        </p:nvSpPr>
        <p:spPr>
          <a:xfrm>
            <a:off x="4595564" y="3324028"/>
            <a:ext cx="28998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TRANSFORMATION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7E3B46-8A5E-CA5C-01A9-966A32863377}"/>
              </a:ext>
            </a:extLst>
          </p:cNvPr>
          <p:cNvSpPr txBox="1"/>
          <p:nvPr/>
        </p:nvSpPr>
        <p:spPr>
          <a:xfrm>
            <a:off x="1620391" y="4254756"/>
            <a:ext cx="29751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STRUCTURE OF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3433F5-3F68-3534-CF74-57D0D6D60F9F}"/>
              </a:ext>
            </a:extLst>
          </p:cNvPr>
          <p:cNvSpPr txBox="1"/>
          <p:nvPr/>
        </p:nvSpPr>
        <p:spPr>
          <a:xfrm>
            <a:off x="7495397" y="4254756"/>
            <a:ext cx="23289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PARAMETER VALUES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6B2CCB-EEF7-C540-CC22-B71CF22FC8F5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3107978" y="3693360"/>
            <a:ext cx="2937503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35304A-4260-370C-F3AE-8078D391816C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6045481" y="3693360"/>
            <a:ext cx="2614370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654538E-4E0C-66CE-CB37-6113A5BA8E35}"/>
              </a:ext>
            </a:extLst>
          </p:cNvPr>
          <p:cNvSpPr txBox="1"/>
          <p:nvPr/>
        </p:nvSpPr>
        <p:spPr>
          <a:xfrm>
            <a:off x="5029395" y="5167312"/>
            <a:ext cx="2323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3600" b="1" dirty="0">
                <a:latin typeface="Cambria Math" panose="02040503050406030204" pitchFamily="18" charset="0"/>
              </a:rPr>
              <a:t>=</a:t>
            </a:r>
            <a:r>
              <a:rPr lang="en-US" sz="3600" b="1" dirty="0">
                <a:solidFill>
                  <a:srgbClr val="0070C0"/>
                </a:solidFill>
                <a:latin typeface="Cambria Math" panose="02040503050406030204" pitchFamily="18" charset="0"/>
              </a:rPr>
              <a:t>𝑚</a:t>
            </a:r>
            <a:r>
              <a:rPr lang="en-US" sz="3600" b="1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3600" b="1" dirty="0">
                <a:latin typeface="Cambria Math" panose="02040503050406030204" pitchFamily="18" charset="0"/>
              </a:rPr>
              <a:t>+</a:t>
            </a:r>
            <a:r>
              <a:rPr lang="en-US" sz="3600" b="1" dirty="0">
                <a:solidFill>
                  <a:srgbClr val="0070C0"/>
                </a:solidFill>
                <a:latin typeface="Cambria Math" panose="02040503050406030204" pitchFamily="18" charset="0"/>
              </a:rPr>
              <a:t>𝑐</a:t>
            </a:r>
            <a:r>
              <a:rPr lang="en-US" sz="3600" b="1" dirty="0">
                <a:latin typeface="Cambria Math" panose="02040503050406030204" pitchFamily="18" charset="0"/>
              </a:rPr>
              <a:t> 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DB7309-9B11-A8F7-5F9E-569BB6F733BA}"/>
              </a:ext>
            </a:extLst>
          </p:cNvPr>
          <p:cNvSpPr txBox="1"/>
          <p:nvPr/>
        </p:nvSpPr>
        <p:spPr>
          <a:xfrm>
            <a:off x="2530928" y="4638850"/>
            <a:ext cx="1709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Assumed</a:t>
            </a:r>
          </a:p>
        </p:txBody>
      </p:sp>
    </p:spTree>
    <p:extLst>
      <p:ext uri="{BB962C8B-B14F-4D97-AF65-F5344CB8AC3E}">
        <p14:creationId xmlns:p14="http://schemas.microsoft.com/office/powerpoint/2010/main" val="11745984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B3713-023F-5862-981C-EE3C28AC5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9FD3-47FF-990D-5A61-B8FA1193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94E87A-4BAE-6ADC-C065-AFF8EFC767AF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835FB-2F4F-4595-04A6-E3ED9FCBA6E1}"/>
              </a:ext>
            </a:extLst>
          </p:cNvPr>
          <p:cNvSpPr txBox="1"/>
          <p:nvPr/>
        </p:nvSpPr>
        <p:spPr>
          <a:xfrm>
            <a:off x="1681842" y="2567225"/>
            <a:ext cx="640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by the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0367E-C797-A969-5F6B-E02720BD4844}"/>
              </a:ext>
            </a:extLst>
          </p:cNvPr>
          <p:cNvSpPr txBox="1"/>
          <p:nvPr/>
        </p:nvSpPr>
        <p:spPr>
          <a:xfrm>
            <a:off x="4595564" y="3324028"/>
            <a:ext cx="28998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TRANSFORMATION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8B38E-980D-6B1E-CFDF-C3EF6E59F11F}"/>
              </a:ext>
            </a:extLst>
          </p:cNvPr>
          <p:cNvSpPr txBox="1"/>
          <p:nvPr/>
        </p:nvSpPr>
        <p:spPr>
          <a:xfrm>
            <a:off x="1620391" y="4254756"/>
            <a:ext cx="29751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STRUCTURE OF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9CB4A6-CA9D-504E-18DF-E9224F641453}"/>
              </a:ext>
            </a:extLst>
          </p:cNvPr>
          <p:cNvSpPr txBox="1"/>
          <p:nvPr/>
        </p:nvSpPr>
        <p:spPr>
          <a:xfrm>
            <a:off x="7495397" y="4254756"/>
            <a:ext cx="23289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PARAMETER VALUES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38BDF59-E600-E4D8-8830-30D0C6CDC357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3107978" y="3693360"/>
            <a:ext cx="2937503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A27842-BB71-2EAF-8A89-145675FFFEB5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6045481" y="3693360"/>
            <a:ext cx="2614370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B7B456-ABBA-B46D-2D82-DA698205239B}"/>
              </a:ext>
            </a:extLst>
          </p:cNvPr>
          <p:cNvSpPr txBox="1"/>
          <p:nvPr/>
        </p:nvSpPr>
        <p:spPr>
          <a:xfrm>
            <a:off x="5029395" y="5167312"/>
            <a:ext cx="2323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3600" b="1" dirty="0">
                <a:latin typeface="Cambria Math" panose="02040503050406030204" pitchFamily="18" charset="0"/>
              </a:rPr>
              <a:t>=</a:t>
            </a:r>
            <a:r>
              <a:rPr lang="en-US" sz="3600" b="1" dirty="0">
                <a:solidFill>
                  <a:srgbClr val="0070C0"/>
                </a:solidFill>
                <a:latin typeface="Cambria Math" panose="02040503050406030204" pitchFamily="18" charset="0"/>
              </a:rPr>
              <a:t>𝑚</a:t>
            </a:r>
            <a:r>
              <a:rPr lang="en-US" sz="3600" b="1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3600" b="1" dirty="0">
                <a:latin typeface="Cambria Math" panose="02040503050406030204" pitchFamily="18" charset="0"/>
              </a:rPr>
              <a:t>+</a:t>
            </a:r>
            <a:r>
              <a:rPr lang="en-US" sz="3600" b="1" dirty="0">
                <a:solidFill>
                  <a:srgbClr val="0070C0"/>
                </a:solidFill>
                <a:latin typeface="Cambria Math" panose="02040503050406030204" pitchFamily="18" charset="0"/>
              </a:rPr>
              <a:t>𝑐</a:t>
            </a:r>
            <a:r>
              <a:rPr lang="en-US" sz="3600" b="1" dirty="0">
                <a:latin typeface="Cambria Math" panose="02040503050406030204" pitchFamily="18" charset="0"/>
              </a:rPr>
              <a:t> 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980DC7-4180-72F0-887A-3A53FCE4060E}"/>
              </a:ext>
            </a:extLst>
          </p:cNvPr>
          <p:cNvSpPr txBox="1"/>
          <p:nvPr/>
        </p:nvSpPr>
        <p:spPr>
          <a:xfrm>
            <a:off x="2530928" y="4638850"/>
            <a:ext cx="1709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Assumed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2ECFF7-A023-0CEB-4377-42C92A2617C7}"/>
              </a:ext>
            </a:extLst>
          </p:cNvPr>
          <p:cNvSpPr txBox="1"/>
          <p:nvPr/>
        </p:nvSpPr>
        <p:spPr>
          <a:xfrm>
            <a:off x="8273143" y="4604357"/>
            <a:ext cx="1709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Learned</a:t>
            </a:r>
          </a:p>
        </p:txBody>
      </p:sp>
    </p:spTree>
    <p:extLst>
      <p:ext uri="{BB962C8B-B14F-4D97-AF65-F5344CB8AC3E}">
        <p14:creationId xmlns:p14="http://schemas.microsoft.com/office/powerpoint/2010/main" val="13783638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F25EA-3784-653D-5331-587BD282A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21EEA-3036-BE59-C48C-DAD7C79C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called Machine Learning Model?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BB2C4-18F8-5203-85A2-545F8B0ADA08}"/>
              </a:ext>
            </a:extLst>
          </p:cNvPr>
          <p:cNvSpPr txBox="1"/>
          <p:nvPr/>
        </p:nvSpPr>
        <p:spPr>
          <a:xfrm>
            <a:off x="1681843" y="1690688"/>
            <a:ext cx="6096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800" b="0" i="0" u="none" strike="noStrike" baseline="0" dirty="0">
              <a:latin typeface="Cambria Math" panose="02040503050406030204" pitchFamily="18" charset="0"/>
            </a:endParaRPr>
          </a:p>
          <a:p>
            <a:r>
              <a:rPr lang="en-US" sz="1800" b="1" i="0" u="none" strike="noStrike" baseline="0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=𝑓(</a:t>
            </a:r>
            <a:r>
              <a:rPr lang="en-US" sz="1800" b="1" i="0" u="none" strike="noStrike" baseline="0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|</a:t>
            </a:r>
            <a:r>
              <a:rPr lang="en-US" sz="1800" b="1" i="0" u="none" strike="noStrike" baseline="0" dirty="0">
                <a:solidFill>
                  <a:srgbClr val="0070C0"/>
                </a:solidFill>
                <a:latin typeface="Cambria Math" panose="02040503050406030204" pitchFamily="18" charset="0"/>
              </a:rPr>
              <a:t>𝑤</a:t>
            </a:r>
            <a:r>
              <a:rPr lang="en-US" sz="1800" b="1" i="0" u="none" strike="noStrike" baseline="0" dirty="0">
                <a:latin typeface="Cambria Math" panose="02040503050406030204" pitchFamily="18" charset="0"/>
              </a:rPr>
              <a:t>) </a:t>
            </a:r>
            <a:r>
              <a:rPr lang="en-US" sz="1800" b="0" i="0" u="none" strike="noStrike" baseline="0" dirty="0">
                <a:latin typeface="Cambria Math" panose="02040503050406030204" pitchFamily="18" charset="0"/>
              </a:rPr>
              <a:t>– Abstract form of Mathematical Function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8FD68-9A93-F75D-A540-2130C10DA8BD}"/>
              </a:ext>
            </a:extLst>
          </p:cNvPr>
          <p:cNvSpPr txBox="1"/>
          <p:nvPr/>
        </p:nvSpPr>
        <p:spPr>
          <a:xfrm>
            <a:off x="1681842" y="2567225"/>
            <a:ext cx="6408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Input </a:t>
            </a:r>
            <a:r>
              <a:rPr lang="en-US" dirty="0"/>
              <a:t>is transformed to an </a:t>
            </a:r>
            <a:r>
              <a:rPr lang="en-US" dirty="0">
                <a:solidFill>
                  <a:srgbClr val="00B050"/>
                </a:solidFill>
              </a:rPr>
              <a:t>output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by the mathematical function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130AB0-AA5F-9123-64C7-0FD398CC500F}"/>
              </a:ext>
            </a:extLst>
          </p:cNvPr>
          <p:cNvSpPr txBox="1"/>
          <p:nvPr/>
        </p:nvSpPr>
        <p:spPr>
          <a:xfrm>
            <a:off x="4595564" y="3324028"/>
            <a:ext cx="28998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/>
              <a:t>TRANSFORMATION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8FF84B-55F1-31F1-45FC-742CBEF3C54B}"/>
              </a:ext>
            </a:extLst>
          </p:cNvPr>
          <p:cNvSpPr txBox="1"/>
          <p:nvPr/>
        </p:nvSpPr>
        <p:spPr>
          <a:xfrm>
            <a:off x="1620391" y="4254756"/>
            <a:ext cx="297517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STRUCTURE OF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F8BD95-7E58-600F-A538-B6F6A5538218}"/>
              </a:ext>
            </a:extLst>
          </p:cNvPr>
          <p:cNvSpPr txBox="1"/>
          <p:nvPr/>
        </p:nvSpPr>
        <p:spPr>
          <a:xfrm>
            <a:off x="7495397" y="4254756"/>
            <a:ext cx="232890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PARAMETER VALUES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BAF293D-C9E0-B634-BEA2-720A5CBD1B1E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3107978" y="3693360"/>
            <a:ext cx="2937503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F3407C-3D05-BE59-5497-DBF1F96FB03E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6045481" y="3693360"/>
            <a:ext cx="2614370" cy="56139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22DFA1-08DA-3E1D-F28F-B911BE45EF68}"/>
              </a:ext>
            </a:extLst>
          </p:cNvPr>
          <p:cNvSpPr txBox="1"/>
          <p:nvPr/>
        </p:nvSpPr>
        <p:spPr>
          <a:xfrm>
            <a:off x="5029395" y="5167312"/>
            <a:ext cx="23232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Cambria Math" panose="02040503050406030204" pitchFamily="18" charset="0"/>
              </a:rPr>
              <a:t>𝑦</a:t>
            </a:r>
            <a:r>
              <a:rPr lang="en-US" sz="3600" b="1" dirty="0">
                <a:latin typeface="Cambria Math" panose="02040503050406030204" pitchFamily="18" charset="0"/>
              </a:rPr>
              <a:t>=</a:t>
            </a:r>
            <a:r>
              <a:rPr lang="en-US" sz="3600" b="1" dirty="0">
                <a:solidFill>
                  <a:srgbClr val="0070C0"/>
                </a:solidFill>
                <a:latin typeface="Cambria Math" panose="02040503050406030204" pitchFamily="18" charset="0"/>
              </a:rPr>
              <a:t>𝑚</a:t>
            </a:r>
            <a:r>
              <a:rPr lang="en-US" sz="3600" b="1" dirty="0">
                <a:solidFill>
                  <a:schemeClr val="accent2"/>
                </a:solidFill>
                <a:latin typeface="Cambria Math" panose="02040503050406030204" pitchFamily="18" charset="0"/>
              </a:rPr>
              <a:t>𝑥</a:t>
            </a:r>
            <a:r>
              <a:rPr lang="en-US" sz="3600" b="1" dirty="0">
                <a:latin typeface="Cambria Math" panose="02040503050406030204" pitchFamily="18" charset="0"/>
              </a:rPr>
              <a:t>+</a:t>
            </a:r>
            <a:r>
              <a:rPr lang="en-US" sz="3600" b="1" dirty="0">
                <a:solidFill>
                  <a:srgbClr val="0070C0"/>
                </a:solidFill>
                <a:latin typeface="Cambria Math" panose="02040503050406030204" pitchFamily="18" charset="0"/>
              </a:rPr>
              <a:t>𝑐</a:t>
            </a:r>
            <a:r>
              <a:rPr lang="en-US" sz="3600" b="1" dirty="0">
                <a:latin typeface="Cambria Math" panose="02040503050406030204" pitchFamily="18" charset="0"/>
              </a:rPr>
              <a:t> </a:t>
            </a:r>
            <a:endParaRPr lang="en-US" sz="3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812B08-26E4-5863-0761-1AC5C49E81EF}"/>
              </a:ext>
            </a:extLst>
          </p:cNvPr>
          <p:cNvSpPr txBox="1"/>
          <p:nvPr/>
        </p:nvSpPr>
        <p:spPr>
          <a:xfrm>
            <a:off x="2530928" y="4638850"/>
            <a:ext cx="1709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Assumed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6D5E62-7744-8D1B-6CC0-4E67D6B490BB}"/>
              </a:ext>
            </a:extLst>
          </p:cNvPr>
          <p:cNvSpPr txBox="1"/>
          <p:nvPr/>
        </p:nvSpPr>
        <p:spPr>
          <a:xfrm>
            <a:off x="8273143" y="4604357"/>
            <a:ext cx="1709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Learned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C1A62-23DF-D556-54B9-5B051AC4DF24}"/>
              </a:ext>
            </a:extLst>
          </p:cNvPr>
          <p:cNvSpPr txBox="1"/>
          <p:nvPr/>
        </p:nvSpPr>
        <p:spPr>
          <a:xfrm>
            <a:off x="1729619" y="6072762"/>
            <a:ext cx="8631722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We ask the machine (computer program) to learn the function’s parameters from data</a:t>
            </a:r>
          </a:p>
        </p:txBody>
      </p:sp>
    </p:spTree>
    <p:extLst>
      <p:ext uri="{BB962C8B-B14F-4D97-AF65-F5344CB8AC3E}">
        <p14:creationId xmlns:p14="http://schemas.microsoft.com/office/powerpoint/2010/main" val="14832452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F7A3-1C75-AB59-E904-35931218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EF6B-903D-38FF-2F06-49822657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Machine learn?</a:t>
            </a:r>
          </a:p>
        </p:txBody>
      </p:sp>
    </p:spTree>
    <p:extLst>
      <p:ext uri="{BB962C8B-B14F-4D97-AF65-F5344CB8AC3E}">
        <p14:creationId xmlns:p14="http://schemas.microsoft.com/office/powerpoint/2010/main" val="30940728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94764-55AD-1BEE-2AEF-2B30EFD00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5F42-FE97-C709-56C6-8B74B38D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Machine learn?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14651-3315-20F5-3596-B65C8C059D65}"/>
              </a:ext>
            </a:extLst>
          </p:cNvPr>
          <p:cNvSpPr txBox="1"/>
          <p:nvPr/>
        </p:nvSpPr>
        <p:spPr>
          <a:xfrm>
            <a:off x="3053821" y="2989655"/>
            <a:ext cx="6084358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Machines (Coumputer Programs) can not learn on their own</a:t>
            </a:r>
          </a:p>
        </p:txBody>
      </p:sp>
    </p:spTree>
    <p:extLst>
      <p:ext uri="{BB962C8B-B14F-4D97-AF65-F5344CB8AC3E}">
        <p14:creationId xmlns:p14="http://schemas.microsoft.com/office/powerpoint/2010/main" val="5226721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D909-80A1-3072-1AA3-00063C79D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1B0D-7DE3-A68F-A230-5615B0D36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Machine learn?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18AD69-87EC-F5CA-D5D4-06C6C037B8C9}"/>
              </a:ext>
            </a:extLst>
          </p:cNvPr>
          <p:cNvSpPr txBox="1"/>
          <p:nvPr/>
        </p:nvSpPr>
        <p:spPr>
          <a:xfrm>
            <a:off x="3053821" y="2989655"/>
            <a:ext cx="6084358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Machines (Coumputer Programs) can not learn on their own</a:t>
            </a:r>
          </a:p>
        </p:txBody>
      </p:sp>
    </p:spTree>
    <p:extLst>
      <p:ext uri="{BB962C8B-B14F-4D97-AF65-F5344CB8AC3E}">
        <p14:creationId xmlns:p14="http://schemas.microsoft.com/office/powerpoint/2010/main" val="21227502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ED340-3B20-73FC-4E38-B80FE521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EA123-41CC-5C15-B547-B95FB4581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Machine learn?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77F3B-2F82-C612-7E2A-51A091E11581}"/>
              </a:ext>
            </a:extLst>
          </p:cNvPr>
          <p:cNvSpPr txBox="1"/>
          <p:nvPr/>
        </p:nvSpPr>
        <p:spPr>
          <a:xfrm>
            <a:off x="3053821" y="2989655"/>
            <a:ext cx="6084358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Machines (Coumputer Programs) can not learn on their own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6AD67-6C3C-2D5B-122E-AA3475DE818D}"/>
              </a:ext>
            </a:extLst>
          </p:cNvPr>
          <p:cNvSpPr txBox="1"/>
          <p:nvPr/>
        </p:nvSpPr>
        <p:spPr>
          <a:xfrm>
            <a:off x="3053821" y="3499014"/>
            <a:ext cx="6084358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They must be instructed about the learning process</a:t>
            </a:r>
          </a:p>
        </p:txBody>
      </p:sp>
    </p:spTree>
    <p:extLst>
      <p:ext uri="{BB962C8B-B14F-4D97-AF65-F5344CB8AC3E}">
        <p14:creationId xmlns:p14="http://schemas.microsoft.com/office/powerpoint/2010/main" val="254853609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F0D43-A9C1-7FFE-BC8C-9883D7315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3555-23B8-9929-CA64-355D2571B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Machine learn?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10B426-E731-1119-D9D3-CF6C4036F64F}"/>
              </a:ext>
            </a:extLst>
          </p:cNvPr>
          <p:cNvSpPr txBox="1"/>
          <p:nvPr/>
        </p:nvSpPr>
        <p:spPr>
          <a:xfrm>
            <a:off x="3053821" y="2989655"/>
            <a:ext cx="6084358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Machines (Coumputer Programs) can not learn on their own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4BB045-4E62-E587-CD12-F1E647951B8B}"/>
              </a:ext>
            </a:extLst>
          </p:cNvPr>
          <p:cNvSpPr txBox="1"/>
          <p:nvPr/>
        </p:nvSpPr>
        <p:spPr>
          <a:xfrm>
            <a:off x="3053821" y="3499014"/>
            <a:ext cx="6084358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They must be instructed about the learning process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615D66F-2AF5-5FB9-F197-4EF68B48BDAA}"/>
              </a:ext>
            </a:extLst>
          </p:cNvPr>
          <p:cNvSpPr txBox="1"/>
          <p:nvPr/>
        </p:nvSpPr>
        <p:spPr>
          <a:xfrm>
            <a:off x="3053821" y="4008373"/>
            <a:ext cx="6084358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ML Research Scientists and Applied ML Scientists</a:t>
            </a:r>
          </a:p>
        </p:txBody>
      </p:sp>
    </p:spTree>
    <p:extLst>
      <p:ext uri="{BB962C8B-B14F-4D97-AF65-F5344CB8AC3E}">
        <p14:creationId xmlns:p14="http://schemas.microsoft.com/office/powerpoint/2010/main" val="38367989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230E2-A69F-2F4A-348D-93A8168ED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84801C-5C0B-AA75-6A18-D3A0A243DC13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CA2ADFD-D886-C0B5-36C5-FFBA8BDE2C1D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29BC44-BCDB-98EB-A45A-0A5ACADCE30D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28E23AC-D3AD-8106-CE6B-45E692642DDA}"/>
              </a:ext>
            </a:extLst>
          </p:cNvPr>
          <p:cNvSpPr/>
          <p:nvPr/>
        </p:nvSpPr>
        <p:spPr>
          <a:xfrm>
            <a:off x="9863737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16E1B0-5716-A7F8-87C9-CEBF82DC0950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445F54C-5007-46D1-466A-3FFA1A98D743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78D3A97-4D78-CBB4-4E45-C26AA6275926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312ED-D8F0-FA21-A612-21676F47BAD5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874880-3539-F9A6-0EE1-3F51E2D94BA2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F6FDA9C-FFD3-525A-AF52-AFA2989FBD90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04B8DDD-6580-B76F-4E7D-B58663BBC205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A4081C-9E24-10F6-B341-B0E93A50C427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D300F29-C499-FA43-B2B4-0D0B6A08E4FE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CFC4B6-2FE7-4954-1149-A4EA1489E688}"/>
              </a:ext>
            </a:extLst>
          </p:cNvPr>
          <p:cNvSpPr txBox="1"/>
          <p:nvPr/>
        </p:nvSpPr>
        <p:spPr>
          <a:xfrm>
            <a:off x="727421" y="3656489"/>
            <a:ext cx="126028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Modeling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530CA5-0F2E-27E9-DAA0-CAA3058D2046}"/>
              </a:ext>
            </a:extLst>
          </p:cNvPr>
          <p:cNvSpPr txBox="1"/>
          <p:nvPr/>
        </p:nvSpPr>
        <p:spPr>
          <a:xfrm>
            <a:off x="4013583" y="3513275"/>
            <a:ext cx="4419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How do we produce this approximation? </a:t>
            </a:r>
          </a:p>
        </p:txBody>
      </p:sp>
    </p:spTree>
    <p:extLst>
      <p:ext uri="{BB962C8B-B14F-4D97-AF65-F5344CB8AC3E}">
        <p14:creationId xmlns:p14="http://schemas.microsoft.com/office/powerpoint/2010/main" val="29268410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77E0-BD3A-D14D-7D14-7A010B515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42606B3-F0D2-2365-E49B-D767C522E637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6A58BE-6341-8246-28C6-2D1D53D0167E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C205A1-F902-3585-AE61-6078652B45EE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982787-4110-8F70-518C-7ED375C84F8C}"/>
              </a:ext>
            </a:extLst>
          </p:cNvPr>
          <p:cNvSpPr/>
          <p:nvPr/>
        </p:nvSpPr>
        <p:spPr>
          <a:xfrm>
            <a:off x="9863737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4242EA3-7403-DA0A-9A39-F272C2AB6BE3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081785A-19DC-B4D2-4BD3-860698BD64F7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BA74E1B-731E-3100-448B-6EE66E43D3AF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AD4726-8FFD-EC52-8D7E-4835E6F9534C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3323344-F7F2-74C3-BD17-DB4D3C84810B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C030CB7-05D9-AB69-C105-76B2AD307837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FC4E65-5DDB-252A-280C-BB86C6075758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C46338-6ED9-8476-DB50-A2B6154CAD4F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1898DD-B1DF-4774-F131-798FFD8A255F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6E3AF22-7AAD-17C5-B3A6-8F62CC1DF65F}"/>
              </a:ext>
            </a:extLst>
          </p:cNvPr>
          <p:cNvSpPr txBox="1"/>
          <p:nvPr/>
        </p:nvSpPr>
        <p:spPr>
          <a:xfrm>
            <a:off x="727421" y="3656489"/>
            <a:ext cx="126028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Modeling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5FCC8F-265E-286A-87AE-B81B91CDA92C}"/>
              </a:ext>
            </a:extLst>
          </p:cNvPr>
          <p:cNvSpPr txBox="1"/>
          <p:nvPr/>
        </p:nvSpPr>
        <p:spPr>
          <a:xfrm>
            <a:off x="5358852" y="3487212"/>
            <a:ext cx="1904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By trail and error</a:t>
            </a:r>
          </a:p>
        </p:txBody>
      </p:sp>
    </p:spTree>
    <p:extLst>
      <p:ext uri="{BB962C8B-B14F-4D97-AF65-F5344CB8AC3E}">
        <p14:creationId xmlns:p14="http://schemas.microsoft.com/office/powerpoint/2010/main" val="30297918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3D384-F1EC-9615-5596-28CA7ADEA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B983748-DDD7-C2A5-AD31-1C544B5C8127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E7EE11-ADCF-10F6-11E6-30819E57C2B9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93E1ADA-5575-6D7A-FAEA-0FABCC48D4DA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197133-B34B-B64B-E023-ABF936D5CDC4}"/>
              </a:ext>
            </a:extLst>
          </p:cNvPr>
          <p:cNvSpPr/>
          <p:nvPr/>
        </p:nvSpPr>
        <p:spPr>
          <a:xfrm>
            <a:off x="9863737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2DB1EF-0FDD-FC0A-AB12-6F0FB52AC0F8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D2D5AC-7453-3371-ED03-3EE9BDB8B7B9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048C95F-CB07-5B4E-8399-340D3E77F541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8F860A-216C-6777-50FC-710D5615EECF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DAFDF5-1671-97F3-2151-08480A9F6AE9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68C711-653E-E6AA-A1FB-70C079521853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11218A-0D6B-805D-09C7-F386EB5B2AFA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D7769F-24D0-6792-1371-E526DAEC7A9C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B119394-41B9-EA10-298A-905906BA6E5C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E3D52EB-8CB6-3648-9AEF-7706FBC63B76}"/>
              </a:ext>
            </a:extLst>
          </p:cNvPr>
          <p:cNvSpPr txBox="1"/>
          <p:nvPr/>
        </p:nvSpPr>
        <p:spPr>
          <a:xfrm>
            <a:off x="727421" y="3656489"/>
            <a:ext cx="126028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Modeling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10B932-ECF2-A9BE-9EF6-1E7AFB54E9AF}"/>
              </a:ext>
            </a:extLst>
          </p:cNvPr>
          <p:cNvSpPr txBox="1"/>
          <p:nvPr/>
        </p:nvSpPr>
        <p:spPr>
          <a:xfrm>
            <a:off x="5358852" y="3487212"/>
            <a:ext cx="1904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By trail and error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7A445-307C-3AB4-D757-6227BFFECA95}"/>
              </a:ext>
            </a:extLst>
          </p:cNvPr>
          <p:cNvSpPr txBox="1"/>
          <p:nvPr/>
        </p:nvSpPr>
        <p:spPr>
          <a:xfrm>
            <a:off x="4300829" y="3845611"/>
            <a:ext cx="4161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Assign different values for parameters</a:t>
            </a:r>
          </a:p>
        </p:txBody>
      </p:sp>
    </p:spTree>
    <p:extLst>
      <p:ext uri="{BB962C8B-B14F-4D97-AF65-F5344CB8AC3E}">
        <p14:creationId xmlns:p14="http://schemas.microsoft.com/office/powerpoint/2010/main" val="19841796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749C5-C6A0-680C-7942-CFE808A1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89DFB1D-10CB-CCAE-D1F3-A911E46C36CE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22346EB-87BC-657C-E83C-B92756F535B3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21D48C7-0ABC-CF77-45D4-BB9DD727466C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B1FB34D-DB0F-7080-1308-09792CE26608}"/>
              </a:ext>
            </a:extLst>
          </p:cNvPr>
          <p:cNvSpPr/>
          <p:nvPr/>
        </p:nvSpPr>
        <p:spPr>
          <a:xfrm>
            <a:off x="9863737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AC01C0-9051-B735-3B63-CE036FF3A099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536B2E-25CD-4F72-9A84-DD486C67BAF0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9765C5-85DE-063C-B249-69880C4138B6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8AD152-376E-5CB9-EB99-DBBD71628CFC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B7423F4-17FB-DAA5-AA11-7D226EBF8719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185D01A-AC4E-97AB-C798-B1E007D850E0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68A835-BF68-A398-8E3B-958F43A00F3A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025E30-135F-AC12-ACD7-3B56253D1857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4B3F4A-0C69-90FC-6061-F91A51A66480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EF1836-412F-EC2B-1652-4AAAC43E6DDE}"/>
              </a:ext>
            </a:extLst>
          </p:cNvPr>
          <p:cNvSpPr txBox="1"/>
          <p:nvPr/>
        </p:nvSpPr>
        <p:spPr>
          <a:xfrm>
            <a:off x="727421" y="3656489"/>
            <a:ext cx="126028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Modeling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50343F-A4CE-9C81-2E75-E1AB67583C11}"/>
              </a:ext>
            </a:extLst>
          </p:cNvPr>
          <p:cNvSpPr txBox="1"/>
          <p:nvPr/>
        </p:nvSpPr>
        <p:spPr>
          <a:xfrm>
            <a:off x="5358852" y="3487212"/>
            <a:ext cx="1904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By trail and error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CA92D1-23A4-4658-2486-95B11486DEA3}"/>
              </a:ext>
            </a:extLst>
          </p:cNvPr>
          <p:cNvSpPr txBox="1"/>
          <p:nvPr/>
        </p:nvSpPr>
        <p:spPr>
          <a:xfrm>
            <a:off x="4300829" y="3845611"/>
            <a:ext cx="4161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Assign different values for parameters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DAE009-DD2A-A90C-DED2-AD1E55400006}"/>
              </a:ext>
            </a:extLst>
          </p:cNvPr>
          <p:cNvSpPr txBox="1"/>
          <p:nvPr/>
        </p:nvSpPr>
        <p:spPr>
          <a:xfrm>
            <a:off x="3648343" y="4160525"/>
            <a:ext cx="546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Check if our approximation is closer to real system</a:t>
            </a:r>
          </a:p>
        </p:txBody>
      </p:sp>
    </p:spTree>
    <p:extLst>
      <p:ext uri="{BB962C8B-B14F-4D97-AF65-F5344CB8AC3E}">
        <p14:creationId xmlns:p14="http://schemas.microsoft.com/office/powerpoint/2010/main" val="33469045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7AA10-154F-5FC4-7249-3AC3141D9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F3CCF18-9729-575A-9737-2C70432EEF4D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A54C9F0-9391-5211-9E14-973EF8CF8301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D97182E-AC77-7135-886B-9118AE2ED76B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FFCF73-556C-BF39-3E7A-24E885C5D5B5}"/>
              </a:ext>
            </a:extLst>
          </p:cNvPr>
          <p:cNvSpPr/>
          <p:nvPr/>
        </p:nvSpPr>
        <p:spPr>
          <a:xfrm>
            <a:off x="9834871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A3976EE-359D-626A-65A9-49EB698638C4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1D3952-F2BB-AA1C-CABF-387BFD77A100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779443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C7EEBB-7BAF-1AAA-61C6-B4E7075EF791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CC0952-20B7-2204-672E-7317F4CB6D78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D3FB4C-1E69-7BB6-8AF5-AC85948247BF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F6DA08-C3BA-0D64-ACD2-C368F66D86E2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7EDCE91-F199-C3E8-F8FB-B0A450D22B1D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0B0F769-EAD9-49D2-3951-CC7E07C37A4E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AE550A-4044-78C6-ADA1-097E0E75A256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175A7E2-4522-C880-1811-FA5FC3DA1F52}"/>
              </a:ext>
            </a:extLst>
          </p:cNvPr>
          <p:cNvSpPr txBox="1"/>
          <p:nvPr/>
        </p:nvSpPr>
        <p:spPr>
          <a:xfrm>
            <a:off x="727421" y="3656489"/>
            <a:ext cx="126028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Modeling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874871-C7C0-695B-B5EB-2E335598B879}"/>
              </a:ext>
            </a:extLst>
          </p:cNvPr>
          <p:cNvSpPr txBox="1"/>
          <p:nvPr/>
        </p:nvSpPr>
        <p:spPr>
          <a:xfrm>
            <a:off x="5271947" y="3487212"/>
            <a:ext cx="1904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By trail and error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3378BA-BFFF-A803-0E3A-6FBC3D545C69}"/>
              </a:ext>
            </a:extLst>
          </p:cNvPr>
          <p:cNvSpPr txBox="1"/>
          <p:nvPr/>
        </p:nvSpPr>
        <p:spPr>
          <a:xfrm>
            <a:off x="4300829" y="3845611"/>
            <a:ext cx="4161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Assign different values for parameters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5696BC-E452-42E4-5BEA-5E04FF2617D2}"/>
              </a:ext>
            </a:extLst>
          </p:cNvPr>
          <p:cNvSpPr txBox="1"/>
          <p:nvPr/>
        </p:nvSpPr>
        <p:spPr>
          <a:xfrm>
            <a:off x="3648343" y="4160525"/>
            <a:ext cx="546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Check if our approximation is closer to real system</a:t>
            </a:r>
          </a:p>
        </p:txBody>
      </p:sp>
      <p:pic>
        <p:nvPicPr>
          <p:cNvPr id="22" name="Graphic 21" descr="Bar graph with downward trend outline">
            <a:extLst>
              <a:ext uri="{FF2B5EF4-FFF2-40B4-BE49-F238E27FC236}">
                <a16:creationId xmlns:a16="http://schemas.microsoft.com/office/drawing/2014/main" id="{C48ACB80-B182-DA65-0F42-1DBFC60F59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03231" y="3180106"/>
            <a:ext cx="914400" cy="91440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C68BECA-7ED8-0998-0FEA-415C2D81B37E}"/>
              </a:ext>
            </a:extLst>
          </p:cNvPr>
          <p:cNvSpPr txBox="1"/>
          <p:nvPr/>
        </p:nvSpPr>
        <p:spPr>
          <a:xfrm>
            <a:off x="9887197" y="3971423"/>
            <a:ext cx="12057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Metric/Measure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1631DE7-07D3-9A28-E1B5-015C65052AA4}"/>
              </a:ext>
            </a:extLst>
          </p:cNvPr>
          <p:cNvCxnSpPr>
            <a:cxnSpLocks/>
          </p:cNvCxnSpPr>
          <p:nvPr/>
        </p:nvCxnSpPr>
        <p:spPr>
          <a:xfrm>
            <a:off x="10431565" y="2727007"/>
            <a:ext cx="0" cy="540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4CAB017-4DBC-CCF1-9B10-6AB5282ABB6D}"/>
              </a:ext>
            </a:extLst>
          </p:cNvPr>
          <p:cNvCxnSpPr>
            <a:endCxn id="23" idx="2"/>
          </p:cNvCxnSpPr>
          <p:nvPr/>
        </p:nvCxnSpPr>
        <p:spPr>
          <a:xfrm flipV="1">
            <a:off x="10490086" y="4233033"/>
            <a:ext cx="1" cy="3962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4757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3651-D886-BC6D-0728-D0E41B3EB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395DA0-9AB1-7488-F459-B07FADDA3EDD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F25D250-31F3-3B33-192A-5F9A19DF1348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A4790F3-72B9-D24E-75A3-4763A309FA9F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99B57F-A1B6-42A6-F203-DB60EE383B47}"/>
              </a:ext>
            </a:extLst>
          </p:cNvPr>
          <p:cNvSpPr/>
          <p:nvPr/>
        </p:nvSpPr>
        <p:spPr>
          <a:xfrm>
            <a:off x="9834871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327342-FA0D-D8FB-3F3B-52E232E53302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7B53236-E2D0-7BF6-3038-8F99960C7B3E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779443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E4B6400-76DA-5113-93C3-252906BFCF1D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A3ACD8-7744-9760-DD39-CF44563FC54A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D61CFDB-D48E-87A3-FC61-9961BE0FE955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2E4CEA0-2C78-1BE1-EAA5-039B19A295A4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CFD1C-BB79-5847-E79C-770D3118DBAB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001D9C6-8DCD-1305-4B77-ECCF61EE3113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60F21F-F395-21ED-89E6-DC98A2C0D410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EAB648-5CAA-359C-B611-46C032DFE49E}"/>
              </a:ext>
            </a:extLst>
          </p:cNvPr>
          <p:cNvSpPr txBox="1"/>
          <p:nvPr/>
        </p:nvSpPr>
        <p:spPr>
          <a:xfrm>
            <a:off x="727421" y="3656489"/>
            <a:ext cx="126028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Modeling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4CE734-900D-5BB7-99CE-34C1EEEE010C}"/>
              </a:ext>
            </a:extLst>
          </p:cNvPr>
          <p:cNvSpPr txBox="1"/>
          <p:nvPr/>
        </p:nvSpPr>
        <p:spPr>
          <a:xfrm>
            <a:off x="5271947" y="3495463"/>
            <a:ext cx="1904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By trail and error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CB3AD-D2CF-A3B2-25D4-2344EA9B8720}"/>
              </a:ext>
            </a:extLst>
          </p:cNvPr>
          <p:cNvSpPr txBox="1"/>
          <p:nvPr/>
        </p:nvSpPr>
        <p:spPr>
          <a:xfrm>
            <a:off x="4300829" y="3845611"/>
            <a:ext cx="4161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Assign different values for parameters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9BDD77-8F25-CE8A-3FC2-356E1839D727}"/>
              </a:ext>
            </a:extLst>
          </p:cNvPr>
          <p:cNvSpPr txBox="1"/>
          <p:nvPr/>
        </p:nvSpPr>
        <p:spPr>
          <a:xfrm>
            <a:off x="3648343" y="4160525"/>
            <a:ext cx="546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Check if our approximation is closer to real system</a:t>
            </a:r>
          </a:p>
        </p:txBody>
      </p:sp>
      <p:pic>
        <p:nvPicPr>
          <p:cNvPr id="20" name="Graphic 19" descr="Coins outline">
            <a:extLst>
              <a:ext uri="{FF2B5EF4-FFF2-40B4-BE49-F238E27FC236}">
                <a16:creationId xmlns:a16="http://schemas.microsoft.com/office/drawing/2014/main" id="{A257FEBC-5B47-0DEC-24D6-06EE2583C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0369" y="3210488"/>
            <a:ext cx="914400" cy="91440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C7E920B-B4AB-D7F6-2825-82E147B8A0E3}"/>
              </a:ext>
            </a:extLst>
          </p:cNvPr>
          <p:cNvSpPr txBox="1"/>
          <p:nvPr/>
        </p:nvSpPr>
        <p:spPr>
          <a:xfrm>
            <a:off x="9887197" y="3971423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Cost Function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A15C077-7180-A9D5-9359-85A399C90FCB}"/>
              </a:ext>
            </a:extLst>
          </p:cNvPr>
          <p:cNvCxnSpPr>
            <a:cxnSpLocks/>
          </p:cNvCxnSpPr>
          <p:nvPr/>
        </p:nvCxnSpPr>
        <p:spPr>
          <a:xfrm>
            <a:off x="10431565" y="2727007"/>
            <a:ext cx="0" cy="540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A34F028-4794-C9A2-0001-7B11F09C5CC8}"/>
              </a:ext>
            </a:extLst>
          </p:cNvPr>
          <p:cNvCxnSpPr>
            <a:cxnSpLocks/>
          </p:cNvCxnSpPr>
          <p:nvPr/>
        </p:nvCxnSpPr>
        <p:spPr>
          <a:xfrm flipH="1" flipV="1">
            <a:off x="10426778" y="4122329"/>
            <a:ext cx="791" cy="507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4416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BDBCE-3785-85D1-8A21-A49E8F58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1AA2F1-D5E9-6279-6E10-123B10653D5B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72B1FD-3661-233A-ECC4-C88C9537E8F2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9F9574D-78B9-F769-1238-DC94CBE0EC70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B87AFC5-2460-F578-5CBC-55F92F12BD41}"/>
              </a:ext>
            </a:extLst>
          </p:cNvPr>
          <p:cNvSpPr/>
          <p:nvPr/>
        </p:nvSpPr>
        <p:spPr>
          <a:xfrm>
            <a:off x="9834871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0B2DCE-F491-136D-2A9E-6B3A69EC0551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A80E20-0845-0D94-82D9-C2ADD2125628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779443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5174DC-C35A-C56F-910C-BF30900C557F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17FE31-ECD5-18A9-5C6A-FE546247D153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237AE1-2585-C739-1604-10F2B01CC01C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66368F-14E6-CE7C-627A-82DD380DD940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A0D31F-A803-D07B-888B-3316F118A395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7E5DA48-3576-FA57-55FC-4BACBBEAC867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BD83DD-4641-C900-D8F7-BF92123C304B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62F9897-C677-564C-3640-B1AF014A316B}"/>
              </a:ext>
            </a:extLst>
          </p:cNvPr>
          <p:cNvSpPr txBox="1"/>
          <p:nvPr/>
        </p:nvSpPr>
        <p:spPr>
          <a:xfrm>
            <a:off x="727421" y="3656489"/>
            <a:ext cx="126028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Modeling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A02D58-F3DF-F18C-EC3B-D9B616C5F041}"/>
              </a:ext>
            </a:extLst>
          </p:cNvPr>
          <p:cNvSpPr txBox="1"/>
          <p:nvPr/>
        </p:nvSpPr>
        <p:spPr>
          <a:xfrm>
            <a:off x="5271947" y="3467367"/>
            <a:ext cx="1904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By trail and error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7A4639-AE51-8ED8-3502-DE404AF6A088}"/>
              </a:ext>
            </a:extLst>
          </p:cNvPr>
          <p:cNvSpPr txBox="1"/>
          <p:nvPr/>
        </p:nvSpPr>
        <p:spPr>
          <a:xfrm>
            <a:off x="4300829" y="3845611"/>
            <a:ext cx="4161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Assign different values for parameters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FFAD55-6E37-D56C-FF12-86FB5DC5AA0A}"/>
              </a:ext>
            </a:extLst>
          </p:cNvPr>
          <p:cNvSpPr txBox="1"/>
          <p:nvPr/>
        </p:nvSpPr>
        <p:spPr>
          <a:xfrm>
            <a:off x="3648343" y="4160525"/>
            <a:ext cx="546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Check if our approximation is closer to real system</a:t>
            </a:r>
          </a:p>
        </p:txBody>
      </p:sp>
      <p:pic>
        <p:nvPicPr>
          <p:cNvPr id="20" name="Graphic 19" descr="Coins outline">
            <a:extLst>
              <a:ext uri="{FF2B5EF4-FFF2-40B4-BE49-F238E27FC236}">
                <a16:creationId xmlns:a16="http://schemas.microsoft.com/office/drawing/2014/main" id="{BCEA4625-6B5F-80B6-9DA4-8B5DF5E25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0369" y="3210488"/>
            <a:ext cx="914400" cy="91440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D2509C5-5918-BA51-FDCD-2D1440BE8DCE}"/>
              </a:ext>
            </a:extLst>
          </p:cNvPr>
          <p:cNvSpPr txBox="1"/>
          <p:nvPr/>
        </p:nvSpPr>
        <p:spPr>
          <a:xfrm>
            <a:off x="9887197" y="3971423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Cost Function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D3DFB5-7B61-6BAD-7997-A315F1FF2131}"/>
              </a:ext>
            </a:extLst>
          </p:cNvPr>
          <p:cNvCxnSpPr>
            <a:cxnSpLocks/>
          </p:cNvCxnSpPr>
          <p:nvPr/>
        </p:nvCxnSpPr>
        <p:spPr>
          <a:xfrm>
            <a:off x="10431565" y="2727007"/>
            <a:ext cx="0" cy="540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2B2D67E-7582-42CB-A0C0-E2B8A6B37AA5}"/>
              </a:ext>
            </a:extLst>
          </p:cNvPr>
          <p:cNvCxnSpPr>
            <a:cxnSpLocks/>
          </p:cNvCxnSpPr>
          <p:nvPr/>
        </p:nvCxnSpPr>
        <p:spPr>
          <a:xfrm flipH="1" flipV="1">
            <a:off x="10426778" y="4122329"/>
            <a:ext cx="791" cy="507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15C82F3-1726-C722-1F63-69000EC93E99}"/>
              </a:ext>
            </a:extLst>
          </p:cNvPr>
          <p:cNvSpPr txBox="1"/>
          <p:nvPr/>
        </p:nvSpPr>
        <p:spPr>
          <a:xfrm>
            <a:off x="3570862" y="5938960"/>
            <a:ext cx="5543849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Naïve/Brute Force Approach if assignment is Random</a:t>
            </a:r>
          </a:p>
        </p:txBody>
      </p:sp>
    </p:spTree>
    <p:extLst>
      <p:ext uri="{BB962C8B-B14F-4D97-AF65-F5344CB8AC3E}">
        <p14:creationId xmlns:p14="http://schemas.microsoft.com/office/powerpoint/2010/main" val="35101850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3462A-5AC8-5DA6-305D-FEFC14E7D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728D090-0AC7-EB4A-D836-D977697419F8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678B12-3AEF-3F30-94BA-7C33445D1DF3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1266D8D-9524-4B75-C6E4-8AF8C2488C2A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9CFA77B-4578-EAF7-5CFA-F393A9781691}"/>
              </a:ext>
            </a:extLst>
          </p:cNvPr>
          <p:cNvSpPr/>
          <p:nvPr/>
        </p:nvSpPr>
        <p:spPr>
          <a:xfrm>
            <a:off x="9834871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15983B-E21A-093A-966B-1F955BDA17B8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A51BF3-FF2B-057E-A499-DE3BBDEF3A54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779443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FEF4F68-C6FC-7C58-1283-AEE89A42D990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EA45D2-DD4D-C6B2-F2A6-D46308C5541E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74F6B65-E27C-6F2B-BB09-06DAC2B49184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0208051-1C3D-4BED-6393-8375170BB6C9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2FF53B-DD84-C9C4-3A3A-CAD1FBF80349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746CB22-62F8-546E-3706-DAE2AB1684C2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7439583-5E13-9A3E-3E0B-DF763BADB8D9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CBC91C5-5A88-A025-CBE1-BA999B00C844}"/>
              </a:ext>
            </a:extLst>
          </p:cNvPr>
          <p:cNvSpPr txBox="1"/>
          <p:nvPr/>
        </p:nvSpPr>
        <p:spPr>
          <a:xfrm>
            <a:off x="727421" y="3656489"/>
            <a:ext cx="126028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Modeling</a:t>
            </a:r>
          </a:p>
        </p:txBody>
      </p:sp>
      <p:pic>
        <p:nvPicPr>
          <p:cNvPr id="20" name="Graphic 19" descr="Coins outline">
            <a:extLst>
              <a:ext uri="{FF2B5EF4-FFF2-40B4-BE49-F238E27FC236}">
                <a16:creationId xmlns:a16="http://schemas.microsoft.com/office/drawing/2014/main" id="{9A4C6455-956E-87AB-5BE2-2FEAFADB1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0369" y="3210488"/>
            <a:ext cx="914400" cy="91440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E52DA30-BEC6-DA65-B64D-719F2AC5E4A8}"/>
              </a:ext>
            </a:extLst>
          </p:cNvPr>
          <p:cNvSpPr txBox="1"/>
          <p:nvPr/>
        </p:nvSpPr>
        <p:spPr>
          <a:xfrm>
            <a:off x="9887197" y="3971423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Cost Function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4B5F34E-1000-4499-51C4-47215086CB53}"/>
              </a:ext>
            </a:extLst>
          </p:cNvPr>
          <p:cNvCxnSpPr>
            <a:cxnSpLocks/>
          </p:cNvCxnSpPr>
          <p:nvPr/>
        </p:nvCxnSpPr>
        <p:spPr>
          <a:xfrm>
            <a:off x="10431565" y="2727007"/>
            <a:ext cx="0" cy="540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0DA115A-867A-99E5-FC38-101048BC3073}"/>
              </a:ext>
            </a:extLst>
          </p:cNvPr>
          <p:cNvCxnSpPr>
            <a:cxnSpLocks/>
          </p:cNvCxnSpPr>
          <p:nvPr/>
        </p:nvCxnSpPr>
        <p:spPr>
          <a:xfrm flipH="1" flipV="1">
            <a:off x="10426778" y="4122329"/>
            <a:ext cx="791" cy="507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F8D8530-ED8F-95CC-EE55-97E4869C5C46}"/>
              </a:ext>
            </a:extLst>
          </p:cNvPr>
          <p:cNvSpPr txBox="1"/>
          <p:nvPr/>
        </p:nvSpPr>
        <p:spPr>
          <a:xfrm>
            <a:off x="4272013" y="6052247"/>
            <a:ext cx="398152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Methodical approach</a:t>
            </a:r>
          </a:p>
        </p:txBody>
      </p:sp>
    </p:spTree>
    <p:extLst>
      <p:ext uri="{BB962C8B-B14F-4D97-AF65-F5344CB8AC3E}">
        <p14:creationId xmlns:p14="http://schemas.microsoft.com/office/powerpoint/2010/main" val="37172370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776ED-2170-2EE3-01DB-9827A6D5E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50AEA9C-FDA5-417F-F0EF-F489F9ADAC8F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150D89-A267-CF12-E011-D2188AF38AD0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11F0C6-B37E-B419-08DC-4503F1253BB2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492BD6-9595-D6D6-7B5F-5F66AE5DEBAA}"/>
              </a:ext>
            </a:extLst>
          </p:cNvPr>
          <p:cNvSpPr/>
          <p:nvPr/>
        </p:nvSpPr>
        <p:spPr>
          <a:xfrm>
            <a:off x="9834871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6237F9-05A3-8AB5-F4F2-A41104226D6B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7E97EB-1C0D-14EE-B022-A112453EF606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779443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CCDFBA-4C28-E8D2-CCEE-46198547D889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86F0B9-0ECA-6D52-B21F-7C13D206C243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2CDCB9F-8230-5087-DBDA-C8F2F2E35439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EEE1D7-AEBD-D14A-893A-2AB641A652FE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E6F674-6A3B-1737-5B37-4F78810B8EC7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AD9602-9891-12DD-493C-4AA979FDB1B4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690A37D-2F0D-B0EC-1663-8AC82080E84B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0023AFC-A34E-39EE-CBF9-BBFED7B9292A}"/>
              </a:ext>
            </a:extLst>
          </p:cNvPr>
          <p:cNvSpPr txBox="1"/>
          <p:nvPr/>
        </p:nvSpPr>
        <p:spPr>
          <a:xfrm>
            <a:off x="727421" y="3656489"/>
            <a:ext cx="126028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Modeling</a:t>
            </a:r>
          </a:p>
        </p:txBody>
      </p:sp>
      <p:pic>
        <p:nvPicPr>
          <p:cNvPr id="20" name="Graphic 19" descr="Coins outline">
            <a:extLst>
              <a:ext uri="{FF2B5EF4-FFF2-40B4-BE49-F238E27FC236}">
                <a16:creationId xmlns:a16="http://schemas.microsoft.com/office/drawing/2014/main" id="{13842364-5AB4-491F-6449-392065D10D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0369" y="3210488"/>
            <a:ext cx="914400" cy="91440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72B34F3-AF2E-38B9-FF26-074C11C1ADE3}"/>
              </a:ext>
            </a:extLst>
          </p:cNvPr>
          <p:cNvSpPr txBox="1"/>
          <p:nvPr/>
        </p:nvSpPr>
        <p:spPr>
          <a:xfrm>
            <a:off x="9887197" y="3971423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Cost Function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DB3ACD3-752C-7AC1-B5DC-7514C4F21BB1}"/>
              </a:ext>
            </a:extLst>
          </p:cNvPr>
          <p:cNvCxnSpPr>
            <a:cxnSpLocks/>
          </p:cNvCxnSpPr>
          <p:nvPr/>
        </p:nvCxnSpPr>
        <p:spPr>
          <a:xfrm>
            <a:off x="10431565" y="2727007"/>
            <a:ext cx="0" cy="540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1BFAE48-D2AE-2F98-461F-1CFE0C64DC95}"/>
              </a:ext>
            </a:extLst>
          </p:cNvPr>
          <p:cNvCxnSpPr>
            <a:cxnSpLocks/>
          </p:cNvCxnSpPr>
          <p:nvPr/>
        </p:nvCxnSpPr>
        <p:spPr>
          <a:xfrm flipH="1" flipV="1">
            <a:off x="10426778" y="4122329"/>
            <a:ext cx="791" cy="507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E28BF5D-8A2E-6A70-0AC9-8C38264E7068}"/>
              </a:ext>
            </a:extLst>
          </p:cNvPr>
          <p:cNvSpPr txBox="1"/>
          <p:nvPr/>
        </p:nvSpPr>
        <p:spPr>
          <a:xfrm>
            <a:off x="4319887" y="6052247"/>
            <a:ext cx="398152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Closed Form solution is available</a:t>
            </a:r>
          </a:p>
        </p:txBody>
      </p:sp>
    </p:spTree>
    <p:extLst>
      <p:ext uri="{BB962C8B-B14F-4D97-AF65-F5344CB8AC3E}">
        <p14:creationId xmlns:p14="http://schemas.microsoft.com/office/powerpoint/2010/main" val="6394347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500E7-243C-A275-4B5E-62F3E7CDE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8514E3-8878-76ED-7456-A08AC6FADF16}"/>
              </a:ext>
            </a:extLst>
          </p:cNvPr>
          <p:cNvSpPr/>
          <p:nvPr/>
        </p:nvSpPr>
        <p:spPr>
          <a:xfrm>
            <a:off x="837560" y="722299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10F7370-43F1-DFDD-1D49-64BE73983838}"/>
              </a:ext>
            </a:extLst>
          </p:cNvPr>
          <p:cNvSpPr/>
          <p:nvPr/>
        </p:nvSpPr>
        <p:spPr>
          <a:xfrm>
            <a:off x="4367092" y="1544491"/>
            <a:ext cx="3688336" cy="107576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Process/System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9ED8EF-772B-791C-43E9-C53560D8D627}"/>
              </a:ext>
            </a:extLst>
          </p:cNvPr>
          <p:cNvSpPr/>
          <p:nvPr/>
        </p:nvSpPr>
        <p:spPr>
          <a:xfrm>
            <a:off x="1313970" y="1467651"/>
            <a:ext cx="1244813" cy="1206393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Input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F01D5A-EC0A-976E-A0B9-37B6E75B559E}"/>
              </a:ext>
            </a:extLst>
          </p:cNvPr>
          <p:cNvSpPr/>
          <p:nvPr/>
        </p:nvSpPr>
        <p:spPr>
          <a:xfrm>
            <a:off x="9834871" y="1471491"/>
            <a:ext cx="1308847" cy="120255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0D3089-7699-43C8-3D87-0D6A585FC095}"/>
              </a:ext>
            </a:extLst>
          </p:cNvPr>
          <p:cNvCxnSpPr>
            <a:stCxn id="5" idx="6"/>
            <a:endCxn id="4" idx="1"/>
          </p:cNvCxnSpPr>
          <p:nvPr/>
        </p:nvCxnSpPr>
        <p:spPr>
          <a:xfrm>
            <a:off x="2558783" y="2070848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70A7165-2197-A730-1193-EBE5E69E8092}"/>
              </a:ext>
            </a:extLst>
          </p:cNvPr>
          <p:cNvCxnSpPr>
            <a:cxnSpLocks/>
            <a:stCxn id="4" idx="3"/>
            <a:endCxn id="6" idx="2"/>
          </p:cNvCxnSpPr>
          <p:nvPr/>
        </p:nvCxnSpPr>
        <p:spPr>
          <a:xfrm flipV="1">
            <a:off x="8055428" y="2072768"/>
            <a:ext cx="1779443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72D24FD-9C7B-475D-F300-FF2A6DC256FD}"/>
              </a:ext>
            </a:extLst>
          </p:cNvPr>
          <p:cNvSpPr txBox="1"/>
          <p:nvPr/>
        </p:nvSpPr>
        <p:spPr>
          <a:xfrm>
            <a:off x="727421" y="494810"/>
            <a:ext cx="170053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Real 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D09DD0-C7B0-440E-3631-250C3D3EB863}"/>
              </a:ext>
            </a:extLst>
          </p:cNvPr>
          <p:cNvSpPr/>
          <p:nvPr/>
        </p:nvSpPr>
        <p:spPr>
          <a:xfrm>
            <a:off x="837560" y="3883978"/>
            <a:ext cx="10773015" cy="27067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DE44B9-9DE1-7385-BC8B-FA051AA36650}"/>
              </a:ext>
            </a:extLst>
          </p:cNvPr>
          <p:cNvSpPr/>
          <p:nvPr/>
        </p:nvSpPr>
        <p:spPr>
          <a:xfrm>
            <a:off x="4367092" y="4706170"/>
            <a:ext cx="3688336" cy="10757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Approximation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9FEB80-2A40-AEF8-F7F1-A8011C56ADFD}"/>
              </a:ext>
            </a:extLst>
          </p:cNvPr>
          <p:cNvSpPr/>
          <p:nvPr/>
        </p:nvSpPr>
        <p:spPr>
          <a:xfrm>
            <a:off x="1313970" y="4629330"/>
            <a:ext cx="1244813" cy="120639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Input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A101B0B-5068-D981-A538-7168238C453F}"/>
              </a:ext>
            </a:extLst>
          </p:cNvPr>
          <p:cNvSpPr/>
          <p:nvPr/>
        </p:nvSpPr>
        <p:spPr>
          <a:xfrm>
            <a:off x="9863737" y="4633170"/>
            <a:ext cx="1308847" cy="120255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Output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AFD114-DA6C-1B8A-98B3-F3156F836281}"/>
              </a:ext>
            </a:extLst>
          </p:cNvPr>
          <p:cNvCxnSpPr>
            <a:stCxn id="13" idx="6"/>
            <a:endCxn id="12" idx="1"/>
          </p:cNvCxnSpPr>
          <p:nvPr/>
        </p:nvCxnSpPr>
        <p:spPr>
          <a:xfrm>
            <a:off x="2558783" y="5232527"/>
            <a:ext cx="1808309" cy="115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2CF0C18-D5F2-1939-B40E-75E1A782DF2C}"/>
              </a:ext>
            </a:extLst>
          </p:cNvPr>
          <p:cNvCxnSpPr>
            <a:cxnSpLocks/>
            <a:stCxn id="12" idx="3"/>
            <a:endCxn id="14" idx="2"/>
          </p:cNvCxnSpPr>
          <p:nvPr/>
        </p:nvCxnSpPr>
        <p:spPr>
          <a:xfrm flipV="1">
            <a:off x="8055428" y="5234447"/>
            <a:ext cx="1808309" cy="96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958DBB3-FE47-C15E-A057-A0E8FA36C7D4}"/>
              </a:ext>
            </a:extLst>
          </p:cNvPr>
          <p:cNvSpPr txBox="1"/>
          <p:nvPr/>
        </p:nvSpPr>
        <p:spPr>
          <a:xfrm>
            <a:off x="727421" y="3656489"/>
            <a:ext cx="1260281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>
            <a:solidFill>
              <a:schemeClr val="tx1"/>
            </a:solidFill>
          </a:ln>
          <a:effectLst/>
        </p:spPr>
        <p:txBody>
          <a:bodyPr wrap="none" rtlCol="0">
            <a:spAutoFit/>
          </a:bodyPr>
          <a:lstStyle/>
          <a:p>
            <a:r>
              <a:rPr lang="en-US" sz="2000" b="1" dirty="0"/>
              <a:t>Modeling</a:t>
            </a:r>
          </a:p>
        </p:txBody>
      </p:sp>
      <p:pic>
        <p:nvPicPr>
          <p:cNvPr id="20" name="Graphic 19" descr="Coins outline">
            <a:extLst>
              <a:ext uri="{FF2B5EF4-FFF2-40B4-BE49-F238E27FC236}">
                <a16:creationId xmlns:a16="http://schemas.microsoft.com/office/drawing/2014/main" id="{7C6890F3-56AE-A3EE-30DE-9FDC9672F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70369" y="3210488"/>
            <a:ext cx="914400" cy="91440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9B4DE8F-B568-8645-B280-00462BD4EDFB}"/>
              </a:ext>
            </a:extLst>
          </p:cNvPr>
          <p:cNvSpPr txBox="1"/>
          <p:nvPr/>
        </p:nvSpPr>
        <p:spPr>
          <a:xfrm>
            <a:off x="9887197" y="3971423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Cost Function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D5C404A-654A-47F5-ABB2-B59B99FA6BED}"/>
              </a:ext>
            </a:extLst>
          </p:cNvPr>
          <p:cNvCxnSpPr>
            <a:cxnSpLocks/>
          </p:cNvCxnSpPr>
          <p:nvPr/>
        </p:nvCxnSpPr>
        <p:spPr>
          <a:xfrm>
            <a:off x="10431565" y="2727007"/>
            <a:ext cx="0" cy="540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DC5FA5-4953-4671-D1E6-DAE7A290E31F}"/>
              </a:ext>
            </a:extLst>
          </p:cNvPr>
          <p:cNvCxnSpPr>
            <a:cxnSpLocks/>
          </p:cNvCxnSpPr>
          <p:nvPr/>
        </p:nvCxnSpPr>
        <p:spPr>
          <a:xfrm flipH="1" flipV="1">
            <a:off x="10426778" y="4122329"/>
            <a:ext cx="791" cy="5070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3DF8A35-A075-97C3-8421-FDC4AA11966E}"/>
              </a:ext>
            </a:extLst>
          </p:cNvPr>
          <p:cNvSpPr txBox="1"/>
          <p:nvPr/>
        </p:nvSpPr>
        <p:spPr>
          <a:xfrm>
            <a:off x="4319887" y="6052247"/>
            <a:ext cx="3981524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Optimization –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29064236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5973B-B020-0007-0F4A-8BA4E76C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94A4B9-4005-B479-B8AD-2DA1E4080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22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C3461-F5F9-4E2C-D17A-F521742B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46C02-4438-3263-C282-992A76C9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68B41-29E0-A02B-8B0F-888E80321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0404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2063-1A08-4C0D-8770-C4EB286E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E5AAB-09AF-9E66-46B8-6561EB9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80747-4CF1-7D33-3394-9BD10FF4B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 Model</a:t>
            </a:r>
          </a:p>
          <a:p>
            <a:r>
              <a:rPr lang="en-US" dirty="0"/>
              <a:t>Mentol Model</a:t>
            </a:r>
          </a:p>
        </p:txBody>
      </p:sp>
    </p:spTree>
    <p:extLst>
      <p:ext uri="{BB962C8B-B14F-4D97-AF65-F5344CB8AC3E}">
        <p14:creationId xmlns:p14="http://schemas.microsoft.com/office/powerpoint/2010/main" val="36950770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F421C-8C70-0155-2BBD-7BDC9C351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EFD1A-6828-71E6-AFFC-B61074135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90298-61A3-03DB-2F53-D8FEA31B3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 Model</a:t>
            </a:r>
          </a:p>
          <a:p>
            <a:r>
              <a:rPr lang="en-US" dirty="0"/>
              <a:t>Mentol Model</a:t>
            </a:r>
          </a:p>
          <a:p>
            <a:r>
              <a:rPr lang="en-US" dirty="0"/>
              <a:t>Mathematical Model</a:t>
            </a:r>
          </a:p>
        </p:txBody>
      </p:sp>
    </p:spTree>
    <p:extLst>
      <p:ext uri="{BB962C8B-B14F-4D97-AF65-F5344CB8AC3E}">
        <p14:creationId xmlns:p14="http://schemas.microsoft.com/office/powerpoint/2010/main" val="47583654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828A1-E7CA-FD13-9A35-238952024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25855-EB7D-ED91-6061-C7883F40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2578C-364B-99C9-C546-C82DE6ED5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Scale Model</a:t>
            </a:r>
          </a:p>
          <a:p>
            <a:r>
              <a:rPr lang="en-US" dirty="0"/>
              <a:t>Mentol Model</a:t>
            </a:r>
          </a:p>
          <a:p>
            <a:r>
              <a:rPr lang="en-US" dirty="0"/>
              <a:t>Mathematical Model</a:t>
            </a:r>
          </a:p>
          <a:p>
            <a:r>
              <a:rPr lang="en-US" dirty="0"/>
              <a:t>Machine Learning Model</a:t>
            </a:r>
          </a:p>
        </p:txBody>
      </p:sp>
    </p:spTree>
    <p:extLst>
      <p:ext uri="{BB962C8B-B14F-4D97-AF65-F5344CB8AC3E}">
        <p14:creationId xmlns:p14="http://schemas.microsoft.com/office/powerpoint/2010/main" val="496711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C00D8A743834C83C2D7E8B88079AF" ma:contentTypeVersion="3" ma:contentTypeDescription="Create a new document." ma:contentTypeScope="" ma:versionID="d295b984411a1b5a448d017d453e47b8">
  <xsd:schema xmlns:xsd="http://www.w3.org/2001/XMLSchema" xmlns:xs="http://www.w3.org/2001/XMLSchema" xmlns:p="http://schemas.microsoft.com/office/2006/metadata/properties" xmlns:ns2="fe15599f-644d-4048-90f0-ecdf2cf8f215" targetNamespace="http://schemas.microsoft.com/office/2006/metadata/properties" ma:root="true" ma:fieldsID="430b40f8abd0bc605643dbcfbde73419" ns2:_="">
    <xsd:import namespace="fe15599f-644d-4048-90f0-ecdf2cf8f2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5599f-644d-4048-90f0-ecdf2cf8f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4DD3927-B720-4E57-AC0D-4E0BFD5AE83D}"/>
</file>

<file path=customXml/itemProps2.xml><?xml version="1.0" encoding="utf-8"?>
<ds:datastoreItem xmlns:ds="http://schemas.openxmlformats.org/officeDocument/2006/customXml" ds:itemID="{80BC9A24-5855-4283-83CA-27A696E22850}"/>
</file>

<file path=customXml/itemProps3.xml><?xml version="1.0" encoding="utf-8"?>
<ds:datastoreItem xmlns:ds="http://schemas.openxmlformats.org/officeDocument/2006/customXml" ds:itemID="{EEA52A10-369A-4A46-B7F8-247A1C26A7B0}"/>
</file>

<file path=docProps/app.xml><?xml version="1.0" encoding="utf-8"?>
<Properties xmlns="http://schemas.openxmlformats.org/officeDocument/2006/extended-properties" xmlns:vt="http://schemas.openxmlformats.org/officeDocument/2006/docPropsVTypes">
  <TotalTime>623</TotalTime>
  <Words>1191</Words>
  <Application>Microsoft Office PowerPoint</Application>
  <PresentationFormat>Widescreen</PresentationFormat>
  <Paragraphs>313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Aptos</vt:lpstr>
      <vt:lpstr>Aptos Display</vt:lpstr>
      <vt:lpstr>Arial</vt:lpstr>
      <vt:lpstr>Cambria Math</vt:lpstr>
      <vt:lpstr>Office Theme</vt:lpstr>
      <vt:lpstr>Neural Network</vt:lpstr>
      <vt:lpstr>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Why is it called Machine Learning Model?</vt:lpstr>
      <vt:lpstr>How does a Machine learn?</vt:lpstr>
      <vt:lpstr>How does a Machine learn?</vt:lpstr>
      <vt:lpstr>How does a Machine learn?</vt:lpstr>
      <vt:lpstr>How does a Machine learn?</vt:lpstr>
      <vt:lpstr>How does a Machine learn?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Appendix</vt:lpstr>
      <vt:lpstr>Model</vt:lpstr>
      <vt:lpstr>Model</vt:lpstr>
      <vt:lpstr>Model</vt:lpstr>
      <vt:lpstr>Model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Srinivasan, Rajkumar</dc:creator>
  <cp:lastModifiedBy>Srinivasan, Rajkumar</cp:lastModifiedBy>
  <cp:revision>37</cp:revision>
  <dcterms:created xsi:type="dcterms:W3CDTF">2025-11-17T05:22:25Z</dcterms:created>
  <dcterms:modified xsi:type="dcterms:W3CDTF">2025-11-20T04:17:57Z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0x010100F2AC00D8A743834C83C2D7E8B88079AF</vt:lpwstr>
  </property>
</Properties>
</file>