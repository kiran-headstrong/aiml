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68"/>
  </p:notesMasterIdLst>
  <p:sldIdLst>
    <p:sldId id="853" r:id="rId5"/>
    <p:sldId id="297" r:id="rId6"/>
    <p:sldId id="2147483613" r:id="rId7"/>
    <p:sldId id="29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147483614" r:id="rId31"/>
    <p:sldId id="2147483615" r:id="rId32"/>
    <p:sldId id="280" r:id="rId33"/>
    <p:sldId id="281" r:id="rId34"/>
    <p:sldId id="2147483621" r:id="rId35"/>
    <p:sldId id="290" r:id="rId36"/>
    <p:sldId id="2147483611" r:id="rId37"/>
    <p:sldId id="292" r:id="rId38"/>
    <p:sldId id="293" r:id="rId39"/>
    <p:sldId id="2147483616" r:id="rId40"/>
    <p:sldId id="2147483620" r:id="rId41"/>
    <p:sldId id="2147483617" r:id="rId42"/>
    <p:sldId id="294" r:id="rId43"/>
    <p:sldId id="295" r:id="rId44"/>
    <p:sldId id="289" r:id="rId45"/>
    <p:sldId id="284" r:id="rId46"/>
    <p:sldId id="2147483618" r:id="rId47"/>
    <p:sldId id="2147483619" r:id="rId48"/>
    <p:sldId id="2147483622" r:id="rId49"/>
    <p:sldId id="2147483587" r:id="rId50"/>
    <p:sldId id="2147483588" r:id="rId51"/>
    <p:sldId id="2147483591" r:id="rId52"/>
    <p:sldId id="2147483608" r:id="rId53"/>
    <p:sldId id="2147483592" r:id="rId54"/>
    <p:sldId id="2147483609" r:id="rId55"/>
    <p:sldId id="2147483593" r:id="rId56"/>
    <p:sldId id="2147483594" r:id="rId57"/>
    <p:sldId id="2147483597" r:id="rId58"/>
    <p:sldId id="2147483598" r:id="rId59"/>
    <p:sldId id="2147483595" r:id="rId60"/>
    <p:sldId id="2147483599" r:id="rId61"/>
    <p:sldId id="2147483623" r:id="rId62"/>
    <p:sldId id="2147483604" r:id="rId63"/>
    <p:sldId id="285" r:id="rId64"/>
    <p:sldId id="286" r:id="rId65"/>
    <p:sldId id="287" r:id="rId66"/>
    <p:sldId id="288" r:id="rId67"/>
  </p:sldIdLst>
  <p:sldSz cx="12192000" cy="6858000"/>
  <p:notesSz cx="6858000" cy="9144000"/>
  <p:embeddedFontLst>
    <p:embeddedFont>
      <p:font typeface="Lato" panose="020B0604020202020204" charset="0"/>
      <p:regular r:id="rId69"/>
      <p:bold r:id="rId70"/>
      <p:italic r:id="rId71"/>
      <p:boldItalic r:id="rId72"/>
    </p:embeddedFont>
    <p:embeddedFont>
      <p:font typeface="Poppins" panose="020B060402020202020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7529C-DE82-8FF0-FEE1-7485D7E52645}" v="1" dt="2025-11-21T07:01:57.068"/>
    <p1510:client id="{BE41817C-5255-AD3A-6AFF-9655B3911065}" v="1" dt="2025-11-21T05:30:18.316"/>
  </p1510:revLst>
</p1510:revInfo>
</file>

<file path=ppt/tableStyles.xml><?xml version="1.0" encoding="utf-8"?>
<a:tblStyleLst xmlns:a="http://schemas.openxmlformats.org/drawingml/2006/main" def="{8BF887E9-070F-447A-A5A4-2A66F0032043}">
  <a:tblStyle styleId="{8BF887E9-070F-447A-A5A4-2A66F00320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6.fntdata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font" Target="fonts/font1.fntdata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4.fntdata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font" Target="fonts/font5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8.fntdata"/><Relationship Id="rId7" Type="http://schemas.openxmlformats.org/officeDocument/2006/relationships/slide" Target="slides/slide3.xml"/><Relationship Id="rId71" Type="http://schemas.openxmlformats.org/officeDocument/2006/relationships/font" Target="fonts/font3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r K, Parvathy" userId="S::parvathy.nairk@boeing.com::89e5d52d-3cb3-4cd5-9f82-36afa5ecc367" providerId="AD" clId="Web-{66B7529C-DE82-8FF0-FEE1-7485D7E52645}"/>
    <pc:docChg chg="modSld">
      <pc:chgData name="Nair K, Parvathy" userId="S::parvathy.nairk@boeing.com::89e5d52d-3cb3-4cd5-9f82-36afa5ecc367" providerId="AD" clId="Web-{66B7529C-DE82-8FF0-FEE1-7485D7E52645}" dt="2025-11-21T07:01:57.068" v="0" actId="1076"/>
      <pc:docMkLst>
        <pc:docMk/>
      </pc:docMkLst>
      <pc:sldChg chg="modSp">
        <pc:chgData name="Nair K, Parvathy" userId="S::parvathy.nairk@boeing.com::89e5d52d-3cb3-4cd5-9f82-36afa5ecc367" providerId="AD" clId="Web-{66B7529C-DE82-8FF0-FEE1-7485D7E52645}" dt="2025-11-21T07:01:57.068" v="0" actId="1076"/>
        <pc:sldMkLst>
          <pc:docMk/>
          <pc:sldMk cId="0" sldId="280"/>
        </pc:sldMkLst>
        <pc:picChg chg="mod">
          <ac:chgData name="Nair K, Parvathy" userId="S::parvathy.nairk@boeing.com::89e5d52d-3cb3-4cd5-9f82-36afa5ecc367" providerId="AD" clId="Web-{66B7529C-DE82-8FF0-FEE1-7485D7E52645}" dt="2025-11-21T07:01:57.068" v="0" actId="1076"/>
          <ac:picMkLst>
            <pc:docMk/>
            <pc:sldMk cId="0" sldId="280"/>
            <ac:picMk id="4" creationId="{14894465-59BE-B109-1B50-38EEE2CD9256}"/>
          </ac:picMkLst>
        </pc:picChg>
      </pc:sldChg>
    </pc:docChg>
  </pc:docChgLst>
  <pc:docChgLst>
    <pc:chgData name="Bharti, Manisha" userId="S::manisha.bharti@boeing.com::1b4a6a8a-07d2-43a4-a360-e589f4e7a34c" providerId="AD" clId="Web-{BE41817C-5255-AD3A-6AFF-9655B3911065}"/>
    <pc:docChg chg="modSld">
      <pc:chgData name="Bharti, Manisha" userId="S::manisha.bharti@boeing.com::1b4a6a8a-07d2-43a4-a360-e589f4e7a34c" providerId="AD" clId="Web-{BE41817C-5255-AD3A-6AFF-9655B3911065}" dt="2025-11-21T05:30:18.316" v="0" actId="1076"/>
      <pc:docMkLst>
        <pc:docMk/>
      </pc:docMkLst>
      <pc:sldChg chg="modSp">
        <pc:chgData name="Bharti, Manisha" userId="S::manisha.bharti@boeing.com::1b4a6a8a-07d2-43a4-a360-e589f4e7a34c" providerId="AD" clId="Web-{BE41817C-5255-AD3A-6AFF-9655B3911065}" dt="2025-11-21T05:30:18.316" v="0" actId="1076"/>
        <pc:sldMkLst>
          <pc:docMk/>
          <pc:sldMk cId="0" sldId="263"/>
        </pc:sldMkLst>
        <pc:picChg chg="mod">
          <ac:chgData name="Bharti, Manisha" userId="S::manisha.bharti@boeing.com::1b4a6a8a-07d2-43a4-a360-e589f4e7a34c" providerId="AD" clId="Web-{BE41817C-5255-AD3A-6AFF-9655B3911065}" dt="2025-11-21T05:30:18.316" v="0" actId="1076"/>
          <ac:picMkLst>
            <pc:docMk/>
            <pc:sldMk cId="0" sldId="263"/>
            <ac:picMk id="18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788220B-3981-A67E-1144-EF40BAC56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7CC19F0F-53C5-4A7E-477E-1EDFC299F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B78C417-B84A-9F88-0EA8-9BD8E9DBBD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6457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A5ED1D1-50BB-3525-1E6F-ACC15545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E255E50-E01F-583F-8CA6-480A89AEC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47C5972-6492-59BB-0105-44329F23F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1806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B311AEC-A5AD-0502-33DC-8200A5D8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C5D31FD-D279-A083-5DC7-DCCE3E494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226BC2A-0859-68C7-5093-96FD1FE819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7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A </a:t>
            </a:r>
            <a:r>
              <a:rPr lang="en-US" b="1"/>
              <a:t>container</a:t>
            </a:r>
            <a:r>
              <a:rPr lang="en-US"/>
              <a:t> is a lightweight, standalone, and executable package of software that includes everything needed to run an application: the code, runtime, system tools, libraries, and settings.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b="1"/>
              <a:t>How Docker Operates Without a Guest OS</a:t>
            </a:r>
          </a:p>
          <a:p>
            <a:pPr lvl="1"/>
            <a:r>
              <a:rPr lang="en-US" b="1"/>
              <a:t>Containers Share the Host OS Kernel</a:t>
            </a:r>
          </a:p>
          <a:p>
            <a:pPr lvl="2"/>
            <a:r>
              <a:rPr lang="en-US" b="1"/>
              <a:t>Containers</a:t>
            </a:r>
            <a:r>
              <a:rPr lang="en-US"/>
              <a:t> do </a:t>
            </a:r>
            <a:r>
              <a:rPr lang="en-US" b="1"/>
              <a:t>not</a:t>
            </a:r>
            <a:r>
              <a:rPr lang="en-US"/>
              <a:t> need a separate "guest OS" for each app.</a:t>
            </a:r>
          </a:p>
          <a:p>
            <a:pPr lvl="2"/>
            <a:r>
              <a:rPr lang="en-US"/>
              <a:t>Instead, all containers </a:t>
            </a:r>
            <a:r>
              <a:rPr lang="en-US" b="1"/>
              <a:t>share the kernel of the host operating system</a:t>
            </a:r>
            <a:r>
              <a:rPr lang="en-US"/>
              <a:t>.</a:t>
            </a:r>
          </a:p>
          <a:p>
            <a:pPr lvl="2"/>
            <a:r>
              <a:rPr lang="en-US"/>
              <a:t>Each container has its own isolated user space (file system, processes, network, etc.), but they all use the same underlying OS kernel.</a:t>
            </a:r>
          </a:p>
          <a:p>
            <a:pPr lvl="1"/>
            <a:r>
              <a:rPr lang="en-US" b="1"/>
              <a:t>What Does This Mean?</a:t>
            </a:r>
          </a:p>
          <a:p>
            <a:pPr lvl="2"/>
            <a:r>
              <a:rPr lang="en-US" b="1"/>
              <a:t>No need to boot a full OS</a:t>
            </a:r>
            <a:r>
              <a:rPr lang="en-US"/>
              <a:t> for each app. This makes containers lightweight and fast.</a:t>
            </a:r>
          </a:p>
          <a:p>
            <a:pPr lvl="2"/>
            <a:r>
              <a:rPr lang="en-US"/>
              <a:t>The </a:t>
            </a:r>
            <a:r>
              <a:rPr lang="en-US" b="1"/>
              <a:t>Docker Engine</a:t>
            </a:r>
            <a:r>
              <a:rPr lang="en-US"/>
              <a:t> manages these isolated environments, ensuring each app thinks it has its own OS, but in reality, they are all using the host's kernel.</a:t>
            </a:r>
          </a:p>
          <a:p>
            <a:pPr lvl="1"/>
            <a:endParaRPr lang="en-US"/>
          </a:p>
          <a:p>
            <a:pPr lvl="1"/>
            <a:r>
              <a:rPr lang="en-US" b="1"/>
              <a:t>How Do Apps Run?</a:t>
            </a:r>
          </a:p>
          <a:p>
            <a:pPr lvl="2"/>
            <a:r>
              <a:rPr lang="en-US"/>
              <a:t>Each container includes everything the app needs to run: code, libraries, dependencies, and configuration files.</a:t>
            </a:r>
          </a:p>
          <a:p>
            <a:pPr lvl="2"/>
            <a:r>
              <a:rPr lang="en-US"/>
              <a:t>The container runs as a process on the host OS, isolated from other containers by the Docker Engine using kernel features like </a:t>
            </a:r>
            <a:r>
              <a:rPr lang="en-US" b="1"/>
              <a:t>namespaces</a:t>
            </a:r>
            <a:r>
              <a:rPr lang="en-US"/>
              <a:t> and </a:t>
            </a:r>
            <a:r>
              <a:rPr lang="en-US" b="1" err="1"/>
              <a:t>cgroups</a:t>
            </a:r>
            <a:endParaRPr lang="en-US"/>
          </a:p>
          <a:p>
            <a:pPr lvl="1"/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dockerd</a:t>
            </a:r>
            <a:r>
              <a:rPr lang="en-US"/>
              <a:t> is the </a:t>
            </a:r>
            <a:r>
              <a:rPr lang="en-US" b="1"/>
              <a:t>Docker daemon</a:t>
            </a:r>
            <a:r>
              <a:rPr lang="en-US"/>
              <a:t>—the background service that manages Docker containers, images, networks, and storage on your system.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r>
              <a:rPr lang="en-US" b="1"/>
              <a:t>Docker Engine</a:t>
            </a:r>
            <a:r>
              <a:rPr lang="en-US"/>
              <a:t> is the official term for the core Docker software that runs containers. It includes: </a:t>
            </a:r>
          </a:p>
          <a:p>
            <a:pPr lvl="1"/>
            <a:r>
              <a:rPr lang="en-US"/>
              <a:t>The Docker daemon (</a:t>
            </a:r>
            <a:r>
              <a:rPr lang="en-US" err="1"/>
              <a:t>dockerd</a:t>
            </a:r>
            <a:r>
              <a:rPr lang="en-US"/>
              <a:t>)</a:t>
            </a:r>
          </a:p>
          <a:p>
            <a:pPr lvl="1"/>
            <a:r>
              <a:rPr lang="en-US"/>
              <a:t>The REST API</a:t>
            </a:r>
          </a:p>
          <a:p>
            <a:pPr lvl="1"/>
            <a:r>
              <a:rPr lang="en-US"/>
              <a:t>The CLI (docker)</a:t>
            </a:r>
          </a:p>
          <a:p>
            <a:r>
              <a:rPr lang="en-US" b="1"/>
              <a:t>Docker Server</a:t>
            </a:r>
            <a:r>
              <a:rPr lang="en-US"/>
              <a:t> is not an official term, but some people use it informally to refer to the Docker Engine or the host running Docker.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How Docker Layers Work</a:t>
            </a:r>
          </a:p>
          <a:p>
            <a:pPr lvl="1"/>
            <a:r>
              <a:rPr lang="en-US" b="1"/>
              <a:t>Each instruction</a:t>
            </a:r>
            <a:r>
              <a:rPr lang="en-US"/>
              <a:t> in your </a:t>
            </a:r>
            <a:r>
              <a:rPr lang="en-US" err="1"/>
              <a:t>Dockerfile</a:t>
            </a:r>
            <a:r>
              <a:rPr lang="en-US"/>
              <a:t> (like FROM, RUN, COPY, ADD, etc.) creates a new layer.</a:t>
            </a:r>
          </a:p>
          <a:p>
            <a:pPr lvl="1"/>
            <a:r>
              <a:rPr lang="en-US" b="1"/>
              <a:t>Layers are cached:</a:t>
            </a:r>
            <a:r>
              <a:rPr lang="en-US"/>
              <a:t> If nothing changes in a layer, Docker reuses it to speed up builds.</a:t>
            </a:r>
          </a:p>
          <a:p>
            <a:pPr lvl="1"/>
            <a:r>
              <a:rPr lang="en-US" b="1"/>
              <a:t>Layers are read-only:</a:t>
            </a:r>
            <a:r>
              <a:rPr lang="en-US"/>
              <a:t> Only the top layer (when running a container) is writable.</a:t>
            </a:r>
          </a:p>
          <a:p>
            <a:pPr lvl="1"/>
            <a:br>
              <a:rPr lang="en-US"/>
            </a:br>
            <a:endParaRPr lang="en-US"/>
          </a:p>
          <a:p>
            <a:r>
              <a:rPr lang="en-US" b="1"/>
              <a:t>What does each layer do?</a:t>
            </a:r>
          </a:p>
          <a:p>
            <a:pPr lvl="1"/>
            <a:r>
              <a:rPr lang="en-US"/>
              <a:t>Here’s a breakdown of common </a:t>
            </a:r>
            <a:r>
              <a:rPr lang="en-US" err="1"/>
              <a:t>Dockerfile</a:t>
            </a:r>
            <a:r>
              <a:rPr lang="en-US"/>
              <a:t> instructions and what their layers contain:</a:t>
            </a:r>
          </a:p>
          <a:p>
            <a:pPr lvl="2"/>
            <a:r>
              <a:rPr lang="en-US" err="1"/>
              <a:t>FROMThe</a:t>
            </a:r>
            <a:r>
              <a:rPr lang="en-US"/>
              <a:t> base image (e.g., python:3.9-slim). This is the first layer.</a:t>
            </a:r>
          </a:p>
          <a:p>
            <a:pPr lvl="2"/>
            <a:r>
              <a:rPr lang="en-US" err="1"/>
              <a:t>RUNThe</a:t>
            </a:r>
            <a:r>
              <a:rPr lang="en-US"/>
              <a:t> result of running a command (e.g., installing packages, updating files).</a:t>
            </a:r>
          </a:p>
          <a:p>
            <a:pPr lvl="2"/>
            <a:r>
              <a:rPr lang="en-US"/>
              <a:t>COPY / ADD The files or directories copied into the image at this step.</a:t>
            </a:r>
          </a:p>
          <a:p>
            <a:pPr lvl="2"/>
            <a:r>
              <a:rPr lang="en-US"/>
              <a:t>ENV Environment variable settings for subsequent layers.</a:t>
            </a:r>
          </a:p>
          <a:p>
            <a:pPr lvl="2"/>
            <a:r>
              <a:rPr lang="en-US"/>
              <a:t>WORKDIR Sets the working directory for following instructions.</a:t>
            </a:r>
          </a:p>
          <a:p>
            <a:pPr lvl="2"/>
            <a:r>
              <a:rPr lang="en-US"/>
              <a:t>EXPOSE Metadata about which ports the container will listen on (does not actually open the port).</a:t>
            </a:r>
          </a:p>
          <a:p>
            <a:pPr lvl="2"/>
            <a:r>
              <a:rPr lang="en-US"/>
              <a:t>CMD / </a:t>
            </a:r>
            <a:r>
              <a:rPr lang="en-US" err="1"/>
              <a:t>ENTRYPOINTThe</a:t>
            </a:r>
            <a:r>
              <a:rPr lang="en-US"/>
              <a:t> default command to run when the container starts (not a layer, but metadata).</a:t>
            </a:r>
          </a:p>
          <a:p>
            <a:pPr lvl="1"/>
            <a:endParaRPr lang="en-US"/>
          </a:p>
          <a:p>
            <a:pPr marL="615950" lvl="1" indent="0">
              <a:buNone/>
            </a:pPr>
            <a:endParaRPr lang="en-US"/>
          </a:p>
          <a:p>
            <a:r>
              <a:rPr lang="en-US" b="1"/>
              <a:t>Why are layers important?</a:t>
            </a:r>
          </a:p>
          <a:p>
            <a:pPr lvl="1"/>
            <a:r>
              <a:rPr lang="en-US" b="1"/>
              <a:t>Caching:</a:t>
            </a:r>
            <a:r>
              <a:rPr lang="en-US"/>
              <a:t> If you change a file or command, only that layer and the ones after it are rebuilt.</a:t>
            </a:r>
          </a:p>
          <a:p>
            <a:pPr lvl="1"/>
            <a:r>
              <a:rPr lang="en-US" b="1"/>
              <a:t>Efficiency:</a:t>
            </a:r>
            <a:r>
              <a:rPr lang="en-US"/>
              <a:t> Layers are shared between images if they are identical, saving disk space and speeding up builds.</a:t>
            </a:r>
          </a:p>
          <a:p>
            <a:pPr lvl="1"/>
            <a:r>
              <a:rPr lang="en-US" b="1"/>
              <a:t>Portability:</a:t>
            </a:r>
            <a:r>
              <a:rPr lang="en-US"/>
              <a:t> Each layer is stored as a separate object, so Docker can transfer only the layers you don’t already have.</a:t>
            </a:r>
          </a:p>
          <a:p>
            <a:pPr lvl="1"/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786148C-2188-D911-F18D-E68D9FA4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F8363A8-D13B-A5DA-DB02-F8AA76191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9168D68-1198-8813-CFC7-05245D613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90857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7FEC4CC2-238A-9E6D-316A-4E5DAFE2D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9:notes">
            <a:extLst>
              <a:ext uri="{FF2B5EF4-FFF2-40B4-BE49-F238E27FC236}">
                <a16:creationId xmlns:a16="http://schemas.microsoft.com/office/drawing/2014/main" id="{5B0C2FFA-D15B-FA39-0BFE-B07ED73D76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Docker Engine</a:t>
            </a:r>
            <a:r>
              <a:rPr lang="en-US"/>
              <a:t> is the official term for the core Docker software that runs containers. It includes: </a:t>
            </a:r>
          </a:p>
          <a:p>
            <a:pPr lvl="1"/>
            <a:r>
              <a:rPr lang="en-US"/>
              <a:t>The Docker daemon (</a:t>
            </a:r>
            <a:r>
              <a:rPr lang="en-US" err="1"/>
              <a:t>dockerd</a:t>
            </a:r>
            <a:r>
              <a:rPr lang="en-US"/>
              <a:t>)</a:t>
            </a:r>
          </a:p>
          <a:p>
            <a:pPr lvl="1"/>
            <a:r>
              <a:rPr lang="en-US"/>
              <a:t>The REST API</a:t>
            </a:r>
          </a:p>
          <a:p>
            <a:pPr lvl="1"/>
            <a:r>
              <a:rPr lang="en-US"/>
              <a:t>The CLI (docker)</a:t>
            </a:r>
          </a:p>
          <a:p>
            <a:r>
              <a:rPr lang="en-US" b="1"/>
              <a:t>Docker Server</a:t>
            </a:r>
            <a:r>
              <a:rPr lang="en-US"/>
              <a:t> is not an official term, but some people use it informally to refer to the Docker Engine or the host running Docker.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9:notes">
            <a:extLst>
              <a:ext uri="{FF2B5EF4-FFF2-40B4-BE49-F238E27FC236}">
                <a16:creationId xmlns:a16="http://schemas.microsoft.com/office/drawing/2014/main" id="{BB3CE22F-5B1E-A711-844C-3B8481F2B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38368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>
          <a:extLst>
            <a:ext uri="{FF2B5EF4-FFF2-40B4-BE49-F238E27FC236}">
              <a16:creationId xmlns:a16="http://schemas.microsoft.com/office/drawing/2014/main" id="{B1D0A3DC-4D94-01F6-A982-DCBD91CF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:notes">
            <a:extLst>
              <a:ext uri="{FF2B5EF4-FFF2-40B4-BE49-F238E27FC236}">
                <a16:creationId xmlns:a16="http://schemas.microsoft.com/office/drawing/2014/main" id="{D92F4CA3-C6A2-65B3-144F-1AAB9F18B7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multiple times (with the same tag, e.g., </a:t>
            </a:r>
            <a:r>
              <a:rPr lang="en-US" err="1"/>
              <a:t>my-image:latest</a:t>
            </a:r>
            <a:r>
              <a:rPr lang="en-US"/>
              <a:t>), </a:t>
            </a:r>
            <a:r>
              <a:rPr lang="en-US" b="1"/>
              <a:t>Docker does NOT create a new, separate image with a new name each time</a:t>
            </a:r>
            <a:r>
              <a:rPr lang="en-US"/>
              <a:t>. Instead:</a:t>
            </a:r>
          </a:p>
          <a:p>
            <a:pPr lvl="1"/>
            <a:r>
              <a:rPr lang="en-US" b="1"/>
              <a:t>Docker creates a new image layer and assigns the specified tag (e.g., </a:t>
            </a:r>
            <a:r>
              <a:rPr lang="en-US" b="1" err="1"/>
              <a:t>my-image:latest</a:t>
            </a:r>
            <a:r>
              <a:rPr lang="en-US" b="1"/>
              <a:t>) to the new image.</a:t>
            </a:r>
            <a:endParaRPr lang="en-US"/>
          </a:p>
          <a:p>
            <a:pPr lvl="1"/>
            <a:r>
              <a:rPr lang="en-US" b="1"/>
              <a:t>The tag now points to the new image.</a:t>
            </a:r>
            <a:endParaRPr lang="en-US"/>
          </a:p>
          <a:p>
            <a:pPr lvl="1"/>
            <a:r>
              <a:rPr lang="en-US" b="1"/>
              <a:t>The old image is not immediately deleted</a:t>
            </a:r>
            <a:r>
              <a:rPr lang="en-US"/>
              <a:t>—it remains in Docker’s local image storage, but it is untagged (called a "dangling image") unless no other tags point to it.</a:t>
            </a:r>
          </a:p>
          <a:p>
            <a:pPr lvl="1"/>
            <a:r>
              <a:rPr lang="en-US" b="1"/>
              <a:t>If no containers are using the old image, it may eventually be removed by Docker’s garbage collection (e.g., with docker image prune).</a:t>
            </a:r>
            <a:br>
              <a:rPr lang="en-US"/>
            </a:br>
            <a:endParaRPr lang="en-US"/>
          </a:p>
          <a:p>
            <a:r>
              <a:rPr lang="en-US" b="1"/>
              <a:t>Is it mutable or immutable?</a:t>
            </a:r>
          </a:p>
          <a:p>
            <a:pPr lvl="1"/>
            <a:r>
              <a:rPr lang="en-US" b="1"/>
              <a:t>Docker images themselves are immutable</a:t>
            </a:r>
            <a:r>
              <a:rPr lang="en-US"/>
              <a:t>—once created, their contents do not change.</a:t>
            </a:r>
          </a:p>
          <a:p>
            <a:pPr lvl="1"/>
            <a:r>
              <a:rPr lang="en-US" b="1"/>
              <a:t>Tags are mutable</a:t>
            </a:r>
            <a:r>
              <a:rPr lang="en-US"/>
              <a:t>—the tag (like </a:t>
            </a:r>
            <a:r>
              <a:rPr lang="en-US" err="1"/>
              <a:t>my-image:latest</a:t>
            </a:r>
            <a:r>
              <a:rPr lang="en-US"/>
              <a:t>) can be moved to point to a new image, similar to how a variable in Python can point to a new </a:t>
            </a:r>
            <a:r>
              <a:rPr lang="en-US" err="1"/>
              <a:t>objec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4:notes">
            <a:extLst>
              <a:ext uri="{FF2B5EF4-FFF2-40B4-BE49-F238E27FC236}">
                <a16:creationId xmlns:a16="http://schemas.microsoft.com/office/drawing/2014/main" id="{37DCF6D0-2CEB-8AD3-C5FE-64FF3AD5B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61238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>
          <a:extLst>
            <a:ext uri="{FF2B5EF4-FFF2-40B4-BE49-F238E27FC236}">
              <a16:creationId xmlns:a16="http://schemas.microsoft.com/office/drawing/2014/main" id="{5CE28F93-F232-EF6D-1D8A-8B86E5B8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:notes">
            <a:extLst>
              <a:ext uri="{FF2B5EF4-FFF2-40B4-BE49-F238E27FC236}">
                <a16:creationId xmlns:a16="http://schemas.microsoft.com/office/drawing/2014/main" id="{63779FA5-3C48-FC01-1F98-07DCD9D2B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4:notes">
            <a:extLst>
              <a:ext uri="{FF2B5EF4-FFF2-40B4-BE49-F238E27FC236}">
                <a16:creationId xmlns:a16="http://schemas.microsoft.com/office/drawing/2014/main" id="{BCFA56C8-F7EA-6EE0-6FF9-01DF8075D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6012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EEF8F650-93BC-3E74-88F5-57990DC4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>
            <a:extLst>
              <a:ext uri="{FF2B5EF4-FFF2-40B4-BE49-F238E27FC236}">
                <a16:creationId xmlns:a16="http://schemas.microsoft.com/office/drawing/2014/main" id="{C705E6DF-232B-E951-DC58-BD1FEFBAC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On </a:t>
            </a:r>
            <a:r>
              <a:rPr lang="en-US" b="1"/>
              <a:t>Windows</a:t>
            </a:r>
            <a:r>
              <a:rPr lang="en-US"/>
              <a:t> (with Docker Desktop), Docker runs inside a lightweight VM (using WSL2 or Hyper-V). The volume data is stored </a:t>
            </a:r>
            <a:r>
              <a:rPr lang="en-US" b="1"/>
              <a:t>inside the VM’s virtual disk</a:t>
            </a:r>
            <a:r>
              <a:rPr lang="en-US"/>
              <a:t>, not directly in your Windows file system.</a:t>
            </a:r>
          </a:p>
          <a:p>
            <a:pPr lvl="1"/>
            <a:r>
              <a:rPr lang="en-US"/>
              <a:t>You </a:t>
            </a:r>
            <a:r>
              <a:rPr lang="en-US" b="1"/>
              <a:t>cannot easily browse</a:t>
            </a:r>
            <a:r>
              <a:rPr lang="en-US"/>
              <a:t> these files with Windows Explorer.</a:t>
            </a:r>
          </a:p>
          <a:p>
            <a:pPr lvl="1"/>
            <a:r>
              <a:rPr lang="en-US"/>
              <a:t>The data </a:t>
            </a:r>
            <a:r>
              <a:rPr lang="en-US" b="1"/>
              <a:t>persists</a:t>
            </a:r>
            <a:r>
              <a:rPr lang="en-US"/>
              <a:t> as long as the volume exists, even if you delete containers.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r>
              <a:rPr lang="en-US" b="1"/>
              <a:t>In short:</a:t>
            </a:r>
            <a:endParaRPr lang="en-US"/>
          </a:p>
          <a:p>
            <a:pPr lvl="1"/>
            <a:r>
              <a:rPr lang="en-US" b="1"/>
              <a:t>Volume</a:t>
            </a:r>
            <a:r>
              <a:rPr lang="en-US"/>
              <a:t> = storage, not a container, not running code. A </a:t>
            </a:r>
            <a:r>
              <a:rPr lang="en-US" b="1"/>
              <a:t>volume</a:t>
            </a:r>
            <a:r>
              <a:rPr lang="en-US"/>
              <a:t> is just a folder or storage area managed by Docker. It does </a:t>
            </a:r>
            <a:r>
              <a:rPr lang="en-US" b="1"/>
              <a:t>not run</a:t>
            </a:r>
            <a:r>
              <a:rPr lang="en-US"/>
              <a:t> any code, does </a:t>
            </a:r>
            <a:r>
              <a:rPr lang="en-US" b="1"/>
              <a:t>not have processes</a:t>
            </a:r>
            <a:r>
              <a:rPr lang="en-US"/>
              <a:t>, and is </a:t>
            </a:r>
            <a:r>
              <a:rPr lang="en-US" b="1"/>
              <a:t>not a container</a:t>
            </a:r>
            <a:r>
              <a:rPr lang="en-US"/>
              <a:t>. It is used to </a:t>
            </a:r>
            <a:r>
              <a:rPr lang="en-US" b="1"/>
              <a:t>store data</a:t>
            </a:r>
            <a:r>
              <a:rPr lang="en-US"/>
              <a:t> that containers can read from and write to.</a:t>
            </a:r>
          </a:p>
          <a:p>
            <a:pPr lvl="1"/>
            <a:r>
              <a:rPr lang="en-US" b="1"/>
              <a:t>Container</a:t>
            </a:r>
            <a:r>
              <a:rPr lang="en-US"/>
              <a:t> = runs your app, can use volumes for data.</a:t>
            </a:r>
          </a:p>
          <a:p>
            <a:pPr lvl="1"/>
            <a:r>
              <a:rPr lang="en-US" b="1"/>
              <a:t>Network</a:t>
            </a:r>
            <a:r>
              <a:rPr lang="en-US"/>
              <a:t> = lets containers talk to each other.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3:notes">
            <a:extLst>
              <a:ext uri="{FF2B5EF4-FFF2-40B4-BE49-F238E27FC236}">
                <a16:creationId xmlns:a16="http://schemas.microsoft.com/office/drawing/2014/main" id="{8CEA0F9A-7F57-68A8-BC18-0658D53DA8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9404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011D920C-FBC3-DB1F-E890-A6230FDB2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>
            <a:extLst>
              <a:ext uri="{FF2B5EF4-FFF2-40B4-BE49-F238E27FC236}">
                <a16:creationId xmlns:a16="http://schemas.microsoft.com/office/drawing/2014/main" id="{82148A20-E1EB-B9EE-A762-8162A4A2E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This image illustrates </a:t>
            </a:r>
            <a:r>
              <a:rPr lang="en-US" b="1"/>
              <a:t>host-based persistence shared among containers</a:t>
            </a:r>
            <a:r>
              <a:rPr lang="en-US"/>
              <a:t> using Docker </a:t>
            </a:r>
            <a:r>
              <a:rPr lang="en-US" b="1"/>
              <a:t>volumes</a:t>
            </a:r>
            <a:r>
              <a:rPr lang="en-US"/>
              <a:t>.</a:t>
            </a:r>
          </a:p>
          <a:p>
            <a:pPr lvl="1"/>
            <a:r>
              <a:rPr lang="en-US" b="1"/>
              <a:t>Host</a:t>
            </a:r>
            <a:r>
              <a:rPr lang="en-US"/>
              <a:t>:</a:t>
            </a:r>
            <a:br>
              <a:rPr lang="en-US"/>
            </a:br>
            <a:r>
              <a:rPr lang="en-US"/>
              <a:t>	The large box represents your physical or virtual machine (the host) where Docker is running.</a:t>
            </a:r>
            <a:br>
              <a:rPr lang="en-US"/>
            </a:br>
            <a:r>
              <a:rPr lang="en-US"/>
              <a:t>	Inside the host, there is a directory (e.g., /opt/web/config and /opt/web/logs).</a:t>
            </a:r>
          </a:p>
          <a:p>
            <a:pPr lvl="1"/>
            <a:r>
              <a:rPr lang="en-US" b="1"/>
              <a:t>Containers</a:t>
            </a:r>
            <a:r>
              <a:rPr lang="en-US"/>
              <a:t>:</a:t>
            </a:r>
            <a:br>
              <a:rPr lang="en-US"/>
            </a:br>
            <a:r>
              <a:rPr lang="en-US"/>
              <a:t>	There are two containers (Container 1 and Container 2), each running an app that expects to read/write to /web/config and /web/logs.</a:t>
            </a:r>
          </a:p>
          <a:p>
            <a:pPr lvl="1"/>
            <a:r>
              <a:rPr lang="en-US" b="1"/>
              <a:t>Volume Mounting</a:t>
            </a:r>
            <a:r>
              <a:rPr lang="en-US"/>
              <a:t>:</a:t>
            </a:r>
            <a:br>
              <a:rPr lang="en-US"/>
            </a:br>
            <a:r>
              <a:rPr lang="en-US"/>
              <a:t>	Both containers are configured to </a:t>
            </a:r>
            <a:r>
              <a:rPr lang="en-US" b="1"/>
              <a:t>mount</a:t>
            </a:r>
            <a:r>
              <a:rPr lang="en-US"/>
              <a:t> the host’s /opt/web/config and /opt/web/logs directories into their own file systems at /web/config and /web/logs.</a:t>
            </a:r>
            <a:br>
              <a:rPr lang="en-US"/>
            </a:br>
            <a:r>
              <a:rPr lang="en-US"/>
              <a:t>	This means any changes made by either container to these directories are </a:t>
            </a:r>
            <a:r>
              <a:rPr lang="en-US" b="1"/>
              <a:t>reflected on the host</a:t>
            </a:r>
            <a:r>
              <a:rPr lang="en-US"/>
              <a:t> and </a:t>
            </a:r>
            <a:r>
              <a:rPr lang="en-US" b="1"/>
              <a:t>shared between containers</a:t>
            </a:r>
            <a:r>
              <a:rPr lang="en-US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r>
              <a:rPr lang="en-US" b="1"/>
              <a:t>What does "directory on the host is created outside Docker Engine" mean?</a:t>
            </a:r>
          </a:p>
          <a:p>
            <a:pPr lvl="1"/>
            <a:r>
              <a:rPr lang="en-US" b="1"/>
              <a:t>"Outside Docker Engine"</a:t>
            </a:r>
            <a:r>
              <a:rPr lang="en-US"/>
              <a:t> means the directory is part of your host’s regular file system, not inside Docker’s internal storage or the container’s writable layer.</a:t>
            </a:r>
          </a:p>
          <a:p>
            <a:pPr lvl="1"/>
            <a:r>
              <a:rPr lang="en-US" b="1"/>
              <a:t>On Windows</a:t>
            </a:r>
            <a:r>
              <a:rPr lang="en-US"/>
              <a:t>:</a:t>
            </a:r>
            <a:br>
              <a:rPr lang="en-US"/>
            </a:br>
            <a:r>
              <a:rPr lang="en-US"/>
              <a:t>	Yes, this directory is created in your Windows file system (e.g., C:\Users\YourName\some-folder), and you can access it with File Explorer or any other tool.</a:t>
            </a:r>
          </a:p>
          <a:p>
            <a:pPr lvl="1"/>
            <a:r>
              <a:rPr lang="en-US" b="1"/>
              <a:t>On Linux/Mac</a:t>
            </a:r>
            <a:r>
              <a:rPr lang="en-US"/>
              <a:t>:</a:t>
            </a:r>
            <a:br>
              <a:rPr lang="en-US"/>
            </a:br>
            <a:r>
              <a:rPr lang="en-US"/>
              <a:t>	It’s a regular directory (e.g., /opt/web/config) on your host OS.</a:t>
            </a:r>
          </a:p>
          <a:p>
            <a:pPr lvl="1"/>
            <a:r>
              <a:rPr lang="en-US" b="1"/>
              <a:t>In summary:</a:t>
            </a:r>
            <a:br>
              <a:rPr lang="en-US"/>
            </a:br>
            <a:r>
              <a:rPr lang="en-US"/>
              <a:t>	The data is stored in a normal folder on your computer, not inside the container or hidden by Docker.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3:notes">
            <a:extLst>
              <a:ext uri="{FF2B5EF4-FFF2-40B4-BE49-F238E27FC236}">
                <a16:creationId xmlns:a16="http://schemas.microsoft.com/office/drawing/2014/main" id="{19E55970-7A42-2248-515E-D5A491E6D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99037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DCF54A8A-1241-F748-85D3-2213B398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>
            <a:extLst>
              <a:ext uri="{FF2B5EF4-FFF2-40B4-BE49-F238E27FC236}">
                <a16:creationId xmlns:a16="http://schemas.microsoft.com/office/drawing/2014/main" id="{73EC8651-4E85-BE21-BE81-FAC0ECC06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3:notes">
            <a:extLst>
              <a:ext uri="{FF2B5EF4-FFF2-40B4-BE49-F238E27FC236}">
                <a16:creationId xmlns:a16="http://schemas.microsoft.com/office/drawing/2014/main" id="{AAD9A157-9545-087C-ABCE-5D1CF75EF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933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A50E29A7-20BF-01EE-9D71-5E78A57C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>
            <a:extLst>
              <a:ext uri="{FF2B5EF4-FFF2-40B4-BE49-F238E27FC236}">
                <a16:creationId xmlns:a16="http://schemas.microsoft.com/office/drawing/2014/main" id="{059B6AFB-8974-1470-A375-146A7F1FF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3:notes">
            <a:extLst>
              <a:ext uri="{FF2B5EF4-FFF2-40B4-BE49-F238E27FC236}">
                <a16:creationId xmlns:a16="http://schemas.microsoft.com/office/drawing/2014/main" id="{73C2D94D-00DB-C36E-17EE-3CFFD610B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78815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CA4E4675-E5DB-1DC7-21C4-3A1B727BB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>
            <a:extLst>
              <a:ext uri="{FF2B5EF4-FFF2-40B4-BE49-F238E27FC236}">
                <a16:creationId xmlns:a16="http://schemas.microsoft.com/office/drawing/2014/main" id="{7E518F66-59AA-302F-94F3-B039C8AD4D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3:notes">
            <a:extLst>
              <a:ext uri="{FF2B5EF4-FFF2-40B4-BE49-F238E27FC236}">
                <a16:creationId xmlns:a16="http://schemas.microsoft.com/office/drawing/2014/main" id="{6D8A3EC6-450D-A314-C067-2B4C13740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1996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8134C7B2-1C05-3501-C121-D734C61D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>
            <a:extLst>
              <a:ext uri="{FF2B5EF4-FFF2-40B4-BE49-F238E27FC236}">
                <a16:creationId xmlns:a16="http://schemas.microsoft.com/office/drawing/2014/main" id="{A52C1FEE-B47A-A84D-995C-53213F074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3:notes">
            <a:extLst>
              <a:ext uri="{FF2B5EF4-FFF2-40B4-BE49-F238E27FC236}">
                <a16:creationId xmlns:a16="http://schemas.microsoft.com/office/drawing/2014/main" id="{5E61A1E1-B1E7-CD27-EDD6-379AEE13D5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53255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B4B6215E-AC72-3808-7B71-10456072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>
            <a:extLst>
              <a:ext uri="{FF2B5EF4-FFF2-40B4-BE49-F238E27FC236}">
                <a16:creationId xmlns:a16="http://schemas.microsoft.com/office/drawing/2014/main" id="{3DC094DD-F8EA-1FEB-4621-98CE6BEB2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3:notes">
            <a:extLst>
              <a:ext uri="{FF2B5EF4-FFF2-40B4-BE49-F238E27FC236}">
                <a16:creationId xmlns:a16="http://schemas.microsoft.com/office/drawing/2014/main" id="{D52396A1-9326-C0FC-7243-DE925F1FA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02046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6E929BE8-6C97-FD95-3BF6-870F5A80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9:notes">
            <a:extLst>
              <a:ext uri="{FF2B5EF4-FFF2-40B4-BE49-F238E27FC236}">
                <a16:creationId xmlns:a16="http://schemas.microsoft.com/office/drawing/2014/main" id="{BB638998-CD94-18BB-1991-B649E9592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Docker Engine</a:t>
            </a:r>
            <a:r>
              <a:rPr lang="en-US"/>
              <a:t> is the official term for the core Docker software that runs containers. It includes: </a:t>
            </a:r>
          </a:p>
          <a:p>
            <a:pPr lvl="1"/>
            <a:r>
              <a:rPr lang="en-US"/>
              <a:t>The Docker daemon (</a:t>
            </a:r>
            <a:r>
              <a:rPr lang="en-US" err="1"/>
              <a:t>dockerd</a:t>
            </a:r>
            <a:r>
              <a:rPr lang="en-US"/>
              <a:t>)</a:t>
            </a:r>
          </a:p>
          <a:p>
            <a:pPr lvl="1"/>
            <a:r>
              <a:rPr lang="en-US"/>
              <a:t>The REST API</a:t>
            </a:r>
          </a:p>
          <a:p>
            <a:pPr lvl="1"/>
            <a:r>
              <a:rPr lang="en-US"/>
              <a:t>The CLI (docker)</a:t>
            </a:r>
          </a:p>
          <a:p>
            <a:r>
              <a:rPr lang="en-US" b="1"/>
              <a:t>Docker Server</a:t>
            </a:r>
            <a:r>
              <a:rPr lang="en-US"/>
              <a:t> is not an official term, but some people use it informally to refer to the Docker Engine or the host running Docker.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9:notes">
            <a:extLst>
              <a:ext uri="{FF2B5EF4-FFF2-40B4-BE49-F238E27FC236}">
                <a16:creationId xmlns:a16="http://schemas.microsoft.com/office/drawing/2014/main" id="{1E7385B1-B60D-D065-9560-77DCD9499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5379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A854E21E-5DFF-48EF-9266-013AA92C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9:notes">
            <a:extLst>
              <a:ext uri="{FF2B5EF4-FFF2-40B4-BE49-F238E27FC236}">
                <a16:creationId xmlns:a16="http://schemas.microsoft.com/office/drawing/2014/main" id="{DF4F5FE6-945A-93A9-36CC-8208462158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Docker Engine</a:t>
            </a:r>
            <a:r>
              <a:rPr lang="en-US"/>
              <a:t> is the official term for the core Docker software that runs containers. It includes: </a:t>
            </a:r>
          </a:p>
          <a:p>
            <a:pPr lvl="1"/>
            <a:r>
              <a:rPr lang="en-US"/>
              <a:t>The Docker daemon (</a:t>
            </a:r>
            <a:r>
              <a:rPr lang="en-US" err="1"/>
              <a:t>dockerd</a:t>
            </a:r>
            <a:r>
              <a:rPr lang="en-US"/>
              <a:t>)</a:t>
            </a:r>
          </a:p>
          <a:p>
            <a:pPr lvl="1"/>
            <a:r>
              <a:rPr lang="en-US"/>
              <a:t>The REST API</a:t>
            </a:r>
          </a:p>
          <a:p>
            <a:pPr lvl="1"/>
            <a:r>
              <a:rPr lang="en-US"/>
              <a:t>The CLI (docker)</a:t>
            </a:r>
          </a:p>
          <a:p>
            <a:r>
              <a:rPr lang="en-US" b="1"/>
              <a:t>Docker Server</a:t>
            </a:r>
            <a:r>
              <a:rPr lang="en-US"/>
              <a:t> is not an official term, but some people use it informally to refer to the Docker Engine or the host running Docker.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9:notes">
            <a:extLst>
              <a:ext uri="{FF2B5EF4-FFF2-40B4-BE49-F238E27FC236}">
                <a16:creationId xmlns:a16="http://schemas.microsoft.com/office/drawing/2014/main" id="{467ACC90-3A24-1FA6-F8DE-D61CDC60C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70492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50623AF-12ED-C60C-41A0-19D02614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D3760D7-7E42-602E-33C9-FA9800F2C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78D8B94-FDDF-86E5-459A-2EE978F9B0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4237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95792" y="6532563"/>
            <a:ext cx="2376397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450"/>
            </a:lvl1pPr>
          </a:lstStyle>
          <a:p>
            <a:fld id="{689318A1-174D-4DEE-8106-03A37B9BCF15}" type="slidenum">
              <a:rPr lang="en-US" sz="750" smtClean="0"/>
              <a:pPr/>
              <a:t>‹#›</a:t>
            </a:fld>
            <a:endParaRPr lang="en-US" sz="750"/>
          </a:p>
        </p:txBody>
      </p:sp>
      <p:sp>
        <p:nvSpPr>
          <p:cNvPr id="27" name="Title 1"/>
          <p:cNvSpPr>
            <a:spLocks noGrp="1"/>
          </p:cNvSpPr>
          <p:nvPr>
            <p:ph type="title" hasCustomPrompt="1"/>
          </p:nvPr>
        </p:nvSpPr>
        <p:spPr>
          <a:xfrm>
            <a:off x="434433" y="1427131"/>
            <a:ext cx="11279688" cy="1361610"/>
          </a:xfrm>
        </p:spPr>
        <p:txBody>
          <a:bodyPr lIns="0" tIns="0" rIns="0" bIns="0">
            <a:normAutofit/>
          </a:bodyPr>
          <a:lstStyle>
            <a:lvl1pPr>
              <a:defRPr sz="4400" b="0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34433" y="4046070"/>
            <a:ext cx="11279688" cy="2199341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0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75438" indent="-123444">
              <a:buClr>
                <a:srgbClr val="48545C"/>
              </a:buClr>
              <a:defRPr sz="1200" baseline="0">
                <a:solidFill>
                  <a:srgbClr val="48545C"/>
                </a:solidFill>
              </a:defRPr>
            </a:lvl2pPr>
            <a:lvl3pPr marL="246888" indent="-123444">
              <a:buClr>
                <a:srgbClr val="48545C"/>
              </a:buClr>
              <a:buFont typeface="Wingdings" charset="2"/>
              <a:buChar char="§"/>
              <a:defRPr sz="1200">
                <a:solidFill>
                  <a:srgbClr val="48545C"/>
                </a:solidFill>
              </a:defRPr>
            </a:lvl3pPr>
            <a:lvl4pPr marL="384048" indent="-122635">
              <a:buClr>
                <a:srgbClr val="48545C"/>
              </a:buClr>
              <a:buFont typeface="Wingdings" charset="2"/>
              <a:buChar char="§"/>
              <a:defRPr sz="900">
                <a:solidFill>
                  <a:srgbClr val="48545C"/>
                </a:solidFill>
              </a:defRPr>
            </a:lvl4pPr>
            <a:lvl5pPr marL="717947" indent="-122635"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Authors:  </a:t>
            </a:r>
          </a:p>
          <a:p>
            <a:pPr lvl="0"/>
            <a:r>
              <a:rPr lang="en-US"/>
              <a:t>&lt;Name – Title, Org&gt;</a:t>
            </a:r>
          </a:p>
          <a:p>
            <a:pPr lvl="0"/>
            <a:endParaRPr lang="en-US"/>
          </a:p>
          <a:p>
            <a:pPr lvl="0"/>
            <a:r>
              <a:rPr lang="en-US"/>
              <a:t>Date: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591" y="132400"/>
            <a:ext cx="3150479" cy="8611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1803"/>
            <a:ext cx="12192000" cy="11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5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de_Page_HeaderBar_1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49E8DD-FF81-1940-903D-167F491627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344" y="1432908"/>
            <a:ext cx="10980835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C68FC903-7584-354B-BEBC-16207367C7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BOEING PROPRIETARY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8D37AAF8-24EE-0342-993F-8BF332F0E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1AB674-AA43-3C41-A5B8-C461D178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</p:spPr>
        <p:txBody>
          <a:bodyPr/>
          <a:lstStyle>
            <a:lvl1pPr>
              <a:defRPr sz="2200">
                <a:solidFill>
                  <a:srgbClr val="5B677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EB4F12-802E-D643-81B6-02F8AAD3A2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445303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433" y="1309265"/>
            <a:ext cx="11279688" cy="2119736"/>
          </a:xfrm>
        </p:spPr>
        <p:txBody>
          <a:bodyPr>
            <a:normAutofit/>
          </a:bodyPr>
          <a:lstStyle/>
          <a:p>
            <a:pPr algn="ctr"/>
            <a:r>
              <a:rPr lang="en-US" sz="6000" b="1">
                <a:solidFill>
                  <a:srgbClr val="2496ED"/>
                </a:solidFill>
                <a:latin typeface="+mj-lt"/>
                <a:cs typeface="Poppins"/>
                <a:sym typeface="Arial"/>
              </a:rPr>
              <a:t>Boeing Cloud Implementation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881547" y="3974995"/>
            <a:ext cx="10378124" cy="2584503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2">
                    <a:lumMod val="60000"/>
                    <a:lumOff val="40000"/>
                  </a:schemeClr>
                </a:solidFill>
              </a:rPr>
              <a:t>Anirban Sarkar (Data Scientist, BT&amp;E)</a:t>
            </a:r>
          </a:p>
          <a:p>
            <a:r>
              <a:rPr lang="en-US">
                <a:solidFill>
                  <a:schemeClr val="bg2">
                    <a:lumMod val="60000"/>
                    <a:lumOff val="40000"/>
                  </a:schemeClr>
                </a:solidFill>
              </a:rPr>
              <a:t>Ashutosh Jha (Data Scientist, Boeing AI)</a:t>
            </a:r>
            <a:endParaRPr lang="en-US" sz="200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349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7E62BC2-1C38-B6D3-E7EC-D892FA40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C6C82D16-2C5B-5B96-59DD-F11938C26F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B4DAEDEF-26A6-2529-22B2-244260244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08" y="1587543"/>
            <a:ext cx="11845253" cy="4519099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3D327A81-5C52-23D8-AD07-ACDCB70B839D}"/>
              </a:ext>
            </a:extLst>
          </p:cNvPr>
          <p:cNvSpPr txBox="1">
            <a:spLocks/>
          </p:cNvSpPr>
          <p:nvPr/>
        </p:nvSpPr>
        <p:spPr>
          <a:xfrm>
            <a:off x="222238" y="516588"/>
            <a:ext cx="11747523" cy="661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rgbClr val="2496ED"/>
                </a:solidFill>
                <a:latin typeface="+mj-lt"/>
                <a:cs typeface="Poppins"/>
                <a:sym typeface="Calibri"/>
              </a:rPr>
              <a:t>What is Cloud Computing?</a:t>
            </a:r>
          </a:p>
        </p:txBody>
      </p:sp>
    </p:spTree>
    <p:extLst>
      <p:ext uri="{BB962C8B-B14F-4D97-AF65-F5344CB8AC3E}">
        <p14:creationId xmlns:p14="http://schemas.microsoft.com/office/powerpoint/2010/main" val="377256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0EA5008-45C3-EB80-6B3C-4A01B321C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7E4BA4CE-984B-29BA-DCBB-CACF105AD7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C91906-CD4A-611B-8227-1FD0B586B615}"/>
              </a:ext>
            </a:extLst>
          </p:cNvPr>
          <p:cNvSpPr/>
          <p:nvPr/>
        </p:nvSpPr>
        <p:spPr bwMode="auto">
          <a:xfrm>
            <a:off x="175467" y="170990"/>
            <a:ext cx="12187097" cy="3768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2496ED"/>
                </a:solidFill>
                <a:latin typeface="+mj-lt"/>
                <a:cs typeface="Poppins"/>
                <a:sym typeface="Calibri"/>
              </a:rPr>
              <a:t>Cloud Strategy Approach</a:t>
            </a:r>
          </a:p>
        </p:txBody>
      </p:sp>
      <p:pic>
        <p:nvPicPr>
          <p:cNvPr id="4" name="Picture 4" descr="saas vs paas vs iaas breakdown">
            <a:extLst>
              <a:ext uri="{FF2B5EF4-FFF2-40B4-BE49-F238E27FC236}">
                <a16:creationId xmlns:a16="http://schemas.microsoft.com/office/drawing/2014/main" id="{DE60AB1E-FB06-0EE5-210D-A908E4DB0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46" y="1507612"/>
            <a:ext cx="8174141" cy="436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B01D40-B5C2-E94F-4736-C1A9E63E2762}"/>
              </a:ext>
            </a:extLst>
          </p:cNvPr>
          <p:cNvSpPr txBox="1"/>
          <p:nvPr/>
        </p:nvSpPr>
        <p:spPr>
          <a:xfrm>
            <a:off x="9286251" y="1695504"/>
            <a:ext cx="2894054" cy="3702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36" b="1" u="sng">
                <a:solidFill>
                  <a:schemeClr val="accent2"/>
                </a:solidFill>
              </a:rPr>
              <a:t>Cloud SaaS Strategy</a:t>
            </a:r>
          </a:p>
          <a:p>
            <a:r>
              <a:rPr lang="en-US" sz="1836">
                <a:solidFill>
                  <a:schemeClr val="accent2"/>
                </a:solidFill>
              </a:rPr>
              <a:t>Move commoditized processes to SaaS as required capabilities are met.</a:t>
            </a:r>
          </a:p>
          <a:p>
            <a:endParaRPr lang="en-US" sz="1836">
              <a:solidFill>
                <a:schemeClr val="accent2"/>
              </a:solidFill>
            </a:endParaRPr>
          </a:p>
          <a:p>
            <a:r>
              <a:rPr lang="en-US" sz="1836" b="1" u="sng">
                <a:solidFill>
                  <a:schemeClr val="accent2"/>
                </a:solidFill>
              </a:rPr>
              <a:t>Cloud PaaS Strategy</a:t>
            </a:r>
          </a:p>
          <a:p>
            <a:r>
              <a:rPr lang="en-US" sz="1836">
                <a:solidFill>
                  <a:schemeClr val="accent2"/>
                </a:solidFill>
              </a:rPr>
              <a:t>Move specific processes to PaaS as investments allow.</a:t>
            </a:r>
          </a:p>
          <a:p>
            <a:endParaRPr lang="en-US" sz="1836">
              <a:solidFill>
                <a:schemeClr val="accent2"/>
              </a:solidFill>
            </a:endParaRPr>
          </a:p>
          <a:p>
            <a:r>
              <a:rPr lang="en-US" sz="1836" b="1" u="sng">
                <a:solidFill>
                  <a:schemeClr val="accent2"/>
                </a:solidFill>
              </a:rPr>
              <a:t>Cloud IaaS Strategy</a:t>
            </a:r>
          </a:p>
          <a:p>
            <a:r>
              <a:rPr lang="en-US" sz="1836">
                <a:solidFill>
                  <a:schemeClr val="accent2"/>
                </a:solidFill>
              </a:rPr>
              <a:t>Move the rest to IaaS</a:t>
            </a:r>
          </a:p>
          <a:p>
            <a:endParaRPr lang="en-US" sz="1428">
              <a:solidFill>
                <a:srgbClr val="50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53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C1E4B385-72C6-8E4B-F9E2-C5631C73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6CE8422A-F30C-B61A-EDC1-815658F1B3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70CEF335-1BE7-CF0B-D5A9-FD0CC22CCF8C}"/>
              </a:ext>
            </a:extLst>
          </p:cNvPr>
          <p:cNvSpPr txBox="1"/>
          <p:nvPr/>
        </p:nvSpPr>
        <p:spPr>
          <a:xfrm>
            <a:off x="295275" y="2141190"/>
            <a:ext cx="1160145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Docker: From "It Works on </a:t>
            </a:r>
            <a:r>
              <a:rPr lang="en-US" sz="6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My Machine</a:t>
            </a:r>
            <a:r>
              <a:rPr lang="en-US" sz="6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" to </a:t>
            </a:r>
            <a:r>
              <a:rPr lang="en-US" sz="6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Everywhere</a:t>
            </a:r>
            <a:r>
              <a:rPr lang="en-US" sz="6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.</a:t>
            </a:r>
            <a:endParaRPr>
              <a:latin typeface="+mj-lt"/>
            </a:endParaRPr>
          </a:p>
        </p:txBody>
      </p:sp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8D20C993-BEBC-0515-2051-18B851F50BA0}"/>
              </a:ext>
            </a:extLst>
          </p:cNvPr>
          <p:cNvSpPr txBox="1"/>
          <p:nvPr/>
        </p:nvSpPr>
        <p:spPr>
          <a:xfrm>
            <a:off x="571500" y="4160490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+mj-lt"/>
                <a:ea typeface="Lato"/>
                <a:cs typeface="Lato"/>
                <a:sym typeface="Lato"/>
              </a:rPr>
              <a:t>An In-Depth Guide to Containers, Volumes, &amp; Compose</a:t>
            </a:r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162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057400" y="2898576"/>
            <a:ext cx="80772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"But... it works on my machine!"</a:t>
            </a:r>
            <a:endParaRPr>
              <a:latin typeface="+mj-lt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529137" y="3824287"/>
            <a:ext cx="31337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+mj-lt"/>
                <a:ea typeface="Lato"/>
                <a:cs typeface="Lato"/>
                <a:sym typeface="Lato"/>
              </a:rPr>
              <a:t>— Every Developer, At Some Point</a:t>
            </a:r>
            <a:endParaRPr>
              <a:latin typeface="+mj-lt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676400" y="4367212"/>
            <a:ext cx="88392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+mj-lt"/>
                <a:ea typeface="Lato"/>
                <a:cs typeface="Lato"/>
                <a:sym typeface="Lato"/>
              </a:rPr>
              <a:t>This is the classic, frustrating problem that ruins deployments and wastes countless hours.</a:t>
            </a:r>
            <a:endParaRPr>
              <a:latin typeface="+mj-lt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581150" y="318432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220325" y="3443287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Problem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We All Face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"Matrix of Hell"</a:t>
            </a:r>
            <a:endParaRPr>
              <a:latin typeface="+mj-lt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233362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Why does this happen? The environment is different! Your code isn't the only thing that matters. Its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environment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does, too.</a:t>
            </a:r>
            <a:endParaRPr>
              <a:latin typeface="+mn-lt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714375" y="30527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09625" y="305365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Different OS (Mac vs. Linux vs. Windows)</a:t>
            </a:r>
            <a:endParaRPr>
              <a:latin typeface="+mn-lt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714375" y="3469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09625" y="3470820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Different library versions (Python 3.8 vs 3.9)</a:t>
            </a:r>
            <a:endParaRPr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14375" y="3887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09625" y="388798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Different databases (PostgreSQL 12 vs 14)</a:t>
            </a:r>
            <a:endParaRPr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714375" y="430419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09625" y="4305151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Different environment variables &amp; configs</a:t>
            </a:r>
            <a:endParaRPr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14375" y="472136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4722316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Subtle file path differences (/user/ vs C:\)</a:t>
            </a:r>
            <a:endParaRPr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 panose="00000500000000000000" pitchFamily="2" charset="0"/>
                <a:sym typeface="Poppins"/>
              </a:rPr>
              <a:t>What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 panose="00000500000000000000" pitchFamily="2" charset="0"/>
                <a:sym typeface="Poppins"/>
              </a:rPr>
              <a:t>Causes</a:t>
            </a: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 panose="00000500000000000000" pitchFamily="2" charset="0"/>
                <a:sym typeface="Poppins"/>
              </a:rPr>
              <a:t> This?</a:t>
            </a:r>
            <a:endParaRPr>
              <a:latin typeface="+mj-lt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Virtual Machines (VMs)</a:t>
            </a:r>
            <a:endParaRPr>
              <a:latin typeface="+mj-lt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33362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For years, we solved this with VMs. A VM is a complete, emulated computer running inside your *actual* computer.</a:t>
            </a:r>
            <a:endParaRPr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14375" y="30527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09625" y="305365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 bundles 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full Guest Operating System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>
              <a:latin typeface="+mn-lt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714375" y="3469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09625" y="3470820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 provides strong, hardware-level isolation.</a:t>
            </a:r>
            <a:endParaRPr>
              <a:latin typeface="+mn-lt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714375" y="3887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09625" y="388798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 reliably creates a consistent environment.</a:t>
            </a:r>
            <a:endParaRPr>
              <a:latin typeface="+mn-lt"/>
            </a:endParaRP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5731" y="2933700"/>
            <a:ext cx="2443162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 panose="00000500000000000000" pitchFamily="2" charset="0"/>
                <a:sym typeface="Poppins"/>
              </a:rPr>
              <a:t>The "Old" Solution: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 panose="00000500000000000000" pitchFamily="2" charset="0"/>
                <a:sym typeface="Poppins"/>
              </a:rPr>
              <a:t>Virtual Machines</a:t>
            </a:r>
            <a:endParaRPr>
              <a:latin typeface="+mj-lt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How VMs Work</a:t>
            </a:r>
            <a:endParaRPr>
              <a:latin typeface="+mj-l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233362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This diagram shows why VMs are so heavy. Each application has its own OS. This is a lot of waste.</a:t>
            </a:r>
            <a:endParaRPr>
              <a:latin typeface="+mn-lt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14375" y="30527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09625" y="305365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Infrastructure: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The physical server.</a:t>
            </a:r>
            <a:endParaRPr>
              <a:latin typeface="+mn-lt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714375" y="3469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09625" y="3470820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Hypervisor: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Software that creates/runs VMs (e.g., VMWare, VirtualBox).</a:t>
            </a:r>
            <a:endParaRPr>
              <a:latin typeface="+mn-lt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714375" y="416132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09625" y="4162276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Guest OS: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A *full* copy of an OS (e.g., 10GB of Ubuntu) for *each app*.</a:t>
            </a:r>
            <a:endParaRPr>
              <a:latin typeface="+mn-lt"/>
            </a:endParaRPr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VM Architecture: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The Heavyweight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Drawbacks</a:t>
            </a:r>
            <a:endParaRPr>
              <a:latin typeface="+mj-lt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233362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While reliable, VMs have major drawbacks for modern, fast-paced development.</a:t>
            </a:r>
            <a:endParaRPr>
              <a:latin typeface="+mn-lt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714375" y="30527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09625" y="305365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Heavy: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Each VM is </a:t>
            </a:r>
            <a:r>
              <a:rPr lang="en-US" sz="1350" b="1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GigaBytes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in size.</a:t>
            </a:r>
            <a:endParaRPr>
              <a:latin typeface="+mn-lt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714375" y="3469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09625" y="3470820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Slow: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They take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minutes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to boot up (like a real computer).</a:t>
            </a:r>
            <a:endParaRPr>
              <a:latin typeface="+mn-lt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714375" y="3887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09625" y="3887985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Resource-Hungry: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They consume a fixed, large amount of RAM and CPU, even when idle.</a:t>
            </a:r>
            <a:endParaRPr>
              <a:latin typeface="+mn-lt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714375" y="457848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09625" y="4579441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Poor Portability: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A 20GB VM file isn't easy to "just send" to a co-worker.</a:t>
            </a:r>
            <a:endParaRPr>
              <a:latin typeface="+mn-lt"/>
            </a:endParaRPr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5731" y="2933700"/>
            <a:ext cx="2443162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Problem</a:t>
            </a: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 with VMs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5619750" y="2713732"/>
            <a:ext cx="952500" cy="47625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1640443" y="3047107"/>
            <a:ext cx="8911113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A New Approach: Containers</a:t>
            </a:r>
            <a:endParaRPr>
              <a:latin typeface="+mj-lt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2581275" y="4094857"/>
            <a:ext cx="70294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We need the isolation of a VM, but the lightness and speed of a single process.</a:t>
            </a:r>
            <a:endParaRPr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26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The Modern Solution</a:t>
            </a:r>
            <a:endParaRPr>
              <a:latin typeface="+mn-lt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233362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 is a platform for developing, shipping, and running applications in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containers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>
              <a:latin typeface="+mn-lt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3053655"/>
            <a:ext cx="528637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It's a technology that provides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OS-level virtualization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, allowing us to package an application and its dependencies into a lightweight, isolated "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container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."</a:t>
            </a:r>
            <a:endParaRPr>
              <a:latin typeface="+mn-lt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4047976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It's the tool that finally, and elegantly, solves the "it works on my machine" problem.</a:t>
            </a:r>
            <a:endParaRPr>
              <a:latin typeface="+mn-lt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What is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Docker?</a:t>
            </a:r>
            <a:endParaRPr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35F5EC-BD3B-1A7D-A2D6-511D2932B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907" y="2823482"/>
            <a:ext cx="2279106" cy="19687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2110501" y="2014686"/>
            <a:ext cx="797099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Shipping Container Analogy</a:t>
            </a:r>
            <a:endParaRPr>
              <a:latin typeface="+mj-lt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809750" y="2986236"/>
            <a:ext cx="85725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This is the most important concept. Before containers, loading a ship was chaotic (barrels, sacks, boxes). Standardized containers changed global trade. It doesn't matter *what's* inside the box; the ship, train, and crane can all handle it the same way.</a:t>
            </a:r>
            <a:endParaRPr>
              <a:latin typeface="+mn-lt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3409949" y="5028497"/>
            <a:ext cx="5372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Docker is the shipping container for software.</a:t>
            </a:r>
            <a:endParaRPr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How Containers Work</a:t>
            </a:r>
            <a:endParaRPr>
              <a:latin typeface="+mj-lt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233362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This is why containers are so fast. They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share the Host OS kernel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>
              <a:latin typeface="+mn-lt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714375" y="27784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809625" y="2779365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 Engine: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The software that runs and manages containers.</a:t>
            </a:r>
            <a:endParaRPr>
              <a:latin typeface="+mn-lt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714375" y="36290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773906" y="3538434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No Guest OS: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The container only holds the app and its libraries (Bins/Libs).</a:t>
            </a:r>
            <a:endParaRPr>
              <a:latin typeface="+mn-lt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726281" y="452388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22721" y="4429612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Result: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Starts in seconds, measured in </a:t>
            </a:r>
            <a:r>
              <a:rPr lang="en-US" sz="1350" b="1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MegaBytes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>
              <a:latin typeface="+mn-lt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Container Architecture: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The Lightweight</a:t>
            </a:r>
            <a:endParaRPr>
              <a:latin typeface="+mj-lt"/>
            </a:endParaRPr>
          </a:p>
        </p:txBody>
      </p:sp>
      <p:pic>
        <p:nvPicPr>
          <p:cNvPr id="1026" name="Picture 2" descr="Bitovi Academy - What is Docker">
            <a:extLst>
              <a:ext uri="{FF2B5EF4-FFF2-40B4-BE49-F238E27FC236}">
                <a16:creationId xmlns:a16="http://schemas.microsoft.com/office/drawing/2014/main" id="{678B91D7-F67C-1613-1E0D-918BFF6DA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844" y="1939692"/>
            <a:ext cx="5403199" cy="3548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8" name="Google Shape;218;p23"/>
          <p:cNvGraphicFramePr/>
          <p:nvPr>
            <p:extLst>
              <p:ext uri="{D42A27DB-BD31-4B8C-83A1-F6EECF244321}">
                <p14:modId xmlns:p14="http://schemas.microsoft.com/office/powerpoint/2010/main" val="3666660718"/>
              </p:ext>
            </p:extLst>
          </p:nvPr>
        </p:nvGraphicFramePr>
        <p:xfrm>
          <a:off x="571500" y="2014537"/>
          <a:ext cx="11049000" cy="3781225"/>
        </p:xfrm>
        <a:graphic>
          <a:graphicData uri="http://schemas.openxmlformats.org/drawingml/2006/table">
            <a:tbl>
              <a:tblPr firstRow="1" bandRow="1">
                <a:noFill/>
                <a:tableStyleId>{8BF887E9-070F-447A-A5A4-2A66F0032043}</a:tableStyleId>
              </a:tblPr>
              <a:tblGrid>
                <a:gridCol w="279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Virtual Machines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Containers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Size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Gigabytes (GBs)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Megabytes (MBs)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Start-up Time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Minutes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Seconds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Overhead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High (Full Guest OS)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Low (Shared Kernel)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Isolation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Hardware-level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OS-level (Process)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Analogy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A Full House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An Apartment / A Condo</a:t>
                      </a:r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9" name="Google Shape;219;p23"/>
          <p:cNvSpPr/>
          <p:nvPr/>
        </p:nvSpPr>
        <p:spPr>
          <a:xfrm>
            <a:off x="571500" y="2657475"/>
            <a:ext cx="2797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369319" y="2657475"/>
            <a:ext cx="3991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361187" y="2657475"/>
            <a:ext cx="4259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71500" y="3284190"/>
            <a:ext cx="2797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369319" y="3284190"/>
            <a:ext cx="3991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7361187" y="3284190"/>
            <a:ext cx="4259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71500" y="3910905"/>
            <a:ext cx="2797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3369319" y="3910905"/>
            <a:ext cx="3991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361187" y="3910905"/>
            <a:ext cx="4259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71500" y="4537620"/>
            <a:ext cx="2797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3369319" y="4537620"/>
            <a:ext cx="3991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7361187" y="4537620"/>
            <a:ext cx="4259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71500" y="5164335"/>
            <a:ext cx="27978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369319" y="5164335"/>
            <a:ext cx="3991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361187" y="5164335"/>
            <a:ext cx="4259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At a Glance: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VMs vs. Containers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/>
          <p:nvPr/>
        </p:nvSpPr>
        <p:spPr>
          <a:xfrm>
            <a:off x="5619750" y="2713732"/>
            <a:ext cx="952500" cy="47625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685323" y="3047107"/>
            <a:ext cx="1082135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"How": Docker's Core Concepts</a:t>
            </a:r>
            <a:endParaRPr>
              <a:latin typeface="+mj-lt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3952875" y="4094857"/>
            <a:ext cx="42862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Let's look at the pieces that make Docker work.</a:t>
            </a:r>
            <a:endParaRPr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Client-Server Architecture</a:t>
            </a:r>
            <a:endParaRPr>
              <a:latin typeface="+mj-lt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571500" y="233362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 isn't just one thing. It's a client-server application.</a:t>
            </a:r>
            <a:endParaRPr>
              <a:latin typeface="+mn-lt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571500" y="4333726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When you type `docker run`, the client tells the daemon to run a container.</a:t>
            </a:r>
            <a:endParaRPr>
              <a:latin typeface="+mn-lt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714375" y="27784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809625" y="277936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Client: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The `docker` command in your terminal.</a:t>
            </a:r>
            <a:endParaRPr>
              <a:latin typeface="+mn-lt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714375" y="31955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809625" y="3196530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Server (Daemon):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A background service (`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dockerd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`) that listens for API requests.</a:t>
            </a:r>
            <a:endParaRPr>
              <a:latin typeface="+mn-lt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714375" y="3887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809625" y="388798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API: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The `docker` client talks to the daemon via a REST API.</a:t>
            </a:r>
            <a:endParaRPr>
              <a:latin typeface="+mn-lt"/>
            </a:endParaRPr>
          </a:p>
        </p:txBody>
      </p:sp>
      <p:pic>
        <p:nvPicPr>
          <p:cNvPr id="258" name="Google Shape;25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Core: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The Docker Engine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Blueprint</a:t>
            </a:r>
            <a:endParaRPr>
              <a:latin typeface="+mj-lt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571500" y="233362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This is the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blueprint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 A simple, human-readable text file with instructions to build an image.</a:t>
            </a:r>
            <a:endParaRPr>
              <a:latin typeface="+mn-lt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714375" y="30527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809625" y="305365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`FROM python:3.9` - "Start with Python 3.9"</a:t>
            </a:r>
            <a:endParaRPr>
              <a:latin typeface="+mn-lt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714375" y="3469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809625" y="3470820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`COPY . /app` - "Copy my code into the /app folder"</a:t>
            </a:r>
            <a:endParaRPr>
              <a:latin typeface="+mn-lt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714375" y="3887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809625" y="388798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`RUN pip install -r requirements.txt` - "Install my libraries"</a:t>
            </a:r>
            <a:endParaRPr>
              <a:latin typeface="+mn-lt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714375" y="430419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809625" y="4305151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`CMD ["python", "app.py"]` - "Set the default command to run"</a:t>
            </a:r>
            <a:endParaRPr>
              <a:latin typeface="+mn-lt"/>
            </a:endParaRPr>
          </a:p>
        </p:txBody>
      </p:sp>
      <p:pic>
        <p:nvPicPr>
          <p:cNvPr id="276" name="Google Shape;27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5731" y="2933700"/>
            <a:ext cx="2443162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1. The </a:t>
            </a:r>
            <a:r>
              <a:rPr lang="en-US" sz="3000" b="1" i="0" u="none" strike="noStrike" cap="none" err="1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Dockerfile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Template</a:t>
            </a:r>
            <a:endParaRPr>
              <a:latin typeface="+mj-lt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571500" y="233362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An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Image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is the template, created from the 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Dockerfile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>
              <a:latin typeface="+mn-lt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714375" y="27784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809625" y="277936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It's 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read-only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snapshot.</a:t>
            </a:r>
            <a:endParaRPr>
              <a:latin typeface="+mn-lt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714375" y="31955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809625" y="3196530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 contains your application, all its dependencies, libraries, and configuration.</a:t>
            </a:r>
            <a:endParaRPr>
              <a:latin typeface="+mn-lt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714375" y="3887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809625" y="3887985"/>
            <a:ext cx="50482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Images are built in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layers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 If you only change your code (not `requirements.txt`), Docker only rebuilds the final, small layer. This is very fast.</a:t>
            </a:r>
            <a:endParaRPr>
              <a:latin typeface="+mn-lt"/>
            </a:endParaRPr>
          </a:p>
        </p:txBody>
      </p:sp>
      <p:pic>
        <p:nvPicPr>
          <p:cNvPr id="292" name="Google Shape;29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5731" y="2933700"/>
            <a:ext cx="2443162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2. The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Image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Running Instance</a:t>
            </a:r>
            <a:endParaRPr>
              <a:latin typeface="+mj-lt"/>
            </a:endParaRPr>
          </a:p>
        </p:txBody>
      </p:sp>
      <p:sp>
        <p:nvSpPr>
          <p:cNvPr id="301" name="Google Shape;301;p28"/>
          <p:cNvSpPr txBox="1"/>
          <p:nvPr/>
        </p:nvSpPr>
        <p:spPr>
          <a:xfrm>
            <a:off x="571500" y="233362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Container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is 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running instance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of an image.</a:t>
            </a:r>
            <a:endParaRPr>
              <a:latin typeface="+mn-lt"/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714375" y="27784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809625" y="277936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It's the live, executing "box" that runs your code.</a:t>
            </a:r>
            <a:endParaRPr>
              <a:latin typeface="+mn-lt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714375" y="31955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809625" y="3196530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It's lightweight, portable, and isolated.</a:t>
            </a:r>
            <a:endParaRPr>
              <a:latin typeface="+mn-lt"/>
            </a:endParaRPr>
          </a:p>
        </p:txBody>
      </p:sp>
      <p:sp>
        <p:nvSpPr>
          <p:cNvPr id="306" name="Google Shape;306;p28"/>
          <p:cNvSpPr txBox="1"/>
          <p:nvPr/>
        </p:nvSpPr>
        <p:spPr>
          <a:xfrm>
            <a:off x="714375" y="36127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809625" y="361369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You can start, stop, and delete containers.</a:t>
            </a:r>
            <a:endParaRPr>
              <a:latin typeface="+mn-lt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714375" y="40299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809625" y="4030860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You can run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many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containers from the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same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image. (e.g., 10 copies of your web server).</a:t>
            </a:r>
            <a:endParaRPr>
              <a:latin typeface="+mn-lt"/>
            </a:endParaRPr>
          </a:p>
        </p:txBody>
      </p:sp>
      <p:pic>
        <p:nvPicPr>
          <p:cNvPr id="310" name="Google Shape;31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5731" y="2933700"/>
            <a:ext cx="2443162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3. The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Container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Build -&gt; Run -&gt; Share</a:t>
            </a:r>
            <a:endParaRPr>
              <a:latin typeface="+mj-lt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571500" y="233362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This is the magic loop of Docker development.</a:t>
            </a:r>
            <a:endParaRPr>
              <a:latin typeface="+mn-lt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819150" y="2778412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952500" y="2779365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Write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your `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Dockerfile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 (the blueprint).</a:t>
            </a:r>
            <a:endParaRPr>
              <a:latin typeface="+mn-lt"/>
            </a:endParaRPr>
          </a:p>
        </p:txBody>
      </p:sp>
      <p:sp>
        <p:nvSpPr>
          <p:cNvPr id="322" name="Google Shape;322;p29"/>
          <p:cNvSpPr txBox="1"/>
          <p:nvPr/>
        </p:nvSpPr>
        <p:spPr>
          <a:xfrm>
            <a:off x="819150" y="3195577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952500" y="3196530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Build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a read-only `Image` from the file (`docker build`).</a:t>
            </a:r>
            <a:endParaRPr>
              <a:latin typeface="+mn-lt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819150" y="3612743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952500" y="3613695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Run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one or more `Containers` from that image (`docker run`).</a:t>
            </a:r>
            <a:endParaRPr>
              <a:latin typeface="+mn-lt"/>
            </a:endParaRPr>
          </a:p>
        </p:txBody>
      </p:sp>
      <p:sp>
        <p:nvSpPr>
          <p:cNvPr id="326" name="Google Shape;326;p29"/>
          <p:cNvSpPr txBox="1"/>
          <p:nvPr/>
        </p:nvSpPr>
        <p:spPr>
          <a:xfrm>
            <a:off x="819150" y="4029908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952500" y="4030860"/>
            <a:ext cx="4905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Share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your `Image` on a registry (like Docker Hub) for others to use.</a:t>
            </a:r>
            <a:endParaRPr>
              <a:latin typeface="+mn-lt"/>
            </a:endParaRPr>
          </a:p>
        </p:txBody>
      </p:sp>
      <p:pic>
        <p:nvPicPr>
          <p:cNvPr id="328" name="Google Shape;32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Core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Workflow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0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Library</a:t>
            </a:r>
            <a:endParaRPr>
              <a:latin typeface="+mj-lt"/>
            </a:endParaRPr>
          </a:p>
        </p:txBody>
      </p:sp>
      <p:sp>
        <p:nvSpPr>
          <p:cNvPr id="337" name="Google Shape;337;p30"/>
          <p:cNvSpPr txBox="1"/>
          <p:nvPr/>
        </p:nvSpPr>
        <p:spPr>
          <a:xfrm>
            <a:off x="571500" y="233362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Where do you get images like `python:3.9`? From 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Registry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>
              <a:latin typeface="+mn-lt"/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714375" y="27784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809625" y="277936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A registry is a library for storing and sharing Docker images.</a:t>
            </a:r>
            <a:endParaRPr>
              <a:latin typeface="+mn-lt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714375" y="31955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809625" y="3196530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 Hub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is the default, public registry (like GitHub for code).</a:t>
            </a:r>
            <a:endParaRPr>
              <a:latin typeface="+mn-lt"/>
            </a:endParaRPr>
          </a:p>
        </p:txBody>
      </p:sp>
      <p:sp>
        <p:nvSpPr>
          <p:cNvPr id="342" name="Google Shape;342;p30"/>
          <p:cNvSpPr txBox="1"/>
          <p:nvPr/>
        </p:nvSpPr>
        <p:spPr>
          <a:xfrm>
            <a:off x="714375" y="36127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809625" y="361369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You `docker pull` official images (like Python, Ubuntu, Postgres).</a:t>
            </a:r>
            <a:endParaRPr>
              <a:latin typeface="+mn-lt"/>
            </a:endParaRPr>
          </a:p>
        </p:txBody>
      </p:sp>
      <p:sp>
        <p:nvSpPr>
          <p:cNvPr id="344" name="Google Shape;344;p30"/>
          <p:cNvSpPr txBox="1"/>
          <p:nvPr/>
        </p:nvSpPr>
        <p:spPr>
          <a:xfrm>
            <a:off x="714375" y="40299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809625" y="4030860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You `docker push` your own custom images to share with your team.</a:t>
            </a:r>
            <a:endParaRPr>
              <a:latin typeface="+mn-lt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4. Registries (e.g.,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Docker Hub</a:t>
            </a: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)</a:t>
            </a:r>
            <a:endParaRPr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24DF2-D37F-2371-4438-0F04E3142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76" y="2737924"/>
            <a:ext cx="2868540" cy="18340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1"/>
          <p:cNvSpPr/>
          <p:nvPr/>
        </p:nvSpPr>
        <p:spPr>
          <a:xfrm>
            <a:off x="5619750" y="2713732"/>
            <a:ext cx="952500" cy="47625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 txBox="1"/>
          <p:nvPr/>
        </p:nvSpPr>
        <p:spPr>
          <a:xfrm>
            <a:off x="1135379" y="3047107"/>
            <a:ext cx="992124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The "Why": Benefits &amp; Use Cases</a:t>
            </a:r>
            <a:endParaRPr>
              <a:latin typeface="+mj-lt"/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4176712" y="4094857"/>
            <a:ext cx="383857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Why has this taken over the tech industry?</a:t>
            </a:r>
            <a:endParaRPr>
              <a:latin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41214"/>
            <a:ext cx="5334000" cy="257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141214"/>
            <a:ext cx="5334000" cy="257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95750"/>
            <a:ext cx="5334000" cy="257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095750"/>
            <a:ext cx="5334000" cy="257353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2"/>
          <p:cNvSpPr txBox="1"/>
          <p:nvPr/>
        </p:nvSpPr>
        <p:spPr>
          <a:xfrm>
            <a:off x="2083355" y="2150864"/>
            <a:ext cx="23102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Speed &amp; Efficiency</a:t>
            </a:r>
            <a:endParaRPr>
              <a:latin typeface="+mj-lt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866775" y="2779514"/>
            <a:ext cx="4743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Starts in seconds, uses minimal resources. Pack 10s of containers on a machine that could only run 1-2 VMs.</a:t>
            </a:r>
            <a:endParaRPr>
              <a:latin typeface="+mn-lt"/>
            </a:endParaRPr>
          </a:p>
        </p:txBody>
      </p:sp>
      <p:sp>
        <p:nvSpPr>
          <p:cNvPr id="367" name="Google Shape;367;p32"/>
          <p:cNvSpPr txBox="1"/>
          <p:nvPr/>
        </p:nvSpPr>
        <p:spPr>
          <a:xfrm>
            <a:off x="8303418" y="2150864"/>
            <a:ext cx="13001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Portability</a:t>
            </a:r>
            <a:endParaRPr>
              <a:latin typeface="+mj-lt"/>
            </a:endParaRPr>
          </a:p>
        </p:txBody>
      </p:sp>
      <p:sp>
        <p:nvSpPr>
          <p:cNvPr id="368" name="Google Shape;368;p32"/>
          <p:cNvSpPr txBox="1"/>
          <p:nvPr/>
        </p:nvSpPr>
        <p:spPr>
          <a:xfrm>
            <a:off x="6581775" y="2779514"/>
            <a:ext cx="4743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Your "box" runs on your Mac, your team's Windows, and the AWS Linux server identically. No more surprises.</a:t>
            </a:r>
            <a:endParaRPr>
              <a:latin typeface="+mn-lt"/>
            </a:endParaRPr>
          </a:p>
        </p:txBody>
      </p:sp>
      <p:sp>
        <p:nvSpPr>
          <p:cNvPr id="369" name="Google Shape;369;p32"/>
          <p:cNvSpPr txBox="1"/>
          <p:nvPr/>
        </p:nvSpPr>
        <p:spPr>
          <a:xfrm>
            <a:off x="2693431" y="5105400"/>
            <a:ext cx="10901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Isolation</a:t>
            </a:r>
            <a:endParaRPr>
              <a:latin typeface="+mj-lt"/>
            </a:endParaRPr>
          </a:p>
        </p:txBody>
      </p:sp>
      <p:sp>
        <p:nvSpPr>
          <p:cNvPr id="370" name="Google Shape;370;p32"/>
          <p:cNvSpPr txBox="1"/>
          <p:nvPr/>
        </p:nvSpPr>
        <p:spPr>
          <a:xfrm>
            <a:off x="866775" y="5734050"/>
            <a:ext cx="4743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Run Project A with Python 2.7 and Project B with Python 3.9 on the same machine with zero conflicts.</a:t>
            </a:r>
            <a:endParaRPr>
              <a:latin typeface="+mn-lt"/>
            </a:endParaRPr>
          </a:p>
        </p:txBody>
      </p:sp>
      <p:sp>
        <p:nvSpPr>
          <p:cNvPr id="371" name="Google Shape;371;p32"/>
          <p:cNvSpPr txBox="1"/>
          <p:nvPr/>
        </p:nvSpPr>
        <p:spPr>
          <a:xfrm>
            <a:off x="8008381" y="5105400"/>
            <a:ext cx="18902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Reproducibility</a:t>
            </a:r>
            <a:endParaRPr>
              <a:latin typeface="+mj-lt"/>
            </a:endParaRPr>
          </a:p>
        </p:txBody>
      </p:sp>
      <p:sp>
        <p:nvSpPr>
          <p:cNvPr id="372" name="Google Shape;372;p32"/>
          <p:cNvSpPr txBox="1"/>
          <p:nvPr/>
        </p:nvSpPr>
        <p:spPr>
          <a:xfrm>
            <a:off x="6581775" y="5734050"/>
            <a:ext cx="4743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The </a:t>
            </a:r>
            <a:r>
              <a:rPr lang="en-US" sz="120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Dockerfile</a:t>
            </a:r>
            <a:r>
              <a:rPr lang="en-US" sz="120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guarantees every environment is built *exactly* the same, every time. Perfect for testing.</a:t>
            </a:r>
            <a:endParaRPr>
              <a:latin typeface="+mn-lt"/>
            </a:endParaRPr>
          </a:p>
        </p:txBody>
      </p:sp>
      <p:pic>
        <p:nvPicPr>
          <p:cNvPr id="373" name="Google Shape;373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38475" y="145553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24900" y="145553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09900" y="4410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24900" y="44100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2"/>
          <p:cNvSpPr txBox="1"/>
          <p:nvPr/>
        </p:nvSpPr>
        <p:spPr>
          <a:xfrm>
            <a:off x="571500" y="188714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Key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Benefits</a:t>
            </a: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 of Docker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3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Small, Independent Services</a:t>
            </a:r>
            <a:endParaRPr>
              <a:latin typeface="+mj-lt"/>
            </a:endParaRPr>
          </a:p>
        </p:txBody>
      </p:sp>
      <p:sp>
        <p:nvSpPr>
          <p:cNvPr id="385" name="Google Shape;385;p33"/>
          <p:cNvSpPr txBox="1"/>
          <p:nvPr/>
        </p:nvSpPr>
        <p:spPr>
          <a:xfrm>
            <a:off x="571500" y="233362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 is the perfect tool for a microservice architecture.</a:t>
            </a:r>
            <a:endParaRPr>
              <a:latin typeface="+mn-lt"/>
            </a:endParaRPr>
          </a:p>
        </p:txBody>
      </p:sp>
      <p:sp>
        <p:nvSpPr>
          <p:cNvPr id="386" name="Google Shape;386;p33"/>
          <p:cNvSpPr txBox="1"/>
          <p:nvPr/>
        </p:nvSpPr>
        <p:spPr>
          <a:xfrm>
            <a:off x="714375" y="27784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809625" y="2779365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Monolith: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One giant application. If one part fails, the whole app might go down.</a:t>
            </a:r>
            <a:endParaRPr>
              <a:latin typeface="+mn-lt"/>
            </a:endParaRPr>
          </a:p>
        </p:txBody>
      </p:sp>
      <p:sp>
        <p:nvSpPr>
          <p:cNvPr id="388" name="Google Shape;388;p33"/>
          <p:cNvSpPr txBox="1"/>
          <p:nvPr/>
        </p:nvSpPr>
        <p:spPr>
          <a:xfrm>
            <a:off x="714375" y="3469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89" name="Google Shape;389;p33"/>
          <p:cNvSpPr txBox="1"/>
          <p:nvPr/>
        </p:nvSpPr>
        <p:spPr>
          <a:xfrm>
            <a:off x="809625" y="3470820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Microservices: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Break the app into small, independent services (e.g., `users`, `products`, `cart`).</a:t>
            </a:r>
            <a:endParaRPr>
              <a:latin typeface="+mn-lt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714375" y="416132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1" name="Google Shape;391;p33"/>
          <p:cNvSpPr txBox="1"/>
          <p:nvPr/>
        </p:nvSpPr>
        <p:spPr>
          <a:xfrm>
            <a:off x="809625" y="4162276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Each service runs in its own container, can be scaled independently, and can even be written in different languages!</a:t>
            </a:r>
            <a:endParaRPr>
              <a:latin typeface="+mn-lt"/>
            </a:endParaRPr>
          </a:p>
        </p:txBody>
      </p:sp>
      <p:pic>
        <p:nvPicPr>
          <p:cNvPr id="392" name="Google Shape;39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3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Use Case: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Microservices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4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Automated Testing</a:t>
            </a:r>
            <a:endParaRPr>
              <a:latin typeface="+mj-lt"/>
            </a:endParaRPr>
          </a:p>
        </p:txBody>
      </p:sp>
      <p:sp>
        <p:nvSpPr>
          <p:cNvPr id="401" name="Google Shape;401;p34"/>
          <p:cNvSpPr txBox="1"/>
          <p:nvPr/>
        </p:nvSpPr>
        <p:spPr>
          <a:xfrm>
            <a:off x="571500" y="233362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CI/CD (Continuous Integration / Continuous Delivery) is about automated testing and deployment.</a:t>
            </a:r>
            <a:endParaRPr>
              <a:latin typeface="+mn-lt"/>
            </a:endParaRPr>
          </a:p>
        </p:txBody>
      </p:sp>
      <p:sp>
        <p:nvSpPr>
          <p:cNvPr id="402" name="Google Shape;402;p34"/>
          <p:cNvSpPr txBox="1"/>
          <p:nvPr/>
        </p:nvSpPr>
        <p:spPr>
          <a:xfrm>
            <a:off x="714375" y="30527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3" name="Google Shape;403;p34"/>
          <p:cNvSpPr txBox="1"/>
          <p:nvPr/>
        </p:nvSpPr>
        <p:spPr>
          <a:xfrm>
            <a:off x="809625" y="305365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How do you ensure your test server is *identical* to production?</a:t>
            </a:r>
            <a:endParaRPr>
              <a:latin typeface="+mn-lt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714375" y="3469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809625" y="3470820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With Docker!</a:t>
            </a:r>
            <a:endParaRPr>
              <a:latin typeface="+mn-lt"/>
            </a:endParaRPr>
          </a:p>
        </p:txBody>
      </p:sp>
      <p:sp>
        <p:nvSpPr>
          <p:cNvPr id="406" name="Google Shape;406;p34"/>
          <p:cNvSpPr txBox="1"/>
          <p:nvPr/>
        </p:nvSpPr>
        <p:spPr>
          <a:xfrm>
            <a:off x="714375" y="3887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7" name="Google Shape;407;p34"/>
          <p:cNvSpPr txBox="1"/>
          <p:nvPr/>
        </p:nvSpPr>
        <p:spPr>
          <a:xfrm>
            <a:off x="809625" y="3887985"/>
            <a:ext cx="50482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The pipeline builds a Docker image, runs automated tests *inside* that container, and if it passes, pushes that *exact* image to production.</a:t>
            </a:r>
            <a:endParaRPr>
              <a:latin typeface="+mn-lt"/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714375" y="495535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9" name="Google Shape;409;p34"/>
          <p:cNvSpPr txBox="1"/>
          <p:nvPr/>
        </p:nvSpPr>
        <p:spPr>
          <a:xfrm>
            <a:off x="809625" y="4853731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Guarantees the code you tested is the code you run.</a:t>
            </a:r>
            <a:endParaRPr>
              <a:latin typeface="+mn-lt"/>
            </a:endParaRPr>
          </a:p>
        </p:txBody>
      </p:sp>
      <p:pic>
        <p:nvPicPr>
          <p:cNvPr id="410" name="Google Shape;410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4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Use Case: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CI/CD Pipelines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5"/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Clean &amp; Simple Dev</a:t>
            </a:r>
            <a:endParaRPr>
              <a:latin typeface="+mj-lt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571500" y="233362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You don't need to install Postgres, Redis, or RabbitMQ on your machine ever again!</a:t>
            </a:r>
            <a:endParaRPr>
              <a:latin typeface="+mn-lt"/>
            </a:endParaRPr>
          </a:p>
        </p:txBody>
      </p:sp>
      <p:sp>
        <p:nvSpPr>
          <p:cNvPr id="420" name="Google Shape;420;p35"/>
          <p:cNvSpPr txBox="1"/>
          <p:nvPr/>
        </p:nvSpPr>
        <p:spPr>
          <a:xfrm>
            <a:off x="714375" y="30527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809625" y="3003124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Just run the official containers.</a:t>
            </a:r>
            <a:endParaRPr>
              <a:latin typeface="+mn-lt"/>
            </a:endParaRPr>
          </a:p>
        </p:txBody>
      </p:sp>
      <p:sp>
        <p:nvSpPr>
          <p:cNvPr id="422" name="Google Shape;422;p35"/>
          <p:cNvSpPr txBox="1"/>
          <p:nvPr/>
        </p:nvSpPr>
        <p:spPr>
          <a:xfrm>
            <a:off x="714375" y="3469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822721" y="3412836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`docker run 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postgres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 gives you a clean, isolated database.</a:t>
            </a:r>
            <a:endParaRPr>
              <a:latin typeface="+mn-lt"/>
            </a:endParaRPr>
          </a:p>
        </p:txBody>
      </p:sp>
      <p:sp>
        <p:nvSpPr>
          <p:cNvPr id="424" name="Google Shape;424;p35"/>
          <p:cNvSpPr txBox="1"/>
          <p:nvPr/>
        </p:nvSpPr>
        <p:spPr>
          <a:xfrm>
            <a:off x="714375" y="3887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25" name="Google Shape;425;p35"/>
          <p:cNvSpPr txBox="1"/>
          <p:nvPr/>
        </p:nvSpPr>
        <p:spPr>
          <a:xfrm>
            <a:off x="809625" y="3887985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`docker stop ...` makes it disappear. No cleanup, no conflicting versions.</a:t>
            </a:r>
            <a:endParaRPr>
              <a:latin typeface="+mn-lt"/>
            </a:endParaRPr>
          </a:p>
        </p:txBody>
      </p:sp>
      <p:sp>
        <p:nvSpPr>
          <p:cNvPr id="426" name="Google Shape;426;p35"/>
          <p:cNvSpPr txBox="1"/>
          <p:nvPr/>
        </p:nvSpPr>
        <p:spPr>
          <a:xfrm>
            <a:off x="714375" y="4679126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27" name="Google Shape;427;p35"/>
          <p:cNvSpPr txBox="1"/>
          <p:nvPr/>
        </p:nvSpPr>
        <p:spPr>
          <a:xfrm>
            <a:off x="809625" y="4579441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Your `docker-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compose.yml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 file can spin up your *entire* app backend (web, 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db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, cache) with one command.</a:t>
            </a:r>
            <a:endParaRPr>
              <a:latin typeface="+mn-lt"/>
            </a:endParaRPr>
          </a:p>
        </p:txBody>
      </p:sp>
      <p:pic>
        <p:nvPicPr>
          <p:cNvPr id="428" name="Google Shape;428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5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Use Case: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Your Local Laptop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79662C1-6621-E475-E4EC-05B8C042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C7E5E4B2-A12D-716C-69AF-93775DBE7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0C22F639-5B5E-7BD8-BD16-722B7583C464}"/>
              </a:ext>
            </a:extLst>
          </p:cNvPr>
          <p:cNvSpPr txBox="1"/>
          <p:nvPr/>
        </p:nvSpPr>
        <p:spPr>
          <a:xfrm>
            <a:off x="295275" y="2141190"/>
            <a:ext cx="11601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rgbClr val="2496ED"/>
                </a:solidFill>
                <a:latin typeface="+mj-lt"/>
                <a:cs typeface="Poppins"/>
                <a:sym typeface="Poppins"/>
              </a:rPr>
              <a:t>Theory Demo</a:t>
            </a:r>
            <a:endParaRPr sz="7200" b="1">
              <a:solidFill>
                <a:srgbClr val="2496ED"/>
              </a:solidFill>
              <a:latin typeface="+mj-lt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4805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B993A983-E4A8-AB43-70A3-443F606E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1" descr="image.png">
            <a:extLst>
              <a:ext uri="{FF2B5EF4-FFF2-40B4-BE49-F238E27FC236}">
                <a16:creationId xmlns:a16="http://schemas.microsoft.com/office/drawing/2014/main" id="{21546AF5-3789-04CE-CF55-58605DA91D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B4FD51-1314-DDB1-79F1-EB51F64EC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191" y="4923958"/>
            <a:ext cx="2774374" cy="15169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302B8F-FFEF-7102-1EAA-C1C4648EE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37" y="396552"/>
            <a:ext cx="9006417" cy="436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32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1;p14" descr="image.png">
            <a:extLst>
              <a:ext uri="{FF2B5EF4-FFF2-40B4-BE49-F238E27FC236}">
                <a16:creationId xmlns:a16="http://schemas.microsoft.com/office/drawing/2014/main" id="{F1B4B0B2-B5AD-E260-981C-22719A5F1E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7"/>
          <p:cNvSpPr txBox="1"/>
          <p:nvPr/>
        </p:nvSpPr>
        <p:spPr>
          <a:xfrm>
            <a:off x="6334125" y="140017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+mj-lt"/>
                <a:ea typeface="Poppins"/>
                <a:cs typeface="Poppins"/>
                <a:sym typeface="Poppins"/>
              </a:rPr>
              <a:t>The Application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444" name="Google Shape;444;p37"/>
          <p:cNvSpPr txBox="1"/>
          <p:nvPr/>
        </p:nvSpPr>
        <p:spPr>
          <a:xfrm>
            <a:off x="6334125" y="197167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+mn-lt"/>
                <a:ea typeface="Lato"/>
                <a:cs typeface="Lato"/>
                <a:sym typeface="Lato"/>
              </a:rPr>
              <a:t>This is our simple Flask web app.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</p:txBody>
      </p:sp>
      <p:sp>
        <p:nvSpPr>
          <p:cNvPr id="445" name="Google Shape;445;p37"/>
          <p:cNvSpPr txBox="1"/>
          <p:nvPr/>
        </p:nvSpPr>
        <p:spPr>
          <a:xfrm>
            <a:off x="6334125" y="241741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+mn-lt"/>
                <a:ea typeface="Lato"/>
                <a:cs typeface="Lato"/>
                <a:sym typeface="Lato"/>
              </a:rPr>
              <a:t>Key things to notice: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</p:txBody>
      </p:sp>
      <p:sp>
        <p:nvSpPr>
          <p:cNvPr id="469" name="Google Shape;469;p37"/>
          <p:cNvSpPr txBox="1"/>
          <p:nvPr/>
        </p:nvSpPr>
        <p:spPr>
          <a:xfrm>
            <a:off x="6477000" y="28622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70" name="Google Shape;470;p37"/>
          <p:cNvSpPr txBox="1"/>
          <p:nvPr/>
        </p:nvSpPr>
        <p:spPr>
          <a:xfrm>
            <a:off x="6572250" y="286315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+mn-lt"/>
                <a:ea typeface="Lato"/>
                <a:cs typeface="Lato"/>
                <a:sym typeface="Lato"/>
              </a:rPr>
              <a:t>It uses Flask and </a:t>
            </a:r>
            <a:r>
              <a:rPr kumimoji="0" lang="en-US" sz="1350" b="0" i="0" u="none" strike="noStrike" kern="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+mn-lt"/>
                <a:ea typeface="Lato"/>
                <a:cs typeface="Lato"/>
                <a:sym typeface="Lato"/>
              </a:rPr>
              <a:t>SQLAlchemy</a:t>
            </a: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+mn-lt"/>
                <a:ea typeface="Lato"/>
                <a:cs typeface="Lato"/>
                <a:sym typeface="Lato"/>
              </a:rPr>
              <a:t>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</p:txBody>
      </p:sp>
      <p:sp>
        <p:nvSpPr>
          <p:cNvPr id="471" name="Google Shape;471;p37"/>
          <p:cNvSpPr txBox="1"/>
          <p:nvPr/>
        </p:nvSpPr>
        <p:spPr>
          <a:xfrm>
            <a:off x="6477000" y="32793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72" name="Google Shape;472;p37"/>
          <p:cNvSpPr txBox="1"/>
          <p:nvPr/>
        </p:nvSpPr>
        <p:spPr>
          <a:xfrm>
            <a:off x="6572250" y="3280320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+mn-lt"/>
                <a:ea typeface="Lato"/>
                <a:cs typeface="Lato"/>
                <a:sym typeface="Lato"/>
              </a:rPr>
              <a:t>It reads its database connection string from an environment variable named `DATABASE_URL`.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</p:txBody>
      </p:sp>
      <p:sp>
        <p:nvSpPr>
          <p:cNvPr id="473" name="Google Shape;473;p37"/>
          <p:cNvSpPr txBox="1"/>
          <p:nvPr/>
        </p:nvSpPr>
        <p:spPr>
          <a:xfrm>
            <a:off x="6477000" y="397082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74" name="Google Shape;474;p37"/>
          <p:cNvSpPr txBox="1"/>
          <p:nvPr/>
        </p:nvSpPr>
        <p:spPr>
          <a:xfrm>
            <a:off x="6572250" y="3971776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+mn-lt"/>
                <a:ea typeface="Lato"/>
                <a:cs typeface="Lato"/>
                <a:sym typeface="Lato"/>
              </a:rPr>
              <a:t>If that variable isn't set, it defaults to a local file named `</a:t>
            </a:r>
            <a:r>
              <a:rPr kumimoji="0" lang="en-US" sz="1350" b="0" i="0" u="none" strike="noStrike" kern="0" cap="none" spc="0" normalizeH="0" baseline="0" noProof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+mn-lt"/>
                <a:ea typeface="Lato"/>
                <a:cs typeface="Lato"/>
                <a:sym typeface="Lato"/>
              </a:rPr>
              <a:t>db.sqlite</a:t>
            </a: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+mn-lt"/>
                <a:ea typeface="Lato"/>
                <a:cs typeface="Lato"/>
                <a:sym typeface="Lato"/>
              </a:rPr>
              <a:t>`. This is what we'll use in Part 1.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</p:txBody>
      </p:sp>
      <p:sp>
        <p:nvSpPr>
          <p:cNvPr id="475" name="Google Shape;475;p37"/>
          <p:cNvSpPr txBox="1"/>
          <p:nvPr/>
        </p:nvSpPr>
        <p:spPr>
          <a:xfrm>
            <a:off x="571500" y="447675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+mj-lt"/>
                <a:ea typeface="Poppins"/>
                <a:cs typeface="Poppins"/>
                <a:sym typeface="Poppins"/>
              </a:rPr>
              <a:t>Example Setup: </a:t>
            </a: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2496ED"/>
                </a:solidFill>
                <a:effectLst/>
                <a:uLnTx/>
                <a:uFillTx/>
                <a:latin typeface="+mj-lt"/>
                <a:ea typeface="Poppins"/>
                <a:cs typeface="Poppins"/>
                <a:sym typeface="Poppins"/>
              </a:rPr>
              <a:t>File 1: app.py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94465-59BE-B109-1B50-38EEE2CD9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22" y="1156464"/>
            <a:ext cx="4151935" cy="557828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8"/>
          <p:cNvSpPr txBox="1"/>
          <p:nvPr/>
        </p:nvSpPr>
        <p:spPr>
          <a:xfrm>
            <a:off x="571500" y="1766562"/>
            <a:ext cx="499140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+mj-lt"/>
                <a:ea typeface="Poppins"/>
                <a:cs typeface="Poppins"/>
                <a:sym typeface="Poppins"/>
              </a:rPr>
              <a:t>File 2: </a:t>
            </a:r>
            <a:r>
              <a:rPr lang="en-US" sz="2000" b="1">
                <a:solidFill>
                  <a:srgbClr val="2496ED"/>
                </a:solidFill>
                <a:latin typeface="+mj-lt"/>
                <a:cs typeface="Poppins"/>
                <a:sym typeface="Poppins"/>
              </a:rPr>
              <a:t>requirements.txt</a:t>
            </a:r>
            <a:endParaRPr sz="2000" b="1">
              <a:solidFill>
                <a:srgbClr val="2496ED"/>
              </a:solidFill>
              <a:latin typeface="+mj-lt"/>
              <a:cs typeface="Poppins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576131" y="3605213"/>
            <a:ext cx="499140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+mj-lt"/>
                <a:ea typeface="Poppins"/>
                <a:cs typeface="Poppins"/>
                <a:sym typeface="Poppins"/>
              </a:rPr>
              <a:t>File 3: </a:t>
            </a:r>
            <a:r>
              <a:rPr lang="en-US" sz="2000" b="1">
                <a:solidFill>
                  <a:srgbClr val="2496ED"/>
                </a:solidFill>
                <a:latin typeface="+mj-lt"/>
                <a:cs typeface="Poppins"/>
                <a:sym typeface="Poppins"/>
              </a:rPr>
              <a:t>templates/index.html</a:t>
            </a:r>
            <a:endParaRPr sz="2000" b="1">
              <a:solidFill>
                <a:srgbClr val="2496ED"/>
              </a:solidFill>
              <a:latin typeface="+mj-lt"/>
              <a:cs typeface="Poppins"/>
            </a:endParaRPr>
          </a:p>
        </p:txBody>
      </p:sp>
      <p:sp>
        <p:nvSpPr>
          <p:cNvPr id="485" name="Google Shape;485;p38"/>
          <p:cNvSpPr txBox="1"/>
          <p:nvPr/>
        </p:nvSpPr>
        <p:spPr>
          <a:xfrm>
            <a:off x="6587150" y="1843088"/>
            <a:ext cx="52189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+mj-lt"/>
                <a:ea typeface="Poppins"/>
                <a:cs typeface="Poppins"/>
                <a:sym typeface="Poppins"/>
              </a:rPr>
              <a:t>File 4: </a:t>
            </a:r>
            <a:r>
              <a:rPr lang="en-US" sz="2000" b="1" err="1">
                <a:solidFill>
                  <a:srgbClr val="2496ED"/>
                </a:solidFill>
                <a:latin typeface="+mj-lt"/>
                <a:cs typeface="Poppins"/>
                <a:sym typeface="Poppins"/>
              </a:rPr>
              <a:t>Dockerfile</a:t>
            </a:r>
            <a:endParaRPr sz="2000" b="1">
              <a:solidFill>
                <a:srgbClr val="2496ED"/>
              </a:solidFill>
              <a:latin typeface="+mj-lt"/>
              <a:cs typeface="Poppins"/>
            </a:endParaRPr>
          </a:p>
        </p:txBody>
      </p:sp>
      <p:sp>
        <p:nvSpPr>
          <p:cNvPr id="500" name="Google Shape;500;p38"/>
          <p:cNvSpPr txBox="1"/>
          <p:nvPr/>
        </p:nvSpPr>
        <p:spPr>
          <a:xfrm>
            <a:off x="571500" y="500062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+mj-lt"/>
                <a:ea typeface="Poppins"/>
                <a:cs typeface="Poppins"/>
                <a:sym typeface="Poppins"/>
              </a:rPr>
              <a:t>Example Setup: </a:t>
            </a: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2496ED"/>
                </a:solidFill>
                <a:effectLst/>
                <a:uLnTx/>
                <a:uFillTx/>
                <a:latin typeface="+mj-lt"/>
                <a:ea typeface="Poppins"/>
                <a:cs typeface="Poppins"/>
                <a:sym typeface="Poppins"/>
              </a:rPr>
              <a:t>Files 2, 3, &amp; 4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C6BD3-E863-AED9-3DBE-C9095D7E0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66253"/>
            <a:ext cx="2352675" cy="1238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18B29-4BF8-B4E9-F72E-C022E5686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307" y="2328631"/>
            <a:ext cx="5179215" cy="31650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EFB7F6-6B0B-7161-1051-B7D1FFCAB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92699"/>
            <a:ext cx="5240535" cy="194670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>
          <a:extLst>
            <a:ext uri="{FF2B5EF4-FFF2-40B4-BE49-F238E27FC236}">
              <a16:creationId xmlns:a16="http://schemas.microsoft.com/office/drawing/2014/main" id="{FD18F118-C920-75E2-BBA1-254E8E34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6" descr="image.png">
            <a:extLst>
              <a:ext uri="{FF2B5EF4-FFF2-40B4-BE49-F238E27FC236}">
                <a16:creationId xmlns:a16="http://schemas.microsoft.com/office/drawing/2014/main" id="{6219AEFA-E1D4-8729-ECD2-651DAC7668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29;p40">
            <a:extLst>
              <a:ext uri="{FF2B5EF4-FFF2-40B4-BE49-F238E27FC236}">
                <a16:creationId xmlns:a16="http://schemas.microsoft.com/office/drawing/2014/main" id="{B85E37BD-CFD0-4A78-F617-37F42F2B5A4E}"/>
              </a:ext>
            </a:extLst>
          </p:cNvPr>
          <p:cNvSpPr txBox="1"/>
          <p:nvPr/>
        </p:nvSpPr>
        <p:spPr>
          <a:xfrm>
            <a:off x="962025" y="2481262"/>
            <a:ext cx="499140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Step 1: </a:t>
            </a:r>
            <a:r>
              <a:rPr lang="en-US" sz="2000" b="1">
                <a:solidFill>
                  <a:srgbClr val="2496ED"/>
                </a:solidFill>
                <a:latin typeface="+mj-lt"/>
                <a:cs typeface="Poppins"/>
                <a:sym typeface="Poppins"/>
              </a:rPr>
              <a:t>Build &amp; Run</a:t>
            </a:r>
            <a:endParaRPr sz="2000" b="1">
              <a:solidFill>
                <a:srgbClr val="2496ED"/>
              </a:solidFill>
              <a:latin typeface="+mj-lt"/>
              <a:cs typeface="Poppins"/>
            </a:endParaRPr>
          </a:p>
        </p:txBody>
      </p:sp>
      <p:sp>
        <p:nvSpPr>
          <p:cNvPr id="3" name="Google Shape;530;p40">
            <a:extLst>
              <a:ext uri="{FF2B5EF4-FFF2-40B4-BE49-F238E27FC236}">
                <a16:creationId xmlns:a16="http://schemas.microsoft.com/office/drawing/2014/main" id="{5A17C17D-B56A-D6BD-85A7-448E7782B07A}"/>
              </a:ext>
            </a:extLst>
          </p:cNvPr>
          <p:cNvSpPr txBox="1"/>
          <p:nvPr/>
        </p:nvSpPr>
        <p:spPr>
          <a:xfrm>
            <a:off x="6646085" y="2490787"/>
            <a:ext cx="52189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Step 2: </a:t>
            </a:r>
            <a:r>
              <a:rPr lang="en-US" sz="2000" b="1">
                <a:solidFill>
                  <a:srgbClr val="2496ED"/>
                </a:solidFill>
                <a:latin typeface="+mj-lt"/>
                <a:cs typeface="Poppins"/>
                <a:sym typeface="Poppins"/>
              </a:rPr>
              <a:t>Remove &amp; Re-run</a:t>
            </a:r>
            <a:endParaRPr sz="2000" b="1">
              <a:solidFill>
                <a:srgbClr val="2496ED"/>
              </a:solidFill>
              <a:latin typeface="+mj-lt"/>
              <a:cs typeface="Poppins"/>
            </a:endParaRPr>
          </a:p>
        </p:txBody>
      </p:sp>
      <p:sp>
        <p:nvSpPr>
          <p:cNvPr id="4" name="Google Shape;543;p40">
            <a:extLst>
              <a:ext uri="{FF2B5EF4-FFF2-40B4-BE49-F238E27FC236}">
                <a16:creationId xmlns:a16="http://schemas.microsoft.com/office/drawing/2014/main" id="{18B52EF9-AC2A-396F-43D6-3F1A78CBA667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Example 1: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The Commands</a:t>
            </a:r>
            <a:endParaRPr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DAE3CE-1CED-0F4A-98EA-48EDFB003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091500"/>
            <a:ext cx="4343475" cy="1797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1C78D3-D8E5-2309-9B0F-67BEEDA0E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340" y="2934387"/>
            <a:ext cx="4596648" cy="195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8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>
          <a:extLst>
            <a:ext uri="{FF2B5EF4-FFF2-40B4-BE49-F238E27FC236}">
              <a16:creationId xmlns:a16="http://schemas.microsoft.com/office/drawing/2014/main" id="{4BBD1F64-248E-2D6A-BC20-AF15FA7C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6" descr="image.png">
            <a:extLst>
              <a:ext uri="{FF2B5EF4-FFF2-40B4-BE49-F238E27FC236}">
                <a16:creationId xmlns:a16="http://schemas.microsoft.com/office/drawing/2014/main" id="{503941C9-8539-D6AE-4818-6D2B7A6401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6">
            <a:extLst>
              <a:ext uri="{FF2B5EF4-FFF2-40B4-BE49-F238E27FC236}">
                <a16:creationId xmlns:a16="http://schemas.microsoft.com/office/drawing/2014/main" id="{C40447BE-29D7-EBD8-0C4B-676617B1B2F6}"/>
              </a:ext>
            </a:extLst>
          </p:cNvPr>
          <p:cNvSpPr/>
          <p:nvPr/>
        </p:nvSpPr>
        <p:spPr>
          <a:xfrm>
            <a:off x="5619750" y="2713732"/>
            <a:ext cx="952500" cy="47625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>
            <a:extLst>
              <a:ext uri="{FF2B5EF4-FFF2-40B4-BE49-F238E27FC236}">
                <a16:creationId xmlns:a16="http://schemas.microsoft.com/office/drawing/2014/main" id="{6052B40A-DD4A-876D-EC93-8F6093D1F04E}"/>
              </a:ext>
            </a:extLst>
          </p:cNvPr>
          <p:cNvSpPr txBox="1"/>
          <p:nvPr/>
        </p:nvSpPr>
        <p:spPr>
          <a:xfrm>
            <a:off x="1340405" y="3047107"/>
            <a:ext cx="951118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Wait... What Happens to My Data?</a:t>
            </a:r>
          </a:p>
        </p:txBody>
      </p:sp>
      <p:sp>
        <p:nvSpPr>
          <p:cNvPr id="437" name="Google Shape;437;p36">
            <a:extLst>
              <a:ext uri="{FF2B5EF4-FFF2-40B4-BE49-F238E27FC236}">
                <a16:creationId xmlns:a16="http://schemas.microsoft.com/office/drawing/2014/main" id="{B5E8FD7A-91FF-2381-40A3-97E12801B260}"/>
              </a:ext>
            </a:extLst>
          </p:cNvPr>
          <p:cNvSpPr txBox="1"/>
          <p:nvPr/>
        </p:nvSpPr>
        <p:spPr>
          <a:xfrm>
            <a:off x="3505200" y="4094857"/>
            <a:ext cx="51816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Before our next Theoretical demo, we need to solve one critical problem: Data Persistence.</a:t>
            </a:r>
          </a:p>
        </p:txBody>
      </p:sp>
    </p:spTree>
    <p:extLst>
      <p:ext uri="{BB962C8B-B14F-4D97-AF65-F5344CB8AC3E}">
        <p14:creationId xmlns:p14="http://schemas.microsoft.com/office/powerpoint/2010/main" val="113834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1"/>
          <p:cNvSpPr txBox="1"/>
          <p:nvPr/>
        </p:nvSpPr>
        <p:spPr>
          <a:xfrm>
            <a:off x="2057400" y="2692003"/>
            <a:ext cx="80772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All our data is GONE!</a:t>
            </a:r>
            <a:endParaRPr>
              <a:latin typeface="+mj-lt"/>
            </a:endParaRPr>
          </a:p>
        </p:txBody>
      </p:sp>
      <p:sp>
        <p:nvSpPr>
          <p:cNvPr id="550" name="Google Shape;550;p41"/>
          <p:cNvSpPr txBox="1"/>
          <p:nvPr/>
        </p:nvSpPr>
        <p:spPr>
          <a:xfrm>
            <a:off x="1676400" y="3617714"/>
            <a:ext cx="88392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This is because the `</a:t>
            </a:r>
            <a:r>
              <a:rPr lang="en-US" sz="16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db.sqlite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 file lived *inside* the container's temporary filesystem. When we ran `docker rm`, the container and its filesystem were destroyed.</a:t>
            </a:r>
            <a:endParaRPr>
              <a:latin typeface="+mn-lt"/>
            </a:endParaRPr>
          </a:p>
        </p:txBody>
      </p:sp>
      <p:sp>
        <p:nvSpPr>
          <p:cNvPr id="551" name="Google Shape;551;p41"/>
          <p:cNvSpPr txBox="1"/>
          <p:nvPr/>
        </p:nvSpPr>
        <p:spPr>
          <a:xfrm>
            <a:off x="1676400" y="4573785"/>
            <a:ext cx="88392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We need to store our data *outside* the container.</a:t>
            </a:r>
            <a:endParaRPr>
              <a:latin typeface="+mn-lt"/>
            </a:endParaRPr>
          </a:p>
        </p:txBody>
      </p:sp>
      <p:sp>
        <p:nvSpPr>
          <p:cNvPr id="552" name="Google Shape;552;p41"/>
          <p:cNvSpPr txBox="1"/>
          <p:nvPr/>
        </p:nvSpPr>
        <p:spPr>
          <a:xfrm>
            <a:off x="1581150" y="297775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553" name="Google Shape;553;p41"/>
          <p:cNvSpPr txBox="1"/>
          <p:nvPr/>
        </p:nvSpPr>
        <p:spPr>
          <a:xfrm>
            <a:off x="10220325" y="3236714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554" name="Google Shape;554;p41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Example 1: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The Result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35B00BD4-61CA-977E-F74F-ED43E0A1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5" descr="image.png">
            <a:extLst>
              <a:ext uri="{FF2B5EF4-FFF2-40B4-BE49-F238E27FC236}">
                <a16:creationId xmlns:a16="http://schemas.microsoft.com/office/drawing/2014/main" id="{D494972A-5A18-0FD0-598C-77EE8B0893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D9DE9A-C22D-FEFC-DFF4-0024CB5C7C4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10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The Problem: Containers are Stateless</a:t>
            </a:r>
            <a:br>
              <a:rPr lang="en-US">
                <a:latin typeface="+mj-lt"/>
              </a:rPr>
            </a:br>
            <a:endParaRPr lang="en-US">
              <a:latin typeface="+mj-lt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98CFB5D-4585-B763-2555-F27B008B9931}"/>
              </a:ext>
            </a:extLst>
          </p:cNvPr>
          <p:cNvSpPr txBox="1">
            <a:spLocks/>
          </p:cNvSpPr>
          <p:nvPr/>
        </p:nvSpPr>
        <p:spPr>
          <a:xfrm>
            <a:off x="570450" y="1484851"/>
            <a:ext cx="10910350" cy="367657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Containers are Ephemeral (lasting for short period of time</a:t>
            </a:r>
          </a:p>
          <a:p>
            <a:endParaRPr lang="en-US" sz="2000"/>
          </a:p>
          <a:p>
            <a:pPr lvl="7"/>
            <a:r>
              <a:rPr lang="en-US" sz="1600"/>
              <a:t>        - A container's filesystem is temporary. When a container is deleted, all data *inside* it is **lost forever**.</a:t>
            </a:r>
          </a:p>
          <a:p>
            <a:pPr lvl="7"/>
            <a:endParaRPr lang="en-US" sz="1600"/>
          </a:p>
          <a:p>
            <a:pPr lvl="8"/>
            <a:r>
              <a:rPr lang="en-US" sz="1600"/>
              <a:t>        - This is a feature, not a bug! It keeps containers lightweight and clean.</a:t>
            </a:r>
          </a:p>
          <a:p>
            <a:pPr lvl="8"/>
            <a:endParaRPr lang="en-US" sz="1600"/>
          </a:p>
          <a:p>
            <a:pPr lvl="8"/>
            <a:r>
              <a:rPr lang="en-US" sz="1600"/>
              <a:t>        - This is *good* for a web server (stateless).</a:t>
            </a:r>
          </a:p>
          <a:p>
            <a:pPr lvl="8"/>
            <a:endParaRPr lang="en-US" sz="1600"/>
          </a:p>
          <a:p>
            <a:pPr lvl="8"/>
            <a:r>
              <a:rPr lang="en-US" sz="1600"/>
              <a:t>        - This is *terrible* for a database (stateful).</a:t>
            </a:r>
          </a:p>
          <a:p>
            <a:pPr lvl="8"/>
            <a:endParaRPr lang="en-US" sz="1600"/>
          </a:p>
          <a:p>
            <a:pPr lvl="8"/>
            <a:r>
              <a:rPr lang="en-US" sz="1600"/>
              <a:t>        - We need to store our data *outside* the container.</a:t>
            </a:r>
          </a:p>
          <a:p>
            <a:pPr marL="285750" lvl="6" indent="-285750">
              <a:buFont typeface="Arial" panose="020B0604020202020204" pitchFamily="34" charset="0"/>
              <a:buChar char="•"/>
            </a:pPr>
            <a:endParaRPr lang="en-US"/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98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B4104131-9F1D-7D49-6789-F6B3BA627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5" descr="image.png">
            <a:extLst>
              <a:ext uri="{FF2B5EF4-FFF2-40B4-BE49-F238E27FC236}">
                <a16:creationId xmlns:a16="http://schemas.microsoft.com/office/drawing/2014/main" id="{D33DD620-C7FC-D907-7823-E17B390D52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461;p38" descr="image.png">
            <a:extLst>
              <a:ext uri="{FF2B5EF4-FFF2-40B4-BE49-F238E27FC236}">
                <a16:creationId xmlns:a16="http://schemas.microsoft.com/office/drawing/2014/main" id="{C73B3122-C45C-0018-939E-B0B7D09DB8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62;p38">
            <a:extLst>
              <a:ext uri="{FF2B5EF4-FFF2-40B4-BE49-F238E27FC236}">
                <a16:creationId xmlns:a16="http://schemas.microsoft.com/office/drawing/2014/main" id="{96B8D7AF-AD5C-6769-76E5-A0D010ACAF7E}"/>
              </a:ext>
            </a:extLst>
          </p:cNvPr>
          <p:cNvSpPr txBox="1"/>
          <p:nvPr/>
        </p:nvSpPr>
        <p:spPr>
          <a:xfrm>
            <a:off x="571500" y="1762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Persistent Data</a:t>
            </a:r>
            <a:endParaRPr/>
          </a:p>
        </p:txBody>
      </p:sp>
      <p:sp>
        <p:nvSpPr>
          <p:cNvPr id="7" name="Google Shape;463;p38">
            <a:extLst>
              <a:ext uri="{FF2B5EF4-FFF2-40B4-BE49-F238E27FC236}">
                <a16:creationId xmlns:a16="http://schemas.microsoft.com/office/drawing/2014/main" id="{7C054913-D9A1-D235-5154-D430A5F398FC}"/>
              </a:ext>
            </a:extLst>
          </p:cNvPr>
          <p:cNvSpPr txBox="1"/>
          <p:nvPr/>
        </p:nvSpPr>
        <p:spPr>
          <a:xfrm>
            <a:off x="571500" y="233362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j-lt"/>
                <a:ea typeface="Lato"/>
                <a:cs typeface="Lato"/>
                <a:sym typeface="Lato"/>
              </a:rPr>
              <a:t>A </a:t>
            </a:r>
            <a:r>
              <a:rPr lang="en-US" sz="1350" b="1" i="0" u="none" strike="noStrike" cap="none">
                <a:solidFill>
                  <a:schemeClr val="tx1"/>
                </a:solidFill>
                <a:latin typeface="+mj-lt"/>
                <a:ea typeface="Lato"/>
                <a:cs typeface="Lato"/>
                <a:sym typeface="Lato"/>
              </a:rPr>
              <a:t>Volume</a:t>
            </a:r>
            <a:r>
              <a:rPr lang="en-US" sz="1350" b="0" i="0" u="none" strike="noStrike" cap="none">
                <a:solidFill>
                  <a:schemeClr val="tx1"/>
                </a:solidFill>
                <a:latin typeface="+mj-lt"/>
                <a:ea typeface="Lato"/>
                <a:cs typeface="Lato"/>
                <a:sym typeface="Lato"/>
              </a:rPr>
              <a:t> is a persistent data storage area managed *by Docker*.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Google Shape;465;p38">
            <a:extLst>
              <a:ext uri="{FF2B5EF4-FFF2-40B4-BE49-F238E27FC236}">
                <a16:creationId xmlns:a16="http://schemas.microsoft.com/office/drawing/2014/main" id="{262205DC-7D46-1A79-5DF0-DB6066B1AACA}"/>
              </a:ext>
            </a:extLst>
          </p:cNvPr>
          <p:cNvSpPr txBox="1"/>
          <p:nvPr/>
        </p:nvSpPr>
        <p:spPr>
          <a:xfrm>
            <a:off x="809625" y="2779365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j-lt"/>
                <a:ea typeface="Lato"/>
                <a:cs typeface="Lato"/>
                <a:sym typeface="Lato"/>
              </a:rPr>
              <a:t>It's a special folder that lives on the *host machine*, outside the container's file system.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Google Shape;467;p38">
            <a:extLst>
              <a:ext uri="{FF2B5EF4-FFF2-40B4-BE49-F238E27FC236}">
                <a16:creationId xmlns:a16="http://schemas.microsoft.com/office/drawing/2014/main" id="{B1A19453-0E9A-CBB9-044D-213C5D7F4C08}"/>
              </a:ext>
            </a:extLst>
          </p:cNvPr>
          <p:cNvSpPr txBox="1"/>
          <p:nvPr/>
        </p:nvSpPr>
        <p:spPr>
          <a:xfrm>
            <a:off x="809625" y="3470820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j-lt"/>
                <a:ea typeface="Lato"/>
                <a:cs typeface="Lato"/>
                <a:sym typeface="Lato"/>
              </a:rPr>
              <a:t>We can "attach" this volume to a container.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Google Shape;469;p38">
            <a:extLst>
              <a:ext uri="{FF2B5EF4-FFF2-40B4-BE49-F238E27FC236}">
                <a16:creationId xmlns:a16="http://schemas.microsoft.com/office/drawing/2014/main" id="{209AFF5C-EE70-2375-BFA3-894C07D64418}"/>
              </a:ext>
            </a:extLst>
          </p:cNvPr>
          <p:cNvSpPr txBox="1"/>
          <p:nvPr/>
        </p:nvSpPr>
        <p:spPr>
          <a:xfrm>
            <a:off x="809625" y="3887985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j-lt"/>
                <a:ea typeface="Lato"/>
                <a:cs typeface="Lato"/>
                <a:sym typeface="Lato"/>
              </a:rPr>
              <a:t>When the container is deleted, the volume (and your data) **remains safe**.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4" name="Google Shape;470;p38" descr="image.png">
            <a:extLst>
              <a:ext uri="{FF2B5EF4-FFF2-40B4-BE49-F238E27FC236}">
                <a16:creationId xmlns:a16="http://schemas.microsoft.com/office/drawing/2014/main" id="{A3A5B083-9B4A-1B44-C1E9-D233652DB9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471;p38">
            <a:extLst>
              <a:ext uri="{FF2B5EF4-FFF2-40B4-BE49-F238E27FC236}">
                <a16:creationId xmlns:a16="http://schemas.microsoft.com/office/drawing/2014/main" id="{06A6D39E-25F1-F4FB-5229-830DFB86E1D0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+mj-lt"/>
                <a:ea typeface="Poppins"/>
                <a:cs typeface="Poppins"/>
                <a:sym typeface="Poppins"/>
              </a:rPr>
              <a:t>The Solution: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Docker Volumes</a:t>
            </a:r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29781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10FC2DF2-7D58-D7E7-939D-6959D36B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5" descr="image.png">
            <a:extLst>
              <a:ext uri="{FF2B5EF4-FFF2-40B4-BE49-F238E27FC236}">
                <a16:creationId xmlns:a16="http://schemas.microsoft.com/office/drawing/2014/main" id="{2A480932-BF51-9CC5-F352-83B97F2309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79;p43">
            <a:extLst>
              <a:ext uri="{FF2B5EF4-FFF2-40B4-BE49-F238E27FC236}">
                <a16:creationId xmlns:a16="http://schemas.microsoft.com/office/drawing/2014/main" id="{BDFAA1F9-399A-A880-5F2A-553C3E17CB56}"/>
              </a:ext>
            </a:extLst>
          </p:cNvPr>
          <p:cNvSpPr txBox="1"/>
          <p:nvPr/>
        </p:nvSpPr>
        <p:spPr>
          <a:xfrm>
            <a:off x="571500" y="2060227"/>
            <a:ext cx="492764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Step 1: Network &amp; Volume</a:t>
            </a:r>
            <a:endParaRPr>
              <a:latin typeface="+mj-lt"/>
            </a:endParaRPr>
          </a:p>
        </p:txBody>
      </p:sp>
      <p:sp>
        <p:nvSpPr>
          <p:cNvPr id="13" name="Google Shape;580;p43">
            <a:extLst>
              <a:ext uri="{FF2B5EF4-FFF2-40B4-BE49-F238E27FC236}">
                <a16:creationId xmlns:a16="http://schemas.microsoft.com/office/drawing/2014/main" id="{D7DFC30D-4544-CD3D-B60E-059898A251F4}"/>
              </a:ext>
            </a:extLst>
          </p:cNvPr>
          <p:cNvSpPr txBox="1"/>
          <p:nvPr/>
        </p:nvSpPr>
        <p:spPr>
          <a:xfrm>
            <a:off x="571500" y="2631727"/>
            <a:ext cx="469299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First, we create a virtual network and our persistent volume.</a:t>
            </a:r>
            <a:endParaRPr>
              <a:latin typeface="+mn-lt"/>
            </a:endParaRPr>
          </a:p>
        </p:txBody>
      </p:sp>
      <p:sp>
        <p:nvSpPr>
          <p:cNvPr id="14" name="Google Shape;581;p43">
            <a:extLst>
              <a:ext uri="{FF2B5EF4-FFF2-40B4-BE49-F238E27FC236}">
                <a16:creationId xmlns:a16="http://schemas.microsoft.com/office/drawing/2014/main" id="{4226DD93-5B71-C7D4-B9DE-B119E169797F}"/>
              </a:ext>
            </a:extLst>
          </p:cNvPr>
          <p:cNvSpPr txBox="1"/>
          <p:nvPr/>
        </p:nvSpPr>
        <p:spPr>
          <a:xfrm>
            <a:off x="571500" y="4458592"/>
            <a:ext cx="492764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Step 2: Run Containers</a:t>
            </a:r>
            <a:endParaRPr>
              <a:latin typeface="+mj-lt"/>
            </a:endParaRPr>
          </a:p>
        </p:txBody>
      </p:sp>
      <p:sp>
        <p:nvSpPr>
          <p:cNvPr id="15" name="Google Shape;582;p43">
            <a:extLst>
              <a:ext uri="{FF2B5EF4-FFF2-40B4-BE49-F238E27FC236}">
                <a16:creationId xmlns:a16="http://schemas.microsoft.com/office/drawing/2014/main" id="{1F6BBD42-EEBB-F14E-FD3F-EBD3FDDC4692}"/>
              </a:ext>
            </a:extLst>
          </p:cNvPr>
          <p:cNvSpPr txBox="1"/>
          <p:nvPr/>
        </p:nvSpPr>
        <p:spPr>
          <a:xfrm>
            <a:off x="571500" y="5030092"/>
            <a:ext cx="469299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Now we run the DB, then the web app, connecting them all manually.</a:t>
            </a:r>
            <a:endParaRPr>
              <a:latin typeface="+mn-lt"/>
            </a:endParaRPr>
          </a:p>
        </p:txBody>
      </p:sp>
      <p:sp>
        <p:nvSpPr>
          <p:cNvPr id="16" name="Google Shape;587;p43">
            <a:extLst>
              <a:ext uri="{FF2B5EF4-FFF2-40B4-BE49-F238E27FC236}">
                <a16:creationId xmlns:a16="http://schemas.microsoft.com/office/drawing/2014/main" id="{F3FA06CC-3348-64C3-456B-0AFA0E6950ED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Example 2: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The Commands (The "Hard Way")</a:t>
            </a:r>
            <a:endParaRPr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CEAD90-0109-7BD9-02B8-C5B566569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459" y="4643349"/>
            <a:ext cx="5217471" cy="13092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671AA0-1E9F-6D39-9C14-18FC34BD0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248" y="1700019"/>
            <a:ext cx="6096000" cy="2276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D551B9-E422-DFCB-96E0-330A070A80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73" y="3000582"/>
            <a:ext cx="48958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15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A537E5B3-6DB2-9C64-3580-EAEC37E4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5" descr="image.png">
            <a:extLst>
              <a:ext uri="{FF2B5EF4-FFF2-40B4-BE49-F238E27FC236}">
                <a16:creationId xmlns:a16="http://schemas.microsoft.com/office/drawing/2014/main" id="{C210D594-702E-7400-99A8-C4951A8292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87;p43">
            <a:extLst>
              <a:ext uri="{FF2B5EF4-FFF2-40B4-BE49-F238E27FC236}">
                <a16:creationId xmlns:a16="http://schemas.microsoft.com/office/drawing/2014/main" id="{A2C6CAB5-35B2-B37C-CCBB-71C8BBB77BF6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Example 2: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The Commands (The "Hard Way")</a:t>
            </a:r>
            <a:endParaRPr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A911DB-518D-29B1-F598-70C37E49A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66" y="1225877"/>
            <a:ext cx="6857153" cy="3182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AEB9AF-B559-1A12-7DE7-901DE5CAA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760" y="4469012"/>
            <a:ext cx="5166360" cy="200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995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D2FC2371-9405-F9FF-C55D-F1B5736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5" descr="image.png">
            <a:extLst>
              <a:ext uri="{FF2B5EF4-FFF2-40B4-BE49-F238E27FC236}">
                <a16:creationId xmlns:a16="http://schemas.microsoft.com/office/drawing/2014/main" id="{55127143-B00D-80A1-459A-9C38E7F19C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87;p43">
            <a:extLst>
              <a:ext uri="{FF2B5EF4-FFF2-40B4-BE49-F238E27FC236}">
                <a16:creationId xmlns:a16="http://schemas.microsoft.com/office/drawing/2014/main" id="{D460735B-92B7-C189-A7E6-157C16BEB89A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Example 2: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The Commands (The "Hard Way")</a:t>
            </a:r>
            <a:endParaRPr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5E185C-B5E4-38B7-2FCF-F020F5CD3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760" y="4469012"/>
            <a:ext cx="5166360" cy="20019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1853EF-777D-F01A-08DB-3B11CFD72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19432"/>
            <a:ext cx="6144260" cy="394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32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852C4416-9225-52C5-B939-1BB034A4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5" descr="image.png">
            <a:extLst>
              <a:ext uri="{FF2B5EF4-FFF2-40B4-BE49-F238E27FC236}">
                <a16:creationId xmlns:a16="http://schemas.microsoft.com/office/drawing/2014/main" id="{FB4E9151-4E9D-82D7-7224-E148A02F08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99;p40">
            <a:extLst>
              <a:ext uri="{FF2B5EF4-FFF2-40B4-BE49-F238E27FC236}">
                <a16:creationId xmlns:a16="http://schemas.microsoft.com/office/drawing/2014/main" id="{0B259DE6-746B-8262-BD8E-F5C7D1E16573}"/>
              </a:ext>
            </a:extLst>
          </p:cNvPr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+mj-lt"/>
                <a:ea typeface="Poppins"/>
                <a:cs typeface="Poppins"/>
                <a:sym typeface="Poppins"/>
              </a:rPr>
              <a:t>This is Getting Complicated...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Google Shape;500;p40">
            <a:extLst>
              <a:ext uri="{FF2B5EF4-FFF2-40B4-BE49-F238E27FC236}">
                <a16:creationId xmlns:a16="http://schemas.microsoft.com/office/drawing/2014/main" id="{0A1E1822-C8DA-3733-9446-64FC5FF6D614}"/>
              </a:ext>
            </a:extLst>
          </p:cNvPr>
          <p:cNvSpPr txBox="1"/>
          <p:nvPr/>
        </p:nvSpPr>
        <p:spPr>
          <a:xfrm>
            <a:off x="571500" y="2333625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Okay, so our app needs: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Google Shape;501;p40">
            <a:extLst>
              <a:ext uri="{FF2B5EF4-FFF2-40B4-BE49-F238E27FC236}">
                <a16:creationId xmlns:a16="http://schemas.microsoft.com/office/drawing/2014/main" id="{1E964FB5-38D6-C76E-3161-B43AD58804F0}"/>
              </a:ext>
            </a:extLst>
          </p:cNvPr>
          <p:cNvSpPr txBox="1"/>
          <p:nvPr/>
        </p:nvSpPr>
        <p:spPr>
          <a:xfrm>
            <a:off x="571500" y="4476601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This is a lot to remember and type just to run our app. There has to be a better way.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Google Shape;502;p40">
            <a:extLst>
              <a:ext uri="{FF2B5EF4-FFF2-40B4-BE49-F238E27FC236}">
                <a16:creationId xmlns:a16="http://schemas.microsoft.com/office/drawing/2014/main" id="{DDF24E94-A335-857C-0EF9-482220ED44DC}"/>
              </a:ext>
            </a:extLst>
          </p:cNvPr>
          <p:cNvSpPr txBox="1"/>
          <p:nvPr/>
        </p:nvSpPr>
        <p:spPr>
          <a:xfrm>
            <a:off x="819150" y="2778412"/>
            <a:ext cx="133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Google Shape;503;p40">
            <a:extLst>
              <a:ext uri="{FF2B5EF4-FFF2-40B4-BE49-F238E27FC236}">
                <a16:creationId xmlns:a16="http://schemas.microsoft.com/office/drawing/2014/main" id="{0FA19865-A0CC-E03A-E072-B1644B134228}"/>
              </a:ext>
            </a:extLst>
          </p:cNvPr>
          <p:cNvSpPr txBox="1"/>
          <p:nvPr/>
        </p:nvSpPr>
        <p:spPr>
          <a:xfrm>
            <a:off x="952500" y="2779365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A `docker volume create` command.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Google Shape;504;p40">
            <a:extLst>
              <a:ext uri="{FF2B5EF4-FFF2-40B4-BE49-F238E27FC236}">
                <a16:creationId xmlns:a16="http://schemas.microsoft.com/office/drawing/2014/main" id="{689420B7-64FF-2DAC-E904-2DC5E0437FD6}"/>
              </a:ext>
            </a:extLst>
          </p:cNvPr>
          <p:cNvSpPr txBox="1"/>
          <p:nvPr/>
        </p:nvSpPr>
        <p:spPr>
          <a:xfrm>
            <a:off x="819150" y="3195577"/>
            <a:ext cx="133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" name="Google Shape;505;p40">
            <a:extLst>
              <a:ext uri="{FF2B5EF4-FFF2-40B4-BE49-F238E27FC236}">
                <a16:creationId xmlns:a16="http://schemas.microsoft.com/office/drawing/2014/main" id="{687DC527-BD86-3882-4386-65A176F3BD2C}"/>
              </a:ext>
            </a:extLst>
          </p:cNvPr>
          <p:cNvSpPr txBox="1"/>
          <p:nvPr/>
        </p:nvSpPr>
        <p:spPr>
          <a:xfrm>
            <a:off x="952500" y="3196530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A `docker run` command for our database.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Google Shape;506;p40">
            <a:extLst>
              <a:ext uri="{FF2B5EF4-FFF2-40B4-BE49-F238E27FC236}">
                <a16:creationId xmlns:a16="http://schemas.microsoft.com/office/drawing/2014/main" id="{76E1CB2C-C24D-C165-4FBE-C6D20BBD83AC}"/>
              </a:ext>
            </a:extLst>
          </p:cNvPr>
          <p:cNvSpPr txBox="1"/>
          <p:nvPr/>
        </p:nvSpPr>
        <p:spPr>
          <a:xfrm>
            <a:off x="819150" y="3612743"/>
            <a:ext cx="133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9" name="Google Shape;507;p40">
            <a:extLst>
              <a:ext uri="{FF2B5EF4-FFF2-40B4-BE49-F238E27FC236}">
                <a16:creationId xmlns:a16="http://schemas.microsoft.com/office/drawing/2014/main" id="{090AEFCF-5A97-FF4C-AA72-042E1F452537}"/>
              </a:ext>
            </a:extLst>
          </p:cNvPr>
          <p:cNvSpPr txBox="1"/>
          <p:nvPr/>
        </p:nvSpPr>
        <p:spPr>
          <a:xfrm>
            <a:off x="952500" y="3613695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A `docker run` command for our web app.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Google Shape;508;p40">
            <a:extLst>
              <a:ext uri="{FF2B5EF4-FFF2-40B4-BE49-F238E27FC236}">
                <a16:creationId xmlns:a16="http://schemas.microsoft.com/office/drawing/2014/main" id="{0134B744-6095-3430-6190-97E3548C07B1}"/>
              </a:ext>
            </a:extLst>
          </p:cNvPr>
          <p:cNvSpPr txBox="1"/>
          <p:nvPr/>
        </p:nvSpPr>
        <p:spPr>
          <a:xfrm>
            <a:off x="819150" y="4029908"/>
            <a:ext cx="133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" name="Google Shape;509;p40">
            <a:extLst>
              <a:ext uri="{FF2B5EF4-FFF2-40B4-BE49-F238E27FC236}">
                <a16:creationId xmlns:a16="http://schemas.microsoft.com/office/drawing/2014/main" id="{DCF4529B-9474-3BB1-462E-0DD5F8F5A1BF}"/>
              </a:ext>
            </a:extLst>
          </p:cNvPr>
          <p:cNvSpPr txBox="1"/>
          <p:nvPr/>
        </p:nvSpPr>
        <p:spPr>
          <a:xfrm>
            <a:off x="952500" y="4030860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A `docker network` command to link them...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3" name="Google Shape;511;p40">
            <a:extLst>
              <a:ext uri="{FF2B5EF4-FFF2-40B4-BE49-F238E27FC236}">
                <a16:creationId xmlns:a16="http://schemas.microsoft.com/office/drawing/2014/main" id="{EBF680BB-7452-0197-F1E4-AE26892E3C05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496ED"/>
                </a:solidFill>
                <a:latin typeface="+mj-lt"/>
                <a:cs typeface="Poppins"/>
                <a:sym typeface="Poppins"/>
              </a:rPr>
              <a:t>The Next Problem: Multi-Container Apps</a:t>
            </a:r>
            <a:endParaRPr sz="3000" b="1">
              <a:solidFill>
                <a:srgbClr val="2496ED"/>
              </a:solidFill>
              <a:latin typeface="+mj-lt"/>
              <a:cs typeface="Poppin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B279CF7-A46F-AB0B-191B-1D127CEC0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095" y="2339718"/>
            <a:ext cx="277177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244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19FDDEB1-06E8-3778-95A9-A6787704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5" descr="image.png">
            <a:extLst>
              <a:ext uri="{FF2B5EF4-FFF2-40B4-BE49-F238E27FC236}">
                <a16:creationId xmlns:a16="http://schemas.microsoft.com/office/drawing/2014/main" id="{67A50793-B406-7B55-A980-122B7ECEF9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517;p41" descr="image.png">
            <a:extLst>
              <a:ext uri="{FF2B5EF4-FFF2-40B4-BE49-F238E27FC236}">
                <a16:creationId xmlns:a16="http://schemas.microsoft.com/office/drawing/2014/main" id="{0A0E79E4-5EFF-3305-BDFD-F53BD2231C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18;p41">
            <a:extLst>
              <a:ext uri="{FF2B5EF4-FFF2-40B4-BE49-F238E27FC236}">
                <a16:creationId xmlns:a16="http://schemas.microsoft.com/office/drawing/2014/main" id="{D8F40FEF-B610-305C-2F99-0AFCD276EE0E}"/>
              </a:ext>
            </a:extLst>
          </p:cNvPr>
          <p:cNvSpPr txBox="1"/>
          <p:nvPr/>
        </p:nvSpPr>
        <p:spPr>
          <a:xfrm>
            <a:off x="571500" y="17621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+mj-lt"/>
                <a:ea typeface="Poppins"/>
                <a:cs typeface="Poppins"/>
                <a:sym typeface="Poppins"/>
              </a:rPr>
              <a:t>The "Easy Button"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Google Shape;519;p41">
            <a:extLst>
              <a:ext uri="{FF2B5EF4-FFF2-40B4-BE49-F238E27FC236}">
                <a16:creationId xmlns:a16="http://schemas.microsoft.com/office/drawing/2014/main" id="{592198D1-DCBD-B3A3-083B-300767FE71F7}"/>
              </a:ext>
            </a:extLst>
          </p:cNvPr>
          <p:cNvSpPr txBox="1"/>
          <p:nvPr/>
        </p:nvSpPr>
        <p:spPr>
          <a:xfrm>
            <a:off x="571500" y="233362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Docker Compose</a:t>
            </a: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 is a tool for *defining* and *running* multi-container applications.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Google Shape;520;p41">
            <a:extLst>
              <a:ext uri="{FF2B5EF4-FFF2-40B4-BE49-F238E27FC236}">
                <a16:creationId xmlns:a16="http://schemas.microsoft.com/office/drawing/2014/main" id="{70B2BD2C-483C-92D4-7FDD-3FD4B0A9CA54}"/>
              </a:ext>
            </a:extLst>
          </p:cNvPr>
          <p:cNvSpPr txBox="1"/>
          <p:nvPr/>
        </p:nvSpPr>
        <p:spPr>
          <a:xfrm>
            <a:off x="714375" y="3052702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" name="Google Shape;521;p41">
            <a:extLst>
              <a:ext uri="{FF2B5EF4-FFF2-40B4-BE49-F238E27FC236}">
                <a16:creationId xmlns:a16="http://schemas.microsoft.com/office/drawing/2014/main" id="{014F7B9C-60DB-69C5-8C85-819D69584CFC}"/>
              </a:ext>
            </a:extLst>
          </p:cNvPr>
          <p:cNvSpPr txBox="1"/>
          <p:nvPr/>
        </p:nvSpPr>
        <p:spPr>
          <a:xfrm>
            <a:off x="809625" y="3053655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You use a single, simple YAML file: `docker-</a:t>
            </a:r>
            <a:r>
              <a:rPr lang="en-US" sz="1350" b="0" i="0" u="none" strike="noStrike" cap="none" err="1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compose.yml</a:t>
            </a: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`.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Google Shape;522;p41">
            <a:extLst>
              <a:ext uri="{FF2B5EF4-FFF2-40B4-BE49-F238E27FC236}">
                <a16:creationId xmlns:a16="http://schemas.microsoft.com/office/drawing/2014/main" id="{CA16914C-1176-3A33-7DE5-009CD7A7C8A5}"/>
              </a:ext>
            </a:extLst>
          </p:cNvPr>
          <p:cNvSpPr txBox="1"/>
          <p:nvPr/>
        </p:nvSpPr>
        <p:spPr>
          <a:xfrm>
            <a:off x="714375" y="3469868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Google Shape;523;p41">
            <a:extLst>
              <a:ext uri="{FF2B5EF4-FFF2-40B4-BE49-F238E27FC236}">
                <a16:creationId xmlns:a16="http://schemas.microsoft.com/office/drawing/2014/main" id="{6CCC4B81-A182-2DD6-8F3F-DE693EE5D351}"/>
              </a:ext>
            </a:extLst>
          </p:cNvPr>
          <p:cNvSpPr txBox="1"/>
          <p:nvPr/>
        </p:nvSpPr>
        <p:spPr>
          <a:xfrm>
            <a:off x="809625" y="3470820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In this file, you define all your services (web, </a:t>
            </a:r>
            <a:r>
              <a:rPr lang="en-US" sz="1350" b="0" i="0" u="none" strike="noStrike" cap="none" err="1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db</a:t>
            </a: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), volumes, and networks.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Google Shape;524;p41">
            <a:extLst>
              <a:ext uri="{FF2B5EF4-FFF2-40B4-BE49-F238E27FC236}">
                <a16:creationId xmlns:a16="http://schemas.microsoft.com/office/drawing/2014/main" id="{F0354D61-8B03-ED6B-D053-2F7708CAA373}"/>
              </a:ext>
            </a:extLst>
          </p:cNvPr>
          <p:cNvSpPr txBox="1"/>
          <p:nvPr/>
        </p:nvSpPr>
        <p:spPr>
          <a:xfrm>
            <a:off x="714375" y="4161323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4" name="Google Shape;525;p41">
            <a:extLst>
              <a:ext uri="{FF2B5EF4-FFF2-40B4-BE49-F238E27FC236}">
                <a16:creationId xmlns:a16="http://schemas.microsoft.com/office/drawing/2014/main" id="{3D669EF9-2430-8F3C-E62A-34727E3463C0}"/>
              </a:ext>
            </a:extLst>
          </p:cNvPr>
          <p:cNvSpPr txBox="1"/>
          <p:nvPr/>
        </p:nvSpPr>
        <p:spPr>
          <a:xfrm>
            <a:off x="809625" y="4161323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One file to rule them all.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5" name="Google Shape;526;p41">
            <a:extLst>
              <a:ext uri="{FF2B5EF4-FFF2-40B4-BE49-F238E27FC236}">
                <a16:creationId xmlns:a16="http://schemas.microsoft.com/office/drawing/2014/main" id="{31E3294F-CF46-B2A5-2089-74AF88B03351}"/>
              </a:ext>
            </a:extLst>
          </p:cNvPr>
          <p:cNvSpPr txBox="1"/>
          <p:nvPr/>
        </p:nvSpPr>
        <p:spPr>
          <a:xfrm>
            <a:off x="714375" y="4578488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6" name="Google Shape;527;p41">
            <a:extLst>
              <a:ext uri="{FF2B5EF4-FFF2-40B4-BE49-F238E27FC236}">
                <a16:creationId xmlns:a16="http://schemas.microsoft.com/office/drawing/2014/main" id="{C821E233-53B9-52E2-5F28-15C0B7DEF192}"/>
              </a:ext>
            </a:extLst>
          </p:cNvPr>
          <p:cNvSpPr txBox="1"/>
          <p:nvPr/>
        </p:nvSpPr>
        <p:spPr>
          <a:xfrm>
            <a:off x="809625" y="4579441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One command to bring your *entire* application up or down.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7" name="Google Shape;528;p41" descr="image.png">
            <a:extLst>
              <a:ext uri="{FF2B5EF4-FFF2-40B4-BE49-F238E27FC236}">
                <a16:creationId xmlns:a16="http://schemas.microsoft.com/office/drawing/2014/main" id="{90342BC8-59BB-B963-5B52-2643CBAA5CC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529;p41">
            <a:extLst>
              <a:ext uri="{FF2B5EF4-FFF2-40B4-BE49-F238E27FC236}">
                <a16:creationId xmlns:a16="http://schemas.microsoft.com/office/drawing/2014/main" id="{DEF56A5A-1EF0-453B-EBFF-E95A48AF1C74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496ED"/>
                </a:solidFill>
                <a:latin typeface="+mj-lt"/>
                <a:cs typeface="Poppins"/>
                <a:sym typeface="Poppins"/>
              </a:rPr>
              <a:t>The Solution: Docker Compose</a:t>
            </a:r>
            <a:endParaRPr sz="3000" b="1">
              <a:solidFill>
                <a:srgbClr val="2496ED"/>
              </a:solidFill>
              <a:latin typeface="+mj-lt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86039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6"/>
          <p:cNvSpPr txBox="1"/>
          <p:nvPr/>
        </p:nvSpPr>
        <p:spPr>
          <a:xfrm>
            <a:off x="571500" y="1453247"/>
            <a:ext cx="619796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File 5: `docker-</a:t>
            </a:r>
            <a:r>
              <a:rPr lang="en-US" sz="2100" b="1" i="0" u="none" strike="noStrike" cap="none" err="1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compose.yml</a:t>
            </a: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`</a:t>
            </a:r>
            <a:endParaRPr>
              <a:latin typeface="+mj-lt"/>
            </a:endParaRPr>
          </a:p>
        </p:txBody>
      </p:sp>
      <p:sp>
        <p:nvSpPr>
          <p:cNvPr id="618" name="Google Shape;618;p46"/>
          <p:cNvSpPr txBox="1"/>
          <p:nvPr/>
        </p:nvSpPr>
        <p:spPr>
          <a:xfrm>
            <a:off x="6950571" y="1609516"/>
            <a:ext cx="49034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Anatomy of the File</a:t>
            </a:r>
            <a:endParaRPr>
              <a:latin typeface="+mj-lt"/>
            </a:endParaRPr>
          </a:p>
        </p:txBody>
      </p:sp>
      <p:sp>
        <p:nvSpPr>
          <p:cNvPr id="619" name="Google Shape;619;p46"/>
          <p:cNvSpPr txBox="1"/>
          <p:nvPr/>
        </p:nvSpPr>
        <p:spPr>
          <a:xfrm>
            <a:off x="6950571" y="2347912"/>
            <a:ext cx="4669928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This file defines our entire app:</a:t>
            </a:r>
            <a:endParaRPr>
              <a:latin typeface="+mn-lt"/>
            </a:endParaRPr>
          </a:p>
        </p:txBody>
      </p:sp>
      <p:sp>
        <p:nvSpPr>
          <p:cNvPr id="620" name="Google Shape;620;p46"/>
          <p:cNvSpPr txBox="1"/>
          <p:nvPr/>
        </p:nvSpPr>
        <p:spPr>
          <a:xfrm>
            <a:off x="6950571" y="5313759"/>
            <a:ext cx="4669928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Compose handles the network *automatically*.</a:t>
            </a:r>
            <a:endParaRPr>
              <a:latin typeface="+mn-lt"/>
            </a:endParaRPr>
          </a:p>
        </p:txBody>
      </p:sp>
      <p:sp>
        <p:nvSpPr>
          <p:cNvPr id="645" name="Google Shape;645;p46"/>
          <p:cNvSpPr txBox="1"/>
          <p:nvPr/>
        </p:nvSpPr>
        <p:spPr>
          <a:xfrm>
            <a:off x="7093446" y="279270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46" name="Google Shape;646;p46"/>
          <p:cNvSpPr txBox="1"/>
          <p:nvPr/>
        </p:nvSpPr>
        <p:spPr>
          <a:xfrm>
            <a:off x="7188696" y="2793652"/>
            <a:ext cx="443180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`services`: Our containers.</a:t>
            </a:r>
            <a:endParaRPr>
              <a:latin typeface="+mn-lt"/>
            </a:endParaRPr>
          </a:p>
        </p:txBody>
      </p:sp>
      <p:sp>
        <p:nvSpPr>
          <p:cNvPr id="647" name="Google Shape;647;p46"/>
          <p:cNvSpPr txBox="1"/>
          <p:nvPr/>
        </p:nvSpPr>
        <p:spPr>
          <a:xfrm>
            <a:off x="7093446" y="320986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48" name="Google Shape;648;p46"/>
          <p:cNvSpPr txBox="1"/>
          <p:nvPr/>
        </p:nvSpPr>
        <p:spPr>
          <a:xfrm>
            <a:off x="7188696" y="3210817"/>
            <a:ext cx="443180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`web`: Our Python app. It `build`s from our 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Dockerfile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and `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depends_on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 the db.</a:t>
            </a:r>
            <a:endParaRPr>
              <a:latin typeface="+mn-lt"/>
            </a:endParaRPr>
          </a:p>
        </p:txBody>
      </p:sp>
      <p:sp>
        <p:nvSpPr>
          <p:cNvPr id="649" name="Google Shape;649;p46"/>
          <p:cNvSpPr txBox="1"/>
          <p:nvPr/>
        </p:nvSpPr>
        <p:spPr>
          <a:xfrm>
            <a:off x="7093446" y="390132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50" name="Google Shape;650;p46"/>
          <p:cNvSpPr txBox="1"/>
          <p:nvPr/>
        </p:nvSpPr>
        <p:spPr>
          <a:xfrm>
            <a:off x="7188696" y="3902273"/>
            <a:ext cx="443180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db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`: Our database. It uses the `postgres:14` image and a password.</a:t>
            </a:r>
            <a:endParaRPr>
              <a:latin typeface="+mn-lt"/>
            </a:endParaRPr>
          </a:p>
        </p:txBody>
      </p:sp>
      <p:sp>
        <p:nvSpPr>
          <p:cNvPr id="651" name="Google Shape;651;p46"/>
          <p:cNvSpPr txBox="1"/>
          <p:nvPr/>
        </p:nvSpPr>
        <p:spPr>
          <a:xfrm>
            <a:off x="7093446" y="4592776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52" name="Google Shape;652;p46"/>
          <p:cNvSpPr txBox="1"/>
          <p:nvPr/>
        </p:nvSpPr>
        <p:spPr>
          <a:xfrm>
            <a:off x="7188696" y="4593728"/>
            <a:ext cx="443180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`volumes`: We define our volume `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todo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-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db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-data` and attach it to the `</a:t>
            </a:r>
            <a:r>
              <a:rPr lang="en-US" sz="135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db</a:t>
            </a:r>
            <a:r>
              <a:rPr lang="en-US" sz="135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 service.</a:t>
            </a:r>
            <a:endParaRPr>
              <a:latin typeface="+mn-lt"/>
            </a:endParaRPr>
          </a:p>
        </p:txBody>
      </p:sp>
      <p:sp>
        <p:nvSpPr>
          <p:cNvPr id="653" name="Google Shape;653;p46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Example 3: The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docker-</a:t>
            </a:r>
            <a:r>
              <a:rPr lang="en-US" sz="3000" b="1" i="0" u="none" strike="noStrike" cap="none" err="1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compose.yml</a:t>
            </a: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 File</a:t>
            </a:r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A7601F-1F74-1DD0-F5A7-C50E8187F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1922386"/>
            <a:ext cx="4431803" cy="483370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1"/>
          <p:cNvSpPr txBox="1"/>
          <p:nvPr/>
        </p:nvSpPr>
        <p:spPr>
          <a:xfrm>
            <a:off x="857250" y="1975544"/>
            <a:ext cx="10477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Your directory now has all your app files *and* the new `docker-</a:t>
            </a:r>
            <a:r>
              <a:rPr lang="en-US" sz="1500" b="0" i="0" u="none" strike="noStrike" cap="none" err="1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compose.yml</a:t>
            </a:r>
            <a:r>
              <a:rPr lang="en-US" sz="1500" b="0" i="0" u="none" strike="noStrike" cap="none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` file. Now the magic happens.</a:t>
            </a:r>
            <a:endParaRPr>
              <a:latin typeface="+mn-lt"/>
            </a:endParaRPr>
          </a:p>
        </p:txBody>
      </p:sp>
      <p:sp>
        <p:nvSpPr>
          <p:cNvPr id="580" name="Google Shape;580;p41"/>
          <p:cNvSpPr txBox="1"/>
          <p:nvPr/>
        </p:nvSpPr>
        <p:spPr>
          <a:xfrm>
            <a:off x="1238250" y="2566094"/>
            <a:ext cx="10096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`docker-compose up`</a:t>
            </a:r>
            <a:endParaRPr>
              <a:latin typeface="+mn-lt"/>
            </a:endParaRPr>
          </a:p>
        </p:txBody>
      </p:sp>
      <p:sp>
        <p:nvSpPr>
          <p:cNvPr id="581" name="Google Shape;581;p41"/>
          <p:cNvSpPr txBox="1"/>
          <p:nvPr/>
        </p:nvSpPr>
        <p:spPr>
          <a:xfrm>
            <a:off x="1238250" y="3430934"/>
            <a:ext cx="10096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`docker-compose up -d`: </a:t>
            </a:r>
            <a:r>
              <a:rPr lang="en-US" sz="1500" i="0" u="none" strike="noStrike" cap="none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Detached mode, so we get our terminal back</a:t>
            </a:r>
            <a:endParaRPr>
              <a:latin typeface="+mn-lt"/>
            </a:endParaRPr>
          </a:p>
        </p:txBody>
      </p:sp>
      <p:sp>
        <p:nvSpPr>
          <p:cNvPr id="582" name="Google Shape;582;p41"/>
          <p:cNvSpPr txBox="1"/>
          <p:nvPr/>
        </p:nvSpPr>
        <p:spPr>
          <a:xfrm>
            <a:off x="1238250" y="4295775"/>
            <a:ext cx="10096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`docker-compose down`: </a:t>
            </a:r>
            <a:r>
              <a:rPr lang="en-US" sz="1500" i="0" u="none" strike="noStrike" cap="none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only removes containers but data persists</a:t>
            </a:r>
            <a:endParaRPr>
              <a:latin typeface="+mn-lt"/>
            </a:endParaRPr>
          </a:p>
        </p:txBody>
      </p:sp>
      <p:sp>
        <p:nvSpPr>
          <p:cNvPr id="583" name="Google Shape;583;p41"/>
          <p:cNvSpPr txBox="1"/>
          <p:nvPr/>
        </p:nvSpPr>
        <p:spPr>
          <a:xfrm>
            <a:off x="1238250" y="5160615"/>
            <a:ext cx="10096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`docker-compose down -v`: </a:t>
            </a:r>
            <a:r>
              <a:rPr lang="en-US"/>
              <a:t>remove named volumes declared in the volumes; section of the Compose file</a:t>
            </a:r>
            <a:endParaRPr>
              <a:latin typeface="+mn-lt"/>
            </a:endParaRPr>
          </a:p>
        </p:txBody>
      </p:sp>
      <p:pic>
        <p:nvPicPr>
          <p:cNvPr id="584" name="Google Shape;584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613719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3478559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3434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520824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1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j-lt"/>
                <a:ea typeface="Poppins"/>
                <a:cs typeface="Poppins"/>
                <a:sym typeface="Poppins"/>
              </a:rPr>
              <a:t>Example Part 3: </a:t>
            </a:r>
            <a:r>
              <a:rPr lang="en-US" sz="3000" b="1" i="0" u="none" strike="noStrike" cap="none">
                <a:solidFill>
                  <a:srgbClr val="2496ED"/>
                </a:solidFill>
                <a:latin typeface="+mj-lt"/>
                <a:ea typeface="Poppins"/>
                <a:cs typeface="Poppins"/>
                <a:sym typeface="Poppins"/>
              </a:rPr>
              <a:t>The Final Commands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3FCD82FA-E9BE-6AC6-B01D-0D493963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1" descr="image.png">
            <a:extLst>
              <a:ext uri="{FF2B5EF4-FFF2-40B4-BE49-F238E27FC236}">
                <a16:creationId xmlns:a16="http://schemas.microsoft.com/office/drawing/2014/main" id="{8150666D-636D-A6CB-CFBA-99B4966AC3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E0FD45-88C5-4AA8-4FF0-6649E4DC1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191" y="4923958"/>
            <a:ext cx="2774374" cy="15169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8EE14F-0BDC-904E-6C68-A15E82E9F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37" y="396552"/>
            <a:ext cx="9006417" cy="436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084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CA802C5C-0436-A6B5-C494-395E6E64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1" descr="image.png">
            <a:extLst>
              <a:ext uri="{FF2B5EF4-FFF2-40B4-BE49-F238E27FC236}">
                <a16:creationId xmlns:a16="http://schemas.microsoft.com/office/drawing/2014/main" id="{FF11FA49-59A9-A6E1-187D-A292886D6C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A84B2B-7B5C-F713-38EF-701161EDC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2" y="1790385"/>
            <a:ext cx="8505393" cy="46505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4DBBE9-C957-3D17-C7B6-59EEC27E3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38" y="396552"/>
            <a:ext cx="2877590" cy="139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960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60608067-C0C6-3F4C-EA69-41082DB80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835A2FDF-A732-775E-574B-4572E1F2BB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55A9CCA3-10F6-D59D-EC3E-B7F67405296A}"/>
              </a:ext>
            </a:extLst>
          </p:cNvPr>
          <p:cNvSpPr txBox="1"/>
          <p:nvPr/>
        </p:nvSpPr>
        <p:spPr>
          <a:xfrm>
            <a:off x="295275" y="2141190"/>
            <a:ext cx="11601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rgbClr val="2496ED"/>
                </a:solidFill>
                <a:latin typeface="+mj-lt"/>
                <a:cs typeface="Poppins"/>
                <a:sym typeface="Poppins"/>
              </a:rPr>
              <a:t>Practical Demo</a:t>
            </a:r>
            <a:endParaRPr sz="7200" b="1">
              <a:solidFill>
                <a:srgbClr val="2496ED"/>
              </a:solidFill>
              <a:latin typeface="+mj-lt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614616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4FF8D5-4BB1-468F-A524-8A8B61B76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Agenda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5F3548C-84C5-4A51-BE0A-39A4217A36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2378" y="58888"/>
            <a:ext cx="6022994" cy="215444"/>
          </a:xfrm>
        </p:spPr>
        <p:txBody>
          <a:bodyPr>
            <a:noAutofit/>
          </a:bodyPr>
          <a:lstStyle/>
          <a:p>
            <a:r>
              <a:rPr lang="en-US" sz="1600"/>
              <a:t>Boeing Artificial Intelligence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ED4BCF2-7560-8F1B-1D5F-873AAEC0F124}"/>
              </a:ext>
            </a:extLst>
          </p:cNvPr>
          <p:cNvGraphicFramePr>
            <a:graphicFrameLocks noGrp="1"/>
          </p:cNvGraphicFramePr>
          <p:nvPr/>
        </p:nvGraphicFramePr>
        <p:xfrm>
          <a:off x="972589" y="1802627"/>
          <a:ext cx="9817331" cy="2851079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621876">
                  <a:extLst>
                    <a:ext uri="{9D8B030D-6E8A-4147-A177-3AD203B41FA5}">
                      <a16:colId xmlns:a16="http://schemas.microsoft.com/office/drawing/2014/main" val="2093992601"/>
                    </a:ext>
                  </a:extLst>
                </a:gridCol>
                <a:gridCol w="2663127">
                  <a:extLst>
                    <a:ext uri="{9D8B030D-6E8A-4147-A177-3AD203B41FA5}">
                      <a16:colId xmlns:a16="http://schemas.microsoft.com/office/drawing/2014/main" val="1009580983"/>
                    </a:ext>
                  </a:extLst>
                </a:gridCol>
                <a:gridCol w="2532328">
                  <a:extLst>
                    <a:ext uri="{9D8B030D-6E8A-4147-A177-3AD203B41FA5}">
                      <a16:colId xmlns:a16="http://schemas.microsoft.com/office/drawing/2014/main" val="354594080"/>
                    </a:ext>
                  </a:extLst>
                </a:gridCol>
              </a:tblGrid>
              <a:tr h="407297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436346"/>
                  </a:ext>
                </a:extLst>
              </a:tr>
              <a:tr h="407297">
                <a:tc>
                  <a:txBody>
                    <a:bodyPr/>
                    <a:lstStyle/>
                    <a:p>
                      <a:r>
                        <a:rPr lang="en-US" sz="1600"/>
                        <a:t>Introduction to Cloud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906374"/>
                  </a:ext>
                </a:extLst>
              </a:tr>
              <a:tr h="407297">
                <a:tc>
                  <a:txBody>
                    <a:bodyPr/>
                    <a:lstStyle/>
                    <a:p>
                      <a:r>
                        <a:rPr lang="en-US" sz="1600"/>
                        <a:t>Kubernetes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726548"/>
                  </a:ext>
                </a:extLst>
              </a:tr>
              <a:tr h="40729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Docker → K8s Manifests → Helm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13697"/>
                  </a:ext>
                </a:extLst>
              </a:tr>
              <a:tr h="407297">
                <a:tc>
                  <a:txBody>
                    <a:bodyPr/>
                    <a:lstStyle/>
                    <a:p>
                      <a:r>
                        <a:rPr lang="en-US" sz="1600"/>
                        <a:t>Overview Deployment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10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494196"/>
                  </a:ext>
                </a:extLst>
              </a:tr>
              <a:tr h="40729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LIVE: Deploy to OpenShift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30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33735"/>
                  </a:ext>
                </a:extLst>
              </a:tr>
              <a:tr h="40729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Scaling +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996642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1D40E-1C35-D8A8-0A8A-9ED3513A0F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sz="1600"/>
              <a:t>AI/ML Training 2025</a:t>
            </a:r>
          </a:p>
        </p:txBody>
      </p:sp>
    </p:spTree>
    <p:extLst>
      <p:ext uri="{BB962C8B-B14F-4D97-AF65-F5344CB8AC3E}">
        <p14:creationId xmlns:p14="http://schemas.microsoft.com/office/powerpoint/2010/main" val="911993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986" y="614684"/>
            <a:ext cx="11064532" cy="642515"/>
          </a:xfrm>
        </p:spPr>
        <p:txBody>
          <a:bodyPr>
            <a:normAutofit fontScale="90000"/>
          </a:bodyPr>
          <a:lstStyle/>
          <a:p>
            <a:r>
              <a:rPr lang="en-US" b="1"/>
              <a:t>What You'll Deploy in the Next 1 Hours</a:t>
            </a:r>
            <a:br>
              <a:rPr lang="en-US" b="1"/>
            </a:br>
            <a:endParaRPr lang="en-US" b="1">
              <a:effectLst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4E7801-CAD8-667F-D206-0E178B94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985" y="1061884"/>
            <a:ext cx="9903349" cy="46519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/>
              <a:t>🚀</a:t>
            </a:r>
            <a:r>
              <a:rPr lang="en-US" b="1"/>
              <a:t> Deploying LLMs at Scale:  </a:t>
            </a:r>
          </a:p>
          <a:p>
            <a:pPr marL="0" indent="0">
              <a:buNone/>
            </a:pPr>
            <a:r>
              <a:rPr lang="en-US"/>
              <a:t>Docker → Kubernetes → Helm → OpenShift</a:t>
            </a:r>
          </a:p>
          <a:p>
            <a:pPr marL="0" indent="0">
              <a:buNone/>
            </a:pPr>
            <a:r>
              <a:rPr lang="en-US" b="1"/>
              <a:t>Prerequisite</a:t>
            </a:r>
            <a:r>
              <a:rPr lang="en-US"/>
              <a:t> :</a:t>
            </a:r>
          </a:p>
          <a:p>
            <a:pPr marL="0" indent="0">
              <a:buNone/>
            </a:pPr>
            <a:r>
              <a:rPr lang="en-US"/>
              <a:t> - </a:t>
            </a:r>
            <a:r>
              <a:rPr lang="en-US" sz="1600"/>
              <a:t>Docker Desktop (Windows)</a:t>
            </a:r>
          </a:p>
          <a:p>
            <a:pPr>
              <a:buFontTx/>
              <a:buChar char="-"/>
            </a:pPr>
            <a:r>
              <a:rPr lang="en-US" sz="1600"/>
              <a:t>Helm </a:t>
            </a:r>
          </a:p>
          <a:p>
            <a:pPr>
              <a:buFontTx/>
              <a:buChar char="-"/>
            </a:pPr>
            <a:r>
              <a:rPr lang="en-US" sz="1600"/>
              <a:t>OpenShift</a:t>
            </a:r>
          </a:p>
          <a:p>
            <a:pPr marL="0" indent="0">
              <a:buNone/>
            </a:pPr>
            <a:r>
              <a:rPr lang="en-US" b="1"/>
              <a:t>What YOU Will Launch LIVE:</a:t>
            </a:r>
          </a:p>
          <a:p>
            <a:pPr marL="0" indent="0">
              <a:buNone/>
            </a:pPr>
            <a:r>
              <a:rPr lang="en-US" sz="1600"/>
              <a:t>LLM Chatbot</a:t>
            </a:r>
          </a:p>
          <a:p>
            <a:pPr marL="0" indent="0">
              <a:buNone/>
            </a:pPr>
            <a:r>
              <a:rPr lang="en-US" sz="1600"/>
              <a:t>⚡ </a:t>
            </a:r>
            <a:r>
              <a:rPr lang="en-US" sz="1600" err="1"/>
              <a:t>FastAPI</a:t>
            </a:r>
            <a:r>
              <a:rPr lang="en-US" sz="1600"/>
              <a:t> + Streaming responses  </a:t>
            </a:r>
          </a:p>
          <a:p>
            <a:pPr marL="0" indent="0">
              <a:buNone/>
            </a:pPr>
            <a:r>
              <a:rPr lang="en-US" sz="1600"/>
              <a:t>🛠 Runs on CPU </a:t>
            </a:r>
          </a:p>
          <a:p>
            <a:pPr marL="0" indent="0">
              <a:buNone/>
            </a:pPr>
            <a:r>
              <a:rPr lang="en-US" sz="1600"/>
              <a:t>🌐  HTTPS URL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Autofit/>
          </a:bodyPr>
          <a:lstStyle/>
          <a:p>
            <a:r>
              <a:rPr lang="en-US" sz="1600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5303" y="55599"/>
            <a:ext cx="6022994" cy="215444"/>
          </a:xfrm>
        </p:spPr>
        <p:txBody>
          <a:bodyPr>
            <a:noAutofit/>
          </a:bodyPr>
          <a:lstStyle/>
          <a:p>
            <a:r>
              <a:rPr lang="en-US" sz="1600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</p:spTree>
    <p:extLst>
      <p:ext uri="{BB962C8B-B14F-4D97-AF65-F5344CB8AC3E}">
        <p14:creationId xmlns:p14="http://schemas.microsoft.com/office/powerpoint/2010/main" val="426319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Kubernetes Architecture</a:t>
            </a:r>
            <a:endParaRPr lang="en-US" b="1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Autofit/>
          </a:bodyPr>
          <a:lstStyle/>
          <a:p>
            <a:r>
              <a:rPr lang="en-US" sz="1600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2379" y="56422"/>
            <a:ext cx="6022994" cy="215444"/>
          </a:xfrm>
        </p:spPr>
        <p:txBody>
          <a:bodyPr>
            <a:noAutofit/>
          </a:bodyPr>
          <a:lstStyle/>
          <a:p>
            <a:r>
              <a:rPr lang="en-US" sz="1600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14CDF-EBB5-2E32-A11C-09652C4B0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278" y="1249906"/>
            <a:ext cx="9109884" cy="493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33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E490F-983D-D5CB-A786-63885063B8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sz="1600"/>
              <a:t>AI/ML Training 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389102-CE41-EA63-BC78-B5CE9DE8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OpenShift Architecture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9569A1B8-97BC-2CC3-F15E-1571354AAD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043" y="1561999"/>
            <a:ext cx="8906136" cy="480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26CD709-DF72-F02D-A35E-0393DD453D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0810" y="31816"/>
            <a:ext cx="6024562" cy="195263"/>
          </a:xfrm>
        </p:spPr>
        <p:txBody>
          <a:bodyPr>
            <a:noAutofit/>
          </a:bodyPr>
          <a:lstStyle/>
          <a:p>
            <a:r>
              <a:rPr lang="en-US" sz="1600"/>
              <a:t>Boeing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969944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Introduction to Kubernetes Manifests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4E7801-CAD8-667F-D206-0E178B94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7" y="1623526"/>
            <a:ext cx="9815707" cy="409030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Kubernetes manifest files are YAML or JSON configurations that describe the desired state of your Kubernetes objects.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Key objects include Pods, Services, Deployments, ConfigMaps, Secrets, and more.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 this presentation, we’ll go over the most important Kubernetes objects used in manifests.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Autofit/>
          </a:bodyPr>
          <a:lstStyle/>
          <a:p>
            <a:r>
              <a:rPr lang="en-US" sz="1600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5303" y="67679"/>
            <a:ext cx="6022994" cy="215444"/>
          </a:xfrm>
        </p:spPr>
        <p:txBody>
          <a:bodyPr>
            <a:noAutofit/>
          </a:bodyPr>
          <a:lstStyle/>
          <a:p>
            <a:r>
              <a:rPr lang="en-US" sz="1600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</p:spTree>
    <p:extLst>
      <p:ext uri="{BB962C8B-B14F-4D97-AF65-F5344CB8AC3E}">
        <p14:creationId xmlns:p14="http://schemas.microsoft.com/office/powerpoint/2010/main" val="1219253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D2F1DAE-43FC-FD7B-8027-9B6D6A692F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5506" y="1338292"/>
          <a:ext cx="9468468" cy="4688879"/>
        </p:xfrm>
        <a:graphic>
          <a:graphicData uri="http://schemas.openxmlformats.org/drawingml/2006/table">
            <a:tbl>
              <a:tblPr/>
              <a:tblGrid>
                <a:gridCol w="2367117">
                  <a:extLst>
                    <a:ext uri="{9D8B030D-6E8A-4147-A177-3AD203B41FA5}">
                      <a16:colId xmlns:a16="http://schemas.microsoft.com/office/drawing/2014/main" val="3331192079"/>
                    </a:ext>
                  </a:extLst>
                </a:gridCol>
                <a:gridCol w="2367117">
                  <a:extLst>
                    <a:ext uri="{9D8B030D-6E8A-4147-A177-3AD203B41FA5}">
                      <a16:colId xmlns:a16="http://schemas.microsoft.com/office/drawing/2014/main" val="2708273870"/>
                    </a:ext>
                  </a:extLst>
                </a:gridCol>
                <a:gridCol w="2367117">
                  <a:extLst>
                    <a:ext uri="{9D8B030D-6E8A-4147-A177-3AD203B41FA5}">
                      <a16:colId xmlns:a16="http://schemas.microsoft.com/office/drawing/2014/main" val="2912375348"/>
                    </a:ext>
                  </a:extLst>
                </a:gridCol>
                <a:gridCol w="2367117">
                  <a:extLst>
                    <a:ext uri="{9D8B030D-6E8A-4147-A177-3AD203B41FA5}">
                      <a16:colId xmlns:a16="http://schemas.microsoft.com/office/drawing/2014/main" val="4110286502"/>
                    </a:ext>
                  </a:extLst>
                </a:gridCol>
              </a:tblGrid>
              <a:tr h="35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Object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Job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Demo App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148502"/>
                  </a:ext>
                </a:extLst>
              </a:tr>
              <a:tr h="619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Deployment</a:t>
                      </a: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Run N replicas + auto-restart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replicas: 3 → 10 with HPA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816361"/>
                  </a:ext>
                </a:extLst>
              </a:tr>
              <a:tr h="619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Service</a:t>
                      </a: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Expose pods (ClusterIP/NodePort)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Load-balances traffic to 3 pods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597792"/>
                  </a:ext>
                </a:extLst>
              </a:tr>
              <a:tr h="619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Route</a:t>
                      </a: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OpenShift HTTPS ingress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Public URL in 3 seconds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842247"/>
                  </a:ext>
                </a:extLst>
              </a:tr>
              <a:tr h="619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ConfigMap</a:t>
                      </a: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Environment Variable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Sample vars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058243"/>
                  </a:ext>
                </a:extLst>
              </a:tr>
              <a:tr h="619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Secret</a:t>
                      </a: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Passwords / tokens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API token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9827"/>
                  </a:ext>
                </a:extLst>
              </a:tr>
              <a:tr h="619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HPA</a:t>
                      </a: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Auto-scale on CPU / RPS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 → 10 pods when traffic spikes</a:t>
                      </a:r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534928"/>
                  </a:ext>
                </a:extLst>
              </a:tr>
              <a:tr h="61944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marL="29527" marR="29527" marT="14764" marB="14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556885"/>
                  </a:ext>
                </a:extLst>
              </a:tr>
            </a:tbl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5BDB7-D639-132F-CD1B-5B0B05FE9F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sz="1600"/>
              <a:t>AI/ML Training 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9097BD-6FA2-8358-96C1-BE7C16DB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Demo Objects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E3E48-7072-5485-B7B4-7A30F17E9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0809" y="79644"/>
            <a:ext cx="6024563" cy="193899"/>
          </a:xfrm>
        </p:spPr>
        <p:txBody>
          <a:bodyPr>
            <a:noAutofit/>
          </a:bodyPr>
          <a:lstStyle/>
          <a:p>
            <a:r>
              <a:rPr lang="en-US" sz="1600"/>
              <a:t>Boeing Artificial Intelligence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96249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Pods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4E7801-CAD8-667F-D206-0E178B94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47" y="1614694"/>
            <a:ext cx="6503341" cy="400233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/>
              <a:t>A Pod is the smallest and simplest Kubernetes object. It represents a single instance of a running process in your cluster.</a:t>
            </a:r>
          </a:p>
          <a:p>
            <a:pPr lvl="2">
              <a:spcBef>
                <a:spcPts val="1200"/>
              </a:spcBef>
            </a:pPr>
            <a:r>
              <a:rPr lang="en-US"/>
              <a:t>Key Fields in Pod Manifest:</a:t>
            </a:r>
          </a:p>
          <a:p>
            <a:pPr lvl="2">
              <a:spcBef>
                <a:spcPts val="1200"/>
              </a:spcBef>
            </a:pPr>
            <a:r>
              <a:rPr lang="en-US" err="1"/>
              <a:t>apiVersion</a:t>
            </a:r>
            <a:r>
              <a:rPr lang="en-US"/>
              <a:t>: Specifies the version of the Kubernetes API (e.g., v1).</a:t>
            </a:r>
          </a:p>
          <a:p>
            <a:pPr lvl="2">
              <a:spcBef>
                <a:spcPts val="1200"/>
              </a:spcBef>
            </a:pPr>
            <a:r>
              <a:rPr lang="en-US"/>
              <a:t>kind: Defines the object type, which is Pod.</a:t>
            </a:r>
          </a:p>
          <a:p>
            <a:pPr lvl="2">
              <a:spcBef>
                <a:spcPts val="1200"/>
              </a:spcBef>
            </a:pPr>
            <a:r>
              <a:rPr lang="en-US"/>
              <a:t>metadata: Contains name, labels, and other metadata</a:t>
            </a:r>
          </a:p>
          <a:p>
            <a:pPr lvl="2">
              <a:spcBef>
                <a:spcPts val="1200"/>
              </a:spcBef>
            </a:pPr>
            <a:r>
              <a:rPr lang="en-US"/>
              <a:t>.spec: Describes the containers, their images, volumes, and ports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248" y="182698"/>
            <a:ext cx="6022994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B4E8B-E6A3-2723-740E-E2336DDA301A}"/>
              </a:ext>
            </a:extLst>
          </p:cNvPr>
          <p:cNvSpPr txBox="1"/>
          <p:nvPr/>
        </p:nvSpPr>
        <p:spPr>
          <a:xfrm>
            <a:off x="7639439" y="1596420"/>
            <a:ext cx="36226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apiVersion</a:t>
            </a:r>
            <a:r>
              <a:rPr lang="en-US"/>
              <a:t>: v1</a:t>
            </a:r>
          </a:p>
          <a:p>
            <a:r>
              <a:rPr lang="en-US"/>
              <a:t>kind: Pod</a:t>
            </a:r>
          </a:p>
          <a:p>
            <a:r>
              <a:rPr lang="en-US"/>
              <a:t>metadata:</a:t>
            </a:r>
          </a:p>
          <a:p>
            <a:r>
              <a:rPr lang="en-US"/>
              <a:t>  name: my-pod</a:t>
            </a:r>
          </a:p>
          <a:p>
            <a:r>
              <a:rPr lang="en-US"/>
              <a:t>spec:</a:t>
            </a:r>
          </a:p>
          <a:p>
            <a:r>
              <a:rPr lang="en-US"/>
              <a:t>  containers:</a:t>
            </a:r>
          </a:p>
          <a:p>
            <a:r>
              <a:rPr lang="en-US"/>
              <a:t>    - name: nginx-container</a:t>
            </a:r>
          </a:p>
          <a:p>
            <a:r>
              <a:rPr lang="en-US"/>
              <a:t>      image: nginx</a:t>
            </a:r>
          </a:p>
          <a:p>
            <a:r>
              <a:rPr lang="en-US"/>
              <a:t>      ports:</a:t>
            </a:r>
          </a:p>
          <a:p>
            <a:r>
              <a:rPr lang="en-US"/>
              <a:t>        - </a:t>
            </a:r>
            <a:r>
              <a:rPr lang="en-US" err="1"/>
              <a:t>containerPort</a:t>
            </a:r>
            <a:r>
              <a:rPr lang="en-US"/>
              <a:t>: 80</a:t>
            </a:r>
          </a:p>
        </p:txBody>
      </p:sp>
    </p:spTree>
    <p:extLst>
      <p:ext uri="{BB962C8B-B14F-4D97-AF65-F5344CB8AC3E}">
        <p14:creationId xmlns:p14="http://schemas.microsoft.com/office/powerpoint/2010/main" val="3119456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Deployments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4E7801-CAD8-667F-D206-0E178B94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7" y="1623526"/>
            <a:ext cx="6811251" cy="4090307"/>
          </a:xfrm>
        </p:spPr>
        <p:txBody>
          <a:bodyPr>
            <a:normAutofit/>
          </a:bodyPr>
          <a:lstStyle/>
          <a:p>
            <a:r>
              <a:rPr lang="en-US"/>
              <a:t>A Deployment provides declarative updates for Pods and </a:t>
            </a:r>
            <a:r>
              <a:rPr lang="en-US" err="1"/>
              <a:t>ReplicaSets</a:t>
            </a:r>
            <a:r>
              <a:rPr lang="en-US"/>
              <a:t>.</a:t>
            </a:r>
          </a:p>
          <a:p>
            <a:pPr lvl="1"/>
            <a:r>
              <a:rPr lang="en-US"/>
              <a:t>Key Fields in Deployment Manifest:</a:t>
            </a:r>
          </a:p>
          <a:p>
            <a:pPr lvl="2"/>
            <a:r>
              <a:rPr lang="en-US"/>
              <a:t>replicas: Defines the number of Pod replicas to run.</a:t>
            </a:r>
          </a:p>
          <a:p>
            <a:pPr lvl="2"/>
            <a:r>
              <a:rPr lang="en-US"/>
              <a:t>selector: Specifies how Pods are selected for the deployment.</a:t>
            </a:r>
          </a:p>
          <a:p>
            <a:pPr lvl="2"/>
            <a:r>
              <a:rPr lang="en-US"/>
              <a:t>template: Describes the Pod definition.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AI/ML Training 2024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248" y="182698"/>
            <a:ext cx="6022994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FC48E-DD70-5156-ECE9-05B9D1FE2CB9}"/>
              </a:ext>
            </a:extLst>
          </p:cNvPr>
          <p:cNvSpPr txBox="1"/>
          <p:nvPr/>
        </p:nvSpPr>
        <p:spPr>
          <a:xfrm>
            <a:off x="6912683" y="787696"/>
            <a:ext cx="496621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apiVersion</a:t>
            </a:r>
            <a:r>
              <a:rPr lang="en-US"/>
              <a:t>: apps/v1</a:t>
            </a:r>
          </a:p>
          <a:p>
            <a:r>
              <a:rPr lang="en-US"/>
              <a:t>kind: Deployment</a:t>
            </a:r>
          </a:p>
          <a:p>
            <a:r>
              <a:rPr lang="en-US"/>
              <a:t>metadata:</a:t>
            </a:r>
          </a:p>
          <a:p>
            <a:r>
              <a:rPr lang="en-US"/>
              <a:t>  name: nginx-deployment</a:t>
            </a:r>
          </a:p>
          <a:p>
            <a:r>
              <a:rPr lang="en-US"/>
              <a:t>spec:</a:t>
            </a:r>
          </a:p>
          <a:p>
            <a:r>
              <a:rPr lang="en-US"/>
              <a:t>  replicas: 3</a:t>
            </a:r>
          </a:p>
          <a:p>
            <a:r>
              <a:rPr lang="en-US"/>
              <a:t>  selector:</a:t>
            </a:r>
          </a:p>
          <a:p>
            <a:r>
              <a:rPr lang="en-US"/>
              <a:t>    </a:t>
            </a:r>
            <a:r>
              <a:rPr lang="en-US" err="1"/>
              <a:t>matchLabels</a:t>
            </a:r>
            <a:r>
              <a:rPr lang="en-US"/>
              <a:t>:</a:t>
            </a:r>
          </a:p>
          <a:p>
            <a:r>
              <a:rPr lang="en-US"/>
              <a:t>      app: nginx</a:t>
            </a:r>
          </a:p>
          <a:p>
            <a:r>
              <a:rPr lang="en-US"/>
              <a:t>  template:</a:t>
            </a:r>
          </a:p>
          <a:p>
            <a:r>
              <a:rPr lang="en-US"/>
              <a:t>    metadata:</a:t>
            </a:r>
          </a:p>
          <a:p>
            <a:r>
              <a:rPr lang="en-US"/>
              <a:t>      labels:</a:t>
            </a:r>
          </a:p>
          <a:p>
            <a:r>
              <a:rPr lang="en-US"/>
              <a:t>        app: nginx</a:t>
            </a:r>
          </a:p>
          <a:p>
            <a:r>
              <a:rPr lang="en-US"/>
              <a:t>    spec:</a:t>
            </a:r>
          </a:p>
          <a:p>
            <a:r>
              <a:rPr lang="en-US"/>
              <a:t>      containers:</a:t>
            </a:r>
          </a:p>
          <a:p>
            <a:r>
              <a:rPr lang="en-US"/>
              <a:t>      - name: nginx</a:t>
            </a:r>
          </a:p>
          <a:p>
            <a:r>
              <a:rPr lang="en-US"/>
              <a:t>        image: nginx:1.14.2</a:t>
            </a:r>
          </a:p>
          <a:p>
            <a:r>
              <a:rPr lang="en-US"/>
              <a:t>        ports:</a:t>
            </a:r>
          </a:p>
          <a:p>
            <a:r>
              <a:rPr lang="en-US"/>
              <a:t>        - </a:t>
            </a:r>
            <a:r>
              <a:rPr lang="en-US" err="1"/>
              <a:t>containerPort</a:t>
            </a:r>
            <a:r>
              <a:rPr lang="en-US"/>
              <a:t>: 80</a:t>
            </a:r>
          </a:p>
        </p:txBody>
      </p:sp>
    </p:spTree>
    <p:extLst>
      <p:ext uri="{BB962C8B-B14F-4D97-AF65-F5344CB8AC3E}">
        <p14:creationId xmlns:p14="http://schemas.microsoft.com/office/powerpoint/2010/main" val="2372046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Services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4E7801-CAD8-667F-D206-0E178B94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7" y="1623526"/>
            <a:ext cx="6783259" cy="409030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/>
              <a:t>A Service defines how to expose a set of Pods to network traffic.</a:t>
            </a:r>
          </a:p>
          <a:p>
            <a:pPr lvl="2">
              <a:spcBef>
                <a:spcPts val="1200"/>
              </a:spcBef>
            </a:pPr>
            <a:r>
              <a:rPr lang="en-US"/>
              <a:t>Key Fields in Service Manifest:</a:t>
            </a:r>
          </a:p>
          <a:p>
            <a:pPr lvl="3">
              <a:spcBef>
                <a:spcPts val="1200"/>
              </a:spcBef>
            </a:pPr>
            <a:r>
              <a:rPr lang="en-US"/>
              <a:t>type: Defines the type of Service (e.g., </a:t>
            </a:r>
            <a:r>
              <a:rPr lang="en-US" err="1"/>
              <a:t>ClusterIP</a:t>
            </a:r>
            <a:r>
              <a:rPr lang="en-US"/>
              <a:t>, </a:t>
            </a:r>
            <a:r>
              <a:rPr lang="en-US" err="1"/>
              <a:t>NodePort</a:t>
            </a:r>
            <a:r>
              <a:rPr lang="en-US"/>
              <a:t>, </a:t>
            </a:r>
            <a:r>
              <a:rPr lang="en-US" err="1"/>
              <a:t>LoadBalancer</a:t>
            </a:r>
            <a:r>
              <a:rPr lang="en-US"/>
              <a:t>).</a:t>
            </a:r>
          </a:p>
          <a:p>
            <a:pPr lvl="3">
              <a:spcBef>
                <a:spcPts val="1200"/>
              </a:spcBef>
            </a:pPr>
            <a:r>
              <a:rPr lang="en-US"/>
              <a:t>selector: Defines how to select the Pods for this service.</a:t>
            </a:r>
          </a:p>
          <a:p>
            <a:pPr lvl="3">
              <a:spcBef>
                <a:spcPts val="1200"/>
              </a:spcBef>
            </a:pPr>
            <a:r>
              <a:rPr lang="en-US"/>
              <a:t>ports: Specifies the port mapping for the service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248" y="182698"/>
            <a:ext cx="6022994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6A36E-6791-F7DC-8D55-0C5069AEFB71}"/>
              </a:ext>
            </a:extLst>
          </p:cNvPr>
          <p:cNvSpPr txBox="1"/>
          <p:nvPr/>
        </p:nvSpPr>
        <p:spPr>
          <a:xfrm>
            <a:off x="7356477" y="1497658"/>
            <a:ext cx="44157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apiVersion</a:t>
            </a:r>
            <a:r>
              <a:rPr lang="en-US"/>
              <a:t>: v1</a:t>
            </a:r>
          </a:p>
          <a:p>
            <a:r>
              <a:rPr lang="en-US"/>
              <a:t>kind: Service</a:t>
            </a:r>
          </a:p>
          <a:p>
            <a:r>
              <a:rPr lang="en-US"/>
              <a:t>metadata:</a:t>
            </a:r>
          </a:p>
          <a:p>
            <a:r>
              <a:rPr lang="en-US"/>
              <a:t>  name: my-service</a:t>
            </a:r>
          </a:p>
          <a:p>
            <a:r>
              <a:rPr lang="en-US"/>
              <a:t>spec:</a:t>
            </a:r>
          </a:p>
          <a:p>
            <a:r>
              <a:rPr lang="en-US"/>
              <a:t>  selector:</a:t>
            </a:r>
          </a:p>
          <a:p>
            <a:r>
              <a:rPr lang="en-US"/>
              <a:t>    app: nginx</a:t>
            </a:r>
          </a:p>
          <a:p>
            <a:r>
              <a:rPr lang="en-US"/>
              <a:t>  ports:</a:t>
            </a:r>
          </a:p>
          <a:p>
            <a:r>
              <a:rPr lang="en-US"/>
              <a:t>    - protocol: TCP</a:t>
            </a:r>
          </a:p>
          <a:p>
            <a:r>
              <a:rPr lang="en-US"/>
              <a:t>      port: 80</a:t>
            </a:r>
          </a:p>
          <a:p>
            <a:r>
              <a:rPr lang="en-US"/>
              <a:t>      </a:t>
            </a:r>
            <a:r>
              <a:rPr lang="en-US" err="1"/>
              <a:t>targetPort</a:t>
            </a:r>
            <a:r>
              <a:rPr lang="en-US"/>
              <a:t>: 80</a:t>
            </a:r>
          </a:p>
        </p:txBody>
      </p:sp>
    </p:spTree>
    <p:extLst>
      <p:ext uri="{BB962C8B-B14F-4D97-AF65-F5344CB8AC3E}">
        <p14:creationId xmlns:p14="http://schemas.microsoft.com/office/powerpoint/2010/main" val="1429628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ConfigMaps &amp; Secrets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4E7801-CAD8-667F-D206-0E178B94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7" y="1623526"/>
            <a:ext cx="5629373" cy="4090307"/>
          </a:xfrm>
        </p:spPr>
        <p:txBody>
          <a:bodyPr>
            <a:normAutofit/>
          </a:bodyPr>
          <a:lstStyle/>
          <a:p>
            <a:r>
              <a:rPr lang="en-US" b="1"/>
              <a:t>ConfigMaps</a:t>
            </a:r>
            <a:r>
              <a:rPr lang="en-US"/>
              <a:t> store configuration data as key-value pairs.</a:t>
            </a:r>
          </a:p>
          <a:p>
            <a:pPr lvl="1"/>
            <a:r>
              <a:rPr lang="en-US"/>
              <a:t>Key Fields in </a:t>
            </a:r>
            <a:r>
              <a:rPr lang="en-US" err="1"/>
              <a:t>ConfigMap</a:t>
            </a:r>
            <a:r>
              <a:rPr lang="en-US"/>
              <a:t> </a:t>
            </a:r>
          </a:p>
          <a:p>
            <a:pPr lvl="2"/>
            <a:r>
              <a:rPr lang="en-US"/>
              <a:t>Manifest: data: Holds the configuration data as key-value pairs.</a:t>
            </a:r>
          </a:p>
          <a:p>
            <a:pPr marL="171450" lvl="1" indent="0">
              <a:buNone/>
            </a:pPr>
            <a:endParaRPr lang="en-US"/>
          </a:p>
          <a:p>
            <a:r>
              <a:rPr lang="en-US" b="1"/>
              <a:t>Secrets</a:t>
            </a:r>
            <a:r>
              <a:rPr lang="en-US"/>
              <a:t> store sensitive data such as passwords, tokens, or keys.</a:t>
            </a:r>
          </a:p>
          <a:p>
            <a:pPr lvl="1"/>
            <a:r>
              <a:rPr lang="en-US"/>
              <a:t>Key Fields in Secrets </a:t>
            </a:r>
          </a:p>
          <a:p>
            <a:pPr lvl="2"/>
            <a:r>
              <a:rPr lang="en-US"/>
              <a:t>Manifest: data: Stores sensitive data in base64-encoded form.</a:t>
            </a:r>
          </a:p>
          <a:p>
            <a:pPr marL="171450" lvl="1" indent="0">
              <a:buNone/>
            </a:pPr>
            <a:endParaRPr lang="en-US"/>
          </a:p>
          <a:p>
            <a:pPr lvl="1"/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248" y="182698"/>
            <a:ext cx="6022994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4D39D-E27C-D51E-B1C7-0D4EFFD75DA6}"/>
              </a:ext>
            </a:extLst>
          </p:cNvPr>
          <p:cNvSpPr txBox="1"/>
          <p:nvPr/>
        </p:nvSpPr>
        <p:spPr>
          <a:xfrm>
            <a:off x="7126256" y="1035993"/>
            <a:ext cx="27921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apiVersion</a:t>
            </a:r>
            <a:r>
              <a:rPr lang="en-US"/>
              <a:t>: v1</a:t>
            </a:r>
          </a:p>
          <a:p>
            <a:r>
              <a:rPr lang="en-US"/>
              <a:t>kind: </a:t>
            </a:r>
            <a:r>
              <a:rPr lang="en-US" err="1"/>
              <a:t>ConfigMap</a:t>
            </a:r>
            <a:endParaRPr lang="en-US"/>
          </a:p>
          <a:p>
            <a:r>
              <a:rPr lang="en-US"/>
              <a:t>metadata:</a:t>
            </a:r>
          </a:p>
          <a:p>
            <a:r>
              <a:rPr lang="en-US"/>
              <a:t>  name: my-config</a:t>
            </a:r>
          </a:p>
          <a:p>
            <a:r>
              <a:rPr lang="en-US"/>
              <a:t>data:</a:t>
            </a:r>
          </a:p>
          <a:p>
            <a:r>
              <a:rPr lang="en-US"/>
              <a:t>  </a:t>
            </a:r>
            <a:r>
              <a:rPr lang="en-US" err="1"/>
              <a:t>database_url</a:t>
            </a:r>
            <a:r>
              <a:rPr lang="en-US"/>
              <a:t>: localhost</a:t>
            </a:r>
          </a:p>
          <a:p>
            <a:r>
              <a:rPr lang="en-US"/>
              <a:t>  </a:t>
            </a:r>
            <a:r>
              <a:rPr lang="en-US" err="1"/>
              <a:t>api_key</a:t>
            </a:r>
            <a:r>
              <a:rPr lang="en-US"/>
              <a:t>: abc123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DEACE-F418-1288-AF6A-33D7F13D8280}"/>
              </a:ext>
            </a:extLst>
          </p:cNvPr>
          <p:cNvSpPr txBox="1"/>
          <p:nvPr/>
        </p:nvSpPr>
        <p:spPr>
          <a:xfrm>
            <a:off x="7126256" y="3429000"/>
            <a:ext cx="31280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apiVersion</a:t>
            </a:r>
            <a:r>
              <a:rPr lang="en-US"/>
              <a:t>: v1</a:t>
            </a:r>
          </a:p>
          <a:p>
            <a:r>
              <a:rPr lang="en-US"/>
              <a:t>kind: Secret</a:t>
            </a:r>
          </a:p>
          <a:p>
            <a:r>
              <a:rPr lang="en-US"/>
              <a:t>metadata:</a:t>
            </a:r>
          </a:p>
          <a:p>
            <a:r>
              <a:rPr lang="en-US"/>
              <a:t>  name: my-secret</a:t>
            </a:r>
          </a:p>
          <a:p>
            <a:r>
              <a:rPr lang="en-US"/>
              <a:t>data:</a:t>
            </a:r>
          </a:p>
          <a:p>
            <a:r>
              <a:rPr lang="en-US"/>
              <a:t>  password: cGFzc3dvcmQ=</a:t>
            </a:r>
          </a:p>
        </p:txBody>
      </p:sp>
    </p:spTree>
    <p:extLst>
      <p:ext uri="{BB962C8B-B14F-4D97-AF65-F5344CB8AC3E}">
        <p14:creationId xmlns:p14="http://schemas.microsoft.com/office/powerpoint/2010/main" val="4060417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Blue/Green Deployment &amp; Rolling Deployment Strategy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4E7801-CAD8-667F-D206-0E178B94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7" y="1623526"/>
            <a:ext cx="9815707" cy="4090307"/>
          </a:xfrm>
        </p:spPr>
        <p:txBody>
          <a:bodyPr>
            <a:normAutofit/>
          </a:bodyPr>
          <a:lstStyle/>
          <a:p>
            <a:r>
              <a:rPr lang="en-US" b="1"/>
              <a:t>What is Blue/Green Deployment?</a:t>
            </a:r>
          </a:p>
          <a:p>
            <a:pPr lvl="1"/>
            <a:r>
              <a:rPr lang="en-US" sz="1400"/>
              <a:t>Blue/Green Deployment is a deployment strategy where two identical environments, Blue (old) and Green (new), are used.</a:t>
            </a:r>
          </a:p>
          <a:p>
            <a:pPr lvl="1"/>
            <a:r>
              <a:rPr lang="en-US" sz="1400"/>
              <a:t>- Traffic is switched between these environments.</a:t>
            </a:r>
          </a:p>
          <a:p>
            <a:pPr lvl="1"/>
            <a:r>
              <a:rPr lang="en-US" sz="1400"/>
              <a:t>- Green environment is tested before switching all traffic from Blue to Green.</a:t>
            </a:r>
          </a:p>
          <a:p>
            <a:pPr lvl="1"/>
            <a:r>
              <a:rPr lang="en-US" sz="1400"/>
              <a:t>- If issues arise, rollback to Blue is easy.</a:t>
            </a:r>
          </a:p>
          <a:p>
            <a:endParaRPr lang="en-US" sz="1600"/>
          </a:p>
          <a:p>
            <a:r>
              <a:rPr lang="en-US" b="1"/>
              <a:t>What is Rolling Deployment?</a:t>
            </a:r>
          </a:p>
          <a:p>
            <a:pPr lvl="1"/>
            <a:r>
              <a:rPr lang="en-US" sz="1400"/>
              <a:t>A Rolling Deployment is a strategy that updates one instance of the application at a time until the entire environment is updated.</a:t>
            </a:r>
          </a:p>
          <a:p>
            <a:pPr lvl="1"/>
            <a:r>
              <a:rPr lang="en-US" sz="1400"/>
              <a:t>- Reduces downtime since the application is always available during the deployment.</a:t>
            </a:r>
          </a:p>
          <a:p>
            <a:pPr lvl="1"/>
            <a:r>
              <a:rPr lang="en-US" sz="1400"/>
              <a:t>- Slower deployment compared to Blue/Green, but less resource-intensive.</a:t>
            </a:r>
          </a:p>
          <a:p>
            <a:pPr lvl="1"/>
            <a:r>
              <a:rPr lang="en-US" sz="1400"/>
              <a:t>- Can easily roll back to the previous version if an issue is detected.</a:t>
            </a:r>
          </a:p>
          <a:p>
            <a:pPr>
              <a:spcBef>
                <a:spcPts val="1200"/>
              </a:spcBef>
            </a:pPr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248" y="182698"/>
            <a:ext cx="6022994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</p:spTree>
    <p:extLst>
      <p:ext uri="{BB962C8B-B14F-4D97-AF65-F5344CB8AC3E}">
        <p14:creationId xmlns:p14="http://schemas.microsoft.com/office/powerpoint/2010/main" val="776224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Blue/Green Deployment </a:t>
            </a:r>
            <a:endParaRPr lang="en-US" b="1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248" y="182698"/>
            <a:ext cx="6022994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pic>
        <p:nvPicPr>
          <p:cNvPr id="9218" name="Picture 2" descr="Using AWS Load Balancer Controller for blue/green deployment, canary  deployment and A/B testing | Containers">
            <a:extLst>
              <a:ext uri="{FF2B5EF4-FFF2-40B4-BE49-F238E27FC236}">
                <a16:creationId xmlns:a16="http://schemas.microsoft.com/office/drawing/2014/main" id="{AC152F81-12B1-6CD7-AC6B-01F47D859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14" y="1257199"/>
            <a:ext cx="7439025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458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6E35-9334-E170-F1BF-F6963C94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A1F96-746D-E4CC-BC05-5BA891533E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sz="1600"/>
              <a:t>AI/ML Training 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A3AC54-12D1-BA9F-995F-D82DE3BC0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789555" cy="480408"/>
          </a:xfrm>
        </p:spPr>
        <p:txBody>
          <a:bodyPr>
            <a:normAutofit/>
          </a:bodyPr>
          <a:lstStyle/>
          <a:p>
            <a:r>
              <a:rPr lang="en-US"/>
              <a:t>Assignment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19483-406B-965A-9B78-3C15D74A8A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0809" y="79644"/>
            <a:ext cx="6024563" cy="193899"/>
          </a:xfrm>
        </p:spPr>
        <p:txBody>
          <a:bodyPr>
            <a:noAutofit/>
          </a:bodyPr>
          <a:lstStyle/>
          <a:p>
            <a:r>
              <a:rPr lang="en-US" sz="1600"/>
              <a:t>Boeing Artificial Intelligence</a:t>
            </a:r>
          </a:p>
          <a:p>
            <a:endParaRPr lang="en-US" sz="16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D01D47-086A-0467-D9BA-EDF5F0ECC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32908"/>
            <a:ext cx="10980835" cy="3298118"/>
          </a:xfrm>
        </p:spPr>
        <p:txBody>
          <a:bodyPr>
            <a:normAutofit/>
          </a:bodyPr>
          <a:lstStyle/>
          <a:p>
            <a:r>
              <a:rPr lang="en-US"/>
              <a:t>Deploy Neural Network Model on any Deployment Platform to predict the admission .</a:t>
            </a:r>
          </a:p>
          <a:p>
            <a:endParaRPr lang="en-US"/>
          </a:p>
          <a:p>
            <a:pPr lvl="2"/>
            <a:r>
              <a:rPr lang="en-US"/>
              <a:t>Create a </a:t>
            </a:r>
            <a:r>
              <a:rPr lang="en-US" err="1"/>
              <a:t>Dockerfile</a:t>
            </a:r>
            <a:r>
              <a:rPr lang="en-US"/>
              <a:t> </a:t>
            </a:r>
          </a:p>
          <a:p>
            <a:pPr lvl="2"/>
            <a:r>
              <a:rPr lang="en-US"/>
              <a:t>Build &amp; Push to any container registry</a:t>
            </a:r>
          </a:p>
          <a:p>
            <a:pPr lvl="2"/>
            <a:r>
              <a:rPr lang="en-US"/>
              <a:t>Create Helm App</a:t>
            </a:r>
          </a:p>
          <a:p>
            <a:pPr lvl="2"/>
            <a:r>
              <a:rPr lang="en-US"/>
              <a:t>Deploy the App using Deployment object</a:t>
            </a:r>
          </a:p>
          <a:p>
            <a:pPr lvl="2"/>
            <a:r>
              <a:rPr lang="en-US"/>
              <a:t>Add HPA based on Memory Utilization</a:t>
            </a:r>
          </a:p>
        </p:txBody>
      </p:sp>
    </p:spTree>
    <p:extLst>
      <p:ext uri="{BB962C8B-B14F-4D97-AF65-F5344CB8AC3E}">
        <p14:creationId xmlns:p14="http://schemas.microsoft.com/office/powerpoint/2010/main" val="2636244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248" y="182698"/>
            <a:ext cx="6022994" cy="215444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3B9ECE-4AE8-2069-DAAF-6727FDCD1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358" y="2649894"/>
            <a:ext cx="6059762" cy="32748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537968-C78E-8F9E-4CE1-08C741E5B60A}"/>
              </a:ext>
            </a:extLst>
          </p:cNvPr>
          <p:cNvSpPr txBox="1"/>
          <p:nvPr/>
        </p:nvSpPr>
        <p:spPr>
          <a:xfrm>
            <a:off x="1390261" y="1141740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Ref docs for practicing ML Models deployment on AWS SageMaker: https://huggingface.co/docs/sagemaker/en/inference</a:t>
            </a:r>
          </a:p>
        </p:txBody>
      </p:sp>
    </p:spTree>
    <p:extLst>
      <p:ext uri="{BB962C8B-B14F-4D97-AF65-F5344CB8AC3E}">
        <p14:creationId xmlns:p14="http://schemas.microsoft.com/office/powerpoint/2010/main" val="3177875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2"/>
          <p:cNvSpPr txBox="1"/>
          <p:nvPr/>
        </p:nvSpPr>
        <p:spPr>
          <a:xfrm>
            <a:off x="295275" y="248036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595" name="Google Shape;595;p42"/>
          <p:cNvSpPr txBox="1"/>
          <p:nvPr/>
        </p:nvSpPr>
        <p:spPr>
          <a:xfrm>
            <a:off x="571500" y="383291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3"/>
          <p:cNvSpPr/>
          <p:nvPr/>
        </p:nvSpPr>
        <p:spPr>
          <a:xfrm>
            <a:off x="571500" y="20338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3"/>
          <p:cNvSpPr/>
          <p:nvPr/>
        </p:nvSpPr>
        <p:spPr>
          <a:xfrm>
            <a:off x="571500" y="30167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3"/>
          <p:cNvSpPr/>
          <p:nvPr/>
        </p:nvSpPr>
        <p:spPr>
          <a:xfrm>
            <a:off x="571500" y="38015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3"/>
          <p:cNvSpPr/>
          <p:nvPr/>
        </p:nvSpPr>
        <p:spPr>
          <a:xfrm>
            <a:off x="571500" y="47843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3"/>
          <p:cNvSpPr/>
          <p:nvPr/>
        </p:nvSpPr>
        <p:spPr>
          <a:xfrm>
            <a:off x="571500" y="57672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6" name="Google Shape;606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08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1666875" y="140151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https://preview.redd.it/nxxps4mgw8j11.jpg?auto=webp&amp;s=f1736db962e5218dcc65ad84a20cba612e125be5</a:t>
            </a:r>
            <a:endParaRPr/>
          </a:p>
        </p:txBody>
      </p:sp>
      <p:sp>
        <p:nvSpPr>
          <p:cNvPr id="608" name="Google Shape;608;p43"/>
          <p:cNvSpPr txBox="1"/>
          <p:nvPr/>
        </p:nvSpPr>
        <p:spPr>
          <a:xfrm>
            <a:off x="1666875" y="164722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www.reddit.com</a:t>
            </a:r>
            <a:endParaRPr/>
          </a:p>
        </p:txBody>
      </p:sp>
      <p:pic>
        <p:nvPicPr>
          <p:cNvPr id="609" name="Google Shape;609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19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3"/>
          <p:cNvSpPr txBox="1"/>
          <p:nvPr/>
        </p:nvSpPr>
        <p:spPr>
          <a:xfrm>
            <a:off x="1666875" y="218628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https://static.vecteezy.com/system/resources/thumbnails/065/014/287/small/data-storage-server-database-stack-with-blue-indicator-lights-in-simple-isometric-style-illustration-vector.jpg</a:t>
            </a:r>
            <a:endParaRPr/>
          </a:p>
        </p:txBody>
      </p:sp>
      <p:sp>
        <p:nvSpPr>
          <p:cNvPr id="611" name="Google Shape;611;p43"/>
          <p:cNvSpPr txBox="1"/>
          <p:nvPr/>
        </p:nvSpPr>
        <p:spPr>
          <a:xfrm>
            <a:off x="1666875" y="26300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612" name="Google Shape;612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756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3"/>
          <p:cNvSpPr txBox="1"/>
          <p:nvPr/>
        </p:nvSpPr>
        <p:spPr>
          <a:xfrm>
            <a:off x="1666875" y="316914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https://media.geeksforgeeks.org/wp-content/uploads/20250823130235313168/virtual_machines.webp</a:t>
            </a:r>
            <a:endParaRPr/>
          </a:p>
        </p:txBody>
      </p:sp>
      <p:sp>
        <p:nvSpPr>
          <p:cNvPr id="614" name="Google Shape;614;p43"/>
          <p:cNvSpPr txBox="1"/>
          <p:nvPr/>
        </p:nvSpPr>
        <p:spPr>
          <a:xfrm>
            <a:off x="1666875" y="341486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id="615" name="Google Shape;615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595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3"/>
          <p:cNvSpPr txBox="1"/>
          <p:nvPr/>
        </p:nvSpPr>
        <p:spPr>
          <a:xfrm>
            <a:off x="1666875" y="395391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https://static.vecteezy.com/system/resources/previews/069/333/114/non_2x/slow-snail-speed-icon-acceleration-or-jerk-slug-flat-symbol-on-white-background-illustration-vector.jpg</a:t>
            </a:r>
            <a:endParaRPr/>
          </a:p>
        </p:txBody>
      </p:sp>
      <p:sp>
        <p:nvSpPr>
          <p:cNvPr id="617" name="Google Shape;617;p43"/>
          <p:cNvSpPr txBox="1"/>
          <p:nvPr/>
        </p:nvSpPr>
        <p:spPr>
          <a:xfrm>
            <a:off x="1666875" y="439772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618" name="Google Shape;618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424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3"/>
          <p:cNvSpPr txBox="1"/>
          <p:nvPr/>
        </p:nvSpPr>
        <p:spPr>
          <a:xfrm>
            <a:off x="1666875" y="493677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https://media2.dev.to/dynamic/image/width=1600,height=900,fit=cover,gravity=auto,format=auto/https%3A%2F%2Fdev-to-uploads.s3.amazonaws.com%2Fuploads%2Farticles%2Ft10gi93stsg40dtsnz6s.jpg</a:t>
            </a:r>
            <a:endParaRPr/>
          </a:p>
        </p:txBody>
      </p:sp>
      <p:sp>
        <p:nvSpPr>
          <p:cNvPr id="620" name="Google Shape;620;p43"/>
          <p:cNvSpPr txBox="1"/>
          <p:nvPr/>
        </p:nvSpPr>
        <p:spPr>
          <a:xfrm>
            <a:off x="1666875" y="53805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dev.to</a:t>
            </a:r>
            <a:endParaRPr/>
          </a:p>
        </p:txBody>
      </p:sp>
      <p:pic>
        <p:nvPicPr>
          <p:cNvPr id="621" name="Google Shape;621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9261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3"/>
          <p:cNvSpPr txBox="1"/>
          <p:nvPr/>
        </p:nvSpPr>
        <p:spPr>
          <a:xfrm>
            <a:off x="1666875" y="591963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https://miro.medium.com/v2/resize:fit:1400/1*mq2QpIZUnfmnDPn47spI4A.jpeg</a:t>
            </a:r>
            <a:endParaRPr/>
          </a:p>
        </p:txBody>
      </p:sp>
      <p:sp>
        <p:nvSpPr>
          <p:cNvPr id="623" name="Google Shape;623;p43"/>
          <p:cNvSpPr txBox="1"/>
          <p:nvPr/>
        </p:nvSpPr>
        <p:spPr>
          <a:xfrm>
            <a:off x="1666875" y="616535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blog.devops.dev</a:t>
            </a:r>
            <a:endParaRPr/>
          </a:p>
        </p:txBody>
      </p:sp>
      <p:sp>
        <p:nvSpPr>
          <p:cNvPr id="624" name="Google Shape;624;p43"/>
          <p:cNvSpPr txBox="1"/>
          <p:nvPr/>
        </p:nvSpPr>
        <p:spPr>
          <a:xfrm>
            <a:off x="571500" y="306139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4"/>
          <p:cNvSpPr/>
          <p:nvPr/>
        </p:nvSpPr>
        <p:spPr>
          <a:xfrm>
            <a:off x="1014412" y="2330946"/>
            <a:ext cx="10163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4"/>
          <p:cNvSpPr/>
          <p:nvPr/>
        </p:nvSpPr>
        <p:spPr>
          <a:xfrm>
            <a:off x="1014412" y="3115716"/>
            <a:ext cx="10163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4"/>
          <p:cNvSpPr/>
          <p:nvPr/>
        </p:nvSpPr>
        <p:spPr>
          <a:xfrm>
            <a:off x="1014412" y="3900487"/>
            <a:ext cx="10163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4"/>
          <p:cNvSpPr/>
          <p:nvPr/>
        </p:nvSpPr>
        <p:spPr>
          <a:xfrm>
            <a:off x="1014412" y="4685258"/>
            <a:ext cx="10163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4"/>
          <p:cNvSpPr/>
          <p:nvPr/>
        </p:nvSpPr>
        <p:spPr>
          <a:xfrm>
            <a:off x="1014412" y="5470028"/>
            <a:ext cx="10163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5" name="Google Shape;635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412" y="17051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4"/>
          <p:cNvSpPr txBox="1"/>
          <p:nvPr/>
        </p:nvSpPr>
        <p:spPr>
          <a:xfrm>
            <a:off x="2109787" y="1698575"/>
            <a:ext cx="9067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https://miro.medium.com/1*GoZ56yZNpG_VnGGvqhYlCQ.png</a:t>
            </a:r>
            <a:endParaRPr/>
          </a:p>
        </p:txBody>
      </p:sp>
      <p:sp>
        <p:nvSpPr>
          <p:cNvPr id="637" name="Google Shape;637;p44"/>
          <p:cNvSpPr txBox="1"/>
          <p:nvPr/>
        </p:nvSpPr>
        <p:spPr>
          <a:xfrm>
            <a:off x="2109787" y="1944290"/>
            <a:ext cx="9067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638" name="Google Shape;638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412" y="24898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4"/>
          <p:cNvSpPr txBox="1"/>
          <p:nvPr/>
        </p:nvSpPr>
        <p:spPr>
          <a:xfrm>
            <a:off x="2109787" y="2483346"/>
            <a:ext cx="9067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https://upload.wikimedia.org/wikipedia/commons/thumb/0/0e/Toicon-icon-blueprint-explain.svg/1200px-Toicon-icon-blueprint-explain.svg.png</a:t>
            </a:r>
            <a:endParaRPr/>
          </a:p>
        </p:txBody>
      </p:sp>
      <p:sp>
        <p:nvSpPr>
          <p:cNvPr id="640" name="Google Shape;640;p44"/>
          <p:cNvSpPr txBox="1"/>
          <p:nvPr/>
        </p:nvSpPr>
        <p:spPr>
          <a:xfrm>
            <a:off x="2109787" y="2729061"/>
            <a:ext cx="9067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commons.wikimedia.org</a:t>
            </a:r>
            <a:endParaRPr/>
          </a:p>
        </p:txBody>
      </p:sp>
      <p:pic>
        <p:nvPicPr>
          <p:cNvPr id="641" name="Google Shape;641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4412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44"/>
          <p:cNvSpPr txBox="1"/>
          <p:nvPr/>
        </p:nvSpPr>
        <p:spPr>
          <a:xfrm>
            <a:off x="2109787" y="3268116"/>
            <a:ext cx="9067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https://earthly.dev/blog/assets/images/docker-image-storage-on-host/layer.png</a:t>
            </a:r>
            <a:endParaRPr/>
          </a:p>
        </p:txBody>
      </p:sp>
      <p:sp>
        <p:nvSpPr>
          <p:cNvPr id="643" name="Google Shape;643;p44"/>
          <p:cNvSpPr txBox="1"/>
          <p:nvPr/>
        </p:nvSpPr>
        <p:spPr>
          <a:xfrm>
            <a:off x="2109787" y="3513832"/>
            <a:ext cx="9067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earthly.dev</a:t>
            </a:r>
            <a:endParaRPr/>
          </a:p>
        </p:txBody>
      </p:sp>
      <p:pic>
        <p:nvPicPr>
          <p:cNvPr id="644" name="Google Shape;644;p4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4412" y="40594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4"/>
          <p:cNvSpPr txBox="1"/>
          <p:nvPr/>
        </p:nvSpPr>
        <p:spPr>
          <a:xfrm>
            <a:off x="2109786" y="4052886"/>
            <a:ext cx="9611813" cy="243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https://static.vecteezy.com/system/resources/thumbnails/019/015/401/small_2x/shipping-containers-colored-icons-set-intermodal-freight-container-signs-vector.jpg</a:t>
            </a:r>
            <a:endParaRPr/>
          </a:p>
        </p:txBody>
      </p:sp>
      <p:sp>
        <p:nvSpPr>
          <p:cNvPr id="646" name="Google Shape;646;p44"/>
          <p:cNvSpPr txBox="1"/>
          <p:nvPr/>
        </p:nvSpPr>
        <p:spPr>
          <a:xfrm>
            <a:off x="2109787" y="4298602"/>
            <a:ext cx="9067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647" name="Google Shape;647;p4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4412" y="48442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4"/>
          <p:cNvSpPr txBox="1"/>
          <p:nvPr/>
        </p:nvSpPr>
        <p:spPr>
          <a:xfrm>
            <a:off x="2109787" y="4837658"/>
            <a:ext cx="9067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https://miro.medium.com/1*uuZ-h5EH76LOtJ614z-qDA.png</a:t>
            </a:r>
            <a:endParaRPr/>
          </a:p>
        </p:txBody>
      </p:sp>
      <p:sp>
        <p:nvSpPr>
          <p:cNvPr id="649" name="Google Shape;649;p44"/>
          <p:cNvSpPr txBox="1"/>
          <p:nvPr/>
        </p:nvSpPr>
        <p:spPr>
          <a:xfrm>
            <a:off x="2109787" y="5083373"/>
            <a:ext cx="9067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650" name="Google Shape;650;p4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4412" y="56289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4"/>
          <p:cNvSpPr txBox="1"/>
          <p:nvPr/>
        </p:nvSpPr>
        <p:spPr>
          <a:xfrm>
            <a:off x="2109787" y="5622428"/>
            <a:ext cx="9067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https://i.ytimg.com/vi/dQlk7uIjhEc/maxresdefault.jpg</a:t>
            </a:r>
            <a:endParaRPr/>
          </a:p>
        </p:txBody>
      </p:sp>
      <p:sp>
        <p:nvSpPr>
          <p:cNvPr id="652" name="Google Shape;652;p44"/>
          <p:cNvSpPr txBox="1"/>
          <p:nvPr/>
        </p:nvSpPr>
        <p:spPr>
          <a:xfrm>
            <a:off x="2109787" y="5868144"/>
            <a:ext cx="9067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www.youtube.com</a:t>
            </a:r>
            <a:endParaRPr/>
          </a:p>
        </p:txBody>
      </p:sp>
      <p:sp>
        <p:nvSpPr>
          <p:cNvPr id="653" name="Google Shape;653;p4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5"/>
          <p:cNvSpPr/>
          <p:nvPr/>
        </p:nvSpPr>
        <p:spPr>
          <a:xfrm>
            <a:off x="571500" y="30165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5"/>
          <p:cNvSpPr/>
          <p:nvPr/>
        </p:nvSpPr>
        <p:spPr>
          <a:xfrm>
            <a:off x="571500" y="38013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5"/>
          <p:cNvSpPr/>
          <p:nvPr/>
        </p:nvSpPr>
        <p:spPr>
          <a:xfrm>
            <a:off x="571500" y="45861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2" name="Google Shape;662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0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5"/>
          <p:cNvSpPr txBox="1"/>
          <p:nvPr/>
        </p:nvSpPr>
        <p:spPr>
          <a:xfrm>
            <a:off x="1666875" y="238422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https://miro.medium.com/v2/resize:fit:1200/1*aSdnOJNT2UoiaAhy-vuV_Q.png</a:t>
            </a:r>
            <a:endParaRPr/>
          </a:p>
        </p:txBody>
      </p:sp>
      <p:sp>
        <p:nvSpPr>
          <p:cNvPr id="664" name="Google Shape;664;p45"/>
          <p:cNvSpPr txBox="1"/>
          <p:nvPr/>
        </p:nvSpPr>
        <p:spPr>
          <a:xfrm>
            <a:off x="1666875" y="26299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icepanel.medium.com</a:t>
            </a:r>
            <a:endParaRPr/>
          </a:p>
        </p:txBody>
      </p:sp>
      <p:pic>
        <p:nvPicPr>
          <p:cNvPr id="665" name="Google Shape;665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755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45"/>
          <p:cNvSpPr txBox="1"/>
          <p:nvPr/>
        </p:nvSpPr>
        <p:spPr>
          <a:xfrm>
            <a:off x="1666875" y="316899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https://miro.medium.com/v2/resize:fit:1015/1*rlPRYAfJ_aFOfoj52U7y2A.png</a:t>
            </a:r>
            <a:endParaRPr/>
          </a:p>
        </p:txBody>
      </p:sp>
      <p:sp>
        <p:nvSpPr>
          <p:cNvPr id="667" name="Google Shape;667;p45"/>
          <p:cNvSpPr txBox="1"/>
          <p:nvPr/>
        </p:nvSpPr>
        <p:spPr>
          <a:xfrm>
            <a:off x="1666875" y="34147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668" name="Google Shape;668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03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45"/>
          <p:cNvSpPr txBox="1"/>
          <p:nvPr/>
        </p:nvSpPr>
        <p:spPr>
          <a:xfrm>
            <a:off x="1666875" y="395376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https://files.realpython.com/media/page_tracker_architecture.drawio_2.1c8cf20462ae.png</a:t>
            </a:r>
            <a:endParaRPr/>
          </a:p>
        </p:txBody>
      </p:sp>
      <p:sp>
        <p:nvSpPr>
          <p:cNvPr id="670" name="Google Shape;670;p45"/>
          <p:cNvSpPr txBox="1"/>
          <p:nvPr/>
        </p:nvSpPr>
        <p:spPr>
          <a:xfrm>
            <a:off x="1666875" y="41994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realpython.com</a:t>
            </a:r>
            <a:endParaRPr/>
          </a:p>
        </p:txBody>
      </p:sp>
      <p:pic>
        <p:nvPicPr>
          <p:cNvPr id="671" name="Google Shape;671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442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45"/>
          <p:cNvSpPr txBox="1"/>
          <p:nvPr/>
        </p:nvSpPr>
        <p:spPr>
          <a:xfrm>
            <a:off x="1666875" y="473853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https://media.istockphoto.com/id/1474410944/photo/large-container-ship-in-harbour-on-a-clear-summer-day.jpg?s=612x612&amp;w=is&amp;k=20&amp;c=nAShs46jSHXqpyhXUeBm50Yh_OgGyK8A6_-xVu7eocU=</a:t>
            </a:r>
            <a:endParaRPr/>
          </a:p>
        </p:txBody>
      </p:sp>
      <p:sp>
        <p:nvSpPr>
          <p:cNvPr id="673" name="Google Shape;673;p45"/>
          <p:cNvSpPr txBox="1"/>
          <p:nvPr/>
        </p:nvSpPr>
        <p:spPr>
          <a:xfrm>
            <a:off x="1666875" y="51823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sp>
        <p:nvSpPr>
          <p:cNvPr id="674" name="Google Shape;674;p4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11" ma:contentTypeDescription="Create a new document." ma:contentTypeScope="" ma:versionID="628daf79fe439131bc11f58f7c54e126">
  <xsd:schema xmlns:xsd="http://www.w3.org/2001/XMLSchema" xmlns:xs="http://www.w3.org/2001/XMLSchema" xmlns:p="http://schemas.microsoft.com/office/2006/metadata/properties" xmlns:ns2="fe15599f-644d-4048-90f0-ecdf2cf8f215" xmlns:ns3="d0634efc-c633-4c99-a920-528e3e34c5fa" targetNamespace="http://schemas.microsoft.com/office/2006/metadata/properties" ma:root="true" ma:fieldsID="07386df6e16df2e08ce032f9afea8cba" ns2:_="" ns3:_="">
    <xsd:import namespace="fe15599f-644d-4048-90f0-ecdf2cf8f215"/>
    <xsd:import namespace="d0634efc-c633-4c99-a920-528e3e34c5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69de23d-3fb2-4419-b1d3-a00954dfaf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34efc-c633-4c99-a920-528e3e34c5f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af0447-229a-4dec-8a6d-8f189a35c4c8}" ma:internalName="TaxCatchAll" ma:showField="CatchAllData" ma:web="d0634efc-c633-4c99-a920-528e3e34c5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e15599f-644d-4048-90f0-ecdf2cf8f215">
      <Terms xmlns="http://schemas.microsoft.com/office/infopath/2007/PartnerControls"/>
    </lcf76f155ced4ddcb4097134ff3c332f>
    <TaxCatchAll xmlns="d0634efc-c633-4c99-a920-528e3e34c5fa" xsi:nil="true"/>
  </documentManagement>
</p:properties>
</file>

<file path=customXml/itemProps1.xml><?xml version="1.0" encoding="utf-8"?>
<ds:datastoreItem xmlns:ds="http://schemas.openxmlformats.org/officeDocument/2006/customXml" ds:itemID="{CDB95DCC-90BF-4CD0-8C2C-27F4E319B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674099-51BC-408C-B64E-80DC468FAE89}"/>
</file>

<file path=customXml/itemProps3.xml><?xml version="1.0" encoding="utf-8"?>
<ds:datastoreItem xmlns:ds="http://schemas.openxmlformats.org/officeDocument/2006/customXml" ds:itemID="{625B771D-BEBE-4673-ADBD-F836C9536C6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63</Slides>
  <Notes>48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Office Theme</vt:lpstr>
      <vt:lpstr>Boeing Cloud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What You'll Deploy in the Next 1 Hours </vt:lpstr>
      <vt:lpstr>Kubernetes Architecture</vt:lpstr>
      <vt:lpstr>OpenShift Architecture</vt:lpstr>
      <vt:lpstr>Introduction to Kubernetes Manifests</vt:lpstr>
      <vt:lpstr>Demo Objects</vt:lpstr>
      <vt:lpstr>Pods</vt:lpstr>
      <vt:lpstr>Deployments</vt:lpstr>
      <vt:lpstr>Services</vt:lpstr>
      <vt:lpstr>ConfigMaps &amp; Secrets</vt:lpstr>
      <vt:lpstr>Blue/Green Deployment &amp; Rolling Deployment Strategy</vt:lpstr>
      <vt:lpstr>Blue/Green Deployment </vt:lpstr>
      <vt:lpstr>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Sarkar, Anirban</dc:creator>
  <cp:revision>1</cp:revision>
  <dcterms:modified xsi:type="dcterms:W3CDTF">2025-11-21T07:01:58Z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</Properties>
</file>