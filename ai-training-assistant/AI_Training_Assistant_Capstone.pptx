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2"/>
  </p:notesMasterIdLst>
  <p:sldIdLst>
    <p:sldId id="256" r:id="rId2"/>
    <p:sldId id="714" r:id="rId3"/>
    <p:sldId id="674" r:id="rId4"/>
    <p:sldId id="715" r:id="rId5"/>
    <p:sldId id="716" r:id="rId6"/>
    <p:sldId id="676" r:id="rId7"/>
    <p:sldId id="717" r:id="rId8"/>
    <p:sldId id="718" r:id="rId9"/>
    <p:sldId id="711" r:id="rId10"/>
    <p:sldId id="30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p:scale>
          <a:sx n="102" d="100"/>
          <a:sy n="102" d="100"/>
        </p:scale>
        <p:origin x="-365" y="10"/>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23-08-2026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1981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4000" b="1" dirty="0"/>
              <a:t>AI Training Assistant</a:t>
            </a:r>
          </a:p>
          <a:p>
            <a:pPr lvl="7"/>
            <a:r>
              <a:rPr sz="2000" dirty="0"/>
              <a:t>RAG-Powered Onboarding Chatbot for Tech Nova Solutions</a:t>
            </a:r>
          </a:p>
          <a:p>
            <a:pPr lvl="7"/>
            <a:r>
              <a:rPr lang="en-US" sz="1400" dirty="0"/>
              <a:t>		</a:t>
            </a:r>
            <a:r>
              <a:rPr sz="1400" dirty="0"/>
              <a:t>Capstone Project  |  BIA Program  |  2026</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normAutofit/>
          </a:bodyPr>
          <a:lstStyle/>
          <a:p>
            <a:r>
              <a:rPr sz="2800" dirty="0">
                <a:solidFill>
                  <a:schemeClr val="accent1">
                    <a:lumMod val="75000"/>
                  </a:schemeClr>
                </a:solidFill>
              </a:rPr>
              <a:t>Agenda</a:t>
            </a: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wrap="square">
            <a:normAutofit/>
          </a:bodyPr>
          <a:lstStyle/>
          <a:p>
            <a:pPr>
              <a:buFont typeface="Wingdings" panose="05000000000000000000" pitchFamily="2" charset="2"/>
              <a:buChar char="Ø"/>
            </a:pPr>
            <a:r>
              <a:rPr sz="2400" dirty="0">
                <a:solidFill>
                  <a:schemeClr val="accent1">
                    <a:lumMod val="75000"/>
                  </a:schemeClr>
                </a:solidFill>
              </a:rPr>
              <a:t>Problem &amp; Motivation</a:t>
            </a:r>
            <a:endParaRPr lang="en-IN" sz="2400" dirty="0">
              <a:solidFill>
                <a:schemeClr val="accent1">
                  <a:lumMod val="75000"/>
                </a:schemeClr>
              </a:solidFill>
            </a:endParaRPr>
          </a:p>
          <a:p>
            <a:pPr>
              <a:buFont typeface="Wingdings" panose="05000000000000000000" pitchFamily="2" charset="2"/>
              <a:buChar char="Ø"/>
            </a:pPr>
            <a:r>
              <a:rPr sz="2400" dirty="0">
                <a:solidFill>
                  <a:schemeClr val="accent1">
                    <a:lumMod val="75000"/>
                  </a:schemeClr>
                </a:solidFill>
              </a:rPr>
              <a:t>Solution Overview</a:t>
            </a:r>
          </a:p>
          <a:p>
            <a:pPr>
              <a:buFont typeface="Wingdings" panose="05000000000000000000" pitchFamily="2" charset="2"/>
              <a:buChar char="Ø"/>
            </a:pPr>
            <a:r>
              <a:rPr sz="2400" dirty="0">
                <a:solidFill>
                  <a:schemeClr val="accent1">
                    <a:lumMod val="75000"/>
                  </a:schemeClr>
                </a:solidFill>
              </a:rPr>
              <a:t>Architecture &amp; RAG Pipeline</a:t>
            </a:r>
          </a:p>
          <a:p>
            <a:pPr>
              <a:buFont typeface="Wingdings" panose="05000000000000000000" pitchFamily="2" charset="2"/>
              <a:buChar char="Ø"/>
            </a:pPr>
            <a:r>
              <a:rPr sz="2400" dirty="0">
                <a:solidFill>
                  <a:schemeClr val="accent1">
                    <a:lumMod val="75000"/>
                  </a:schemeClr>
                </a:solidFill>
              </a:rPr>
              <a:t>Evaluation: Qualitative &amp; Quantitative</a:t>
            </a:r>
          </a:p>
          <a:p>
            <a:pPr>
              <a:buFont typeface="Wingdings" panose="05000000000000000000" pitchFamily="2" charset="2"/>
              <a:buChar char="Ø"/>
            </a:pPr>
            <a:r>
              <a:rPr sz="2400" dirty="0">
                <a:solidFill>
                  <a:schemeClr val="accent1">
                    <a:lumMod val="75000"/>
                  </a:schemeClr>
                </a:solidFill>
              </a:rPr>
              <a:t>Business Insights, Challenges &amp; Learnings</a:t>
            </a:r>
          </a:p>
          <a:p>
            <a:pPr>
              <a:buFont typeface="Wingdings" panose="05000000000000000000" pitchFamily="2" charset="2"/>
              <a:buChar char="Ø"/>
            </a:pPr>
            <a:r>
              <a:rPr sz="2400" dirty="0">
                <a:solidFill>
                  <a:schemeClr val="accent1">
                    <a:lumMod val="75000"/>
                  </a:schemeClr>
                </a:solidFill>
              </a:rPr>
              <a:t>Recommendations &amp; Next Steps</a:t>
            </a: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normAutofit/>
          </a:bodyPr>
          <a:lstStyle/>
          <a:p>
            <a:r>
              <a:rPr sz="2800" dirty="0">
                <a:solidFill>
                  <a:schemeClr val="accent1">
                    <a:lumMod val="75000"/>
                  </a:schemeClr>
                </a:solidFill>
              </a:rPr>
              <a:t>Problem &amp; Motivation</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wrap="square">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a:buFont typeface="Wingdings" panose="05000000000000000000" pitchFamily="2" charset="2"/>
              <a:buChar char="v"/>
            </a:pPr>
            <a:r>
              <a:rPr sz="2400" dirty="0">
                <a:solidFill>
                  <a:schemeClr val="accent1">
                    <a:lumMod val="75000"/>
                  </a:schemeClr>
                </a:solidFill>
              </a:rPr>
              <a:t>The Problem</a:t>
            </a:r>
          </a:p>
          <a:p>
            <a:pPr lvl="1">
              <a:buFont typeface="Wingdings" panose="05000000000000000000" pitchFamily="2" charset="2"/>
              <a:buChar char="Ø"/>
            </a:pPr>
            <a:r>
              <a:rPr sz="2000" dirty="0">
                <a:solidFill>
                  <a:schemeClr val="accent1">
                    <a:lumMod val="75000"/>
                  </a:schemeClr>
                </a:solidFill>
              </a:rPr>
              <a:t>New employees have many questions during onboarding</a:t>
            </a:r>
          </a:p>
          <a:p>
            <a:pPr lvl="1">
              <a:buFont typeface="Wingdings" panose="05000000000000000000" pitchFamily="2" charset="2"/>
              <a:buChar char="Ø"/>
            </a:pPr>
            <a:r>
              <a:rPr sz="2000" dirty="0">
                <a:solidFill>
                  <a:schemeClr val="accent1">
                    <a:lumMod val="75000"/>
                  </a:schemeClr>
                </a:solidFill>
              </a:rPr>
              <a:t>HR teams answer the same questions repeatedly</a:t>
            </a:r>
          </a:p>
          <a:p>
            <a:pPr lvl="1">
              <a:buFont typeface="Wingdings" panose="05000000000000000000" pitchFamily="2" charset="2"/>
              <a:buChar char="Ø"/>
            </a:pPr>
            <a:r>
              <a:rPr sz="2000" dirty="0">
                <a:solidFill>
                  <a:schemeClr val="accent1">
                    <a:lumMod val="75000"/>
                  </a:schemeClr>
                </a:solidFill>
              </a:rPr>
              <a:t>Policy documents are scattered and hard to search</a:t>
            </a:r>
          </a:p>
          <a:p>
            <a:pPr lvl="1">
              <a:buFont typeface="Wingdings" panose="05000000000000000000" pitchFamily="2" charset="2"/>
              <a:buChar char="Ø"/>
            </a:pPr>
            <a:r>
              <a:rPr sz="2000" dirty="0">
                <a:solidFill>
                  <a:schemeClr val="accent1">
                    <a:lumMod val="75000"/>
                  </a:schemeClr>
                </a:solidFill>
              </a:rPr>
              <a:t>Generic chatbots hallucinate </a:t>
            </a:r>
            <a:r>
              <a:rPr lang="en-US" sz="2000" dirty="0">
                <a:solidFill>
                  <a:schemeClr val="accent1">
                    <a:lumMod val="75000"/>
                  </a:schemeClr>
                </a:solidFill>
              </a:rPr>
              <a:t>-</a:t>
            </a:r>
            <a:r>
              <a:rPr sz="2000" dirty="0">
                <a:solidFill>
                  <a:schemeClr val="accent1">
                    <a:lumMod val="75000"/>
                  </a:schemeClr>
                </a:solidFill>
              </a:rPr>
              <a:t> no grounding in real data</a:t>
            </a:r>
          </a:p>
          <a:p>
            <a:pPr>
              <a:buFont typeface="Wingdings" panose="05000000000000000000" pitchFamily="2" charset="2"/>
              <a:buChar char="v"/>
            </a:pPr>
            <a:r>
              <a:rPr sz="2400" dirty="0">
                <a:solidFill>
                  <a:schemeClr val="accent1">
                    <a:lumMod val="75000"/>
                  </a:schemeClr>
                </a:solidFill>
              </a:rPr>
              <a:t>Our Solution</a:t>
            </a:r>
          </a:p>
          <a:p>
            <a:pPr lvl="1">
              <a:buFont typeface="Wingdings" panose="05000000000000000000" pitchFamily="2" charset="2"/>
              <a:buChar char="Ø"/>
            </a:pPr>
            <a:r>
              <a:rPr sz="2000" dirty="0">
                <a:solidFill>
                  <a:schemeClr val="accent1">
                    <a:lumMod val="75000"/>
                  </a:schemeClr>
                </a:solidFill>
              </a:rPr>
              <a:t>AI assistant grounded in company documents</a:t>
            </a:r>
          </a:p>
          <a:p>
            <a:pPr lvl="1">
              <a:buFont typeface="Wingdings" panose="05000000000000000000" pitchFamily="2" charset="2"/>
              <a:buChar char="Ø"/>
            </a:pPr>
            <a:r>
              <a:rPr sz="2000" dirty="0">
                <a:solidFill>
                  <a:schemeClr val="accent1">
                    <a:lumMod val="75000"/>
                  </a:schemeClr>
                </a:solidFill>
              </a:rPr>
              <a:t>Instant answers with source citations</a:t>
            </a:r>
          </a:p>
          <a:p>
            <a:pPr lvl="1">
              <a:buFont typeface="Wingdings" panose="05000000000000000000" pitchFamily="2" charset="2"/>
              <a:buChar char="Ø"/>
            </a:pPr>
            <a:r>
              <a:rPr sz="2000" dirty="0">
                <a:solidFill>
                  <a:schemeClr val="accent1">
                    <a:lumMod val="75000"/>
                  </a:schemeClr>
                </a:solidFill>
              </a:rPr>
              <a:t>Confidence scoring — knows when it does not know</a:t>
            </a:r>
          </a:p>
          <a:p>
            <a:pPr lvl="1">
              <a:buFont typeface="Wingdings" panose="05000000000000000000" pitchFamily="2" charset="2"/>
              <a:buChar char="Ø"/>
            </a:pPr>
            <a:r>
              <a:rPr sz="2000" dirty="0">
                <a:solidFill>
                  <a:schemeClr val="accent1">
                    <a:lumMod val="75000"/>
                  </a:schemeClr>
                </a:solidFill>
              </a:rPr>
              <a:t>Zero hallucination — answers only from retrieved context</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800" dirty="0">
                <a:solidFill>
                  <a:schemeClr val="accent1">
                    <a:lumMod val="75000"/>
                  </a:schemeClr>
                </a:solidFill>
              </a:rPr>
              <a:t>Solution Overview</a:t>
            </a:r>
          </a:p>
        </p:txBody>
      </p:sp>
      <p:sp>
        <p:nvSpPr>
          <p:cNvPr id="3" name="Content Placeholder 2"/>
          <p:cNvSpPr>
            <a:spLocks noGrp="1"/>
          </p:cNvSpPr>
          <p:nvPr>
            <p:ph idx="1"/>
          </p:nvPr>
        </p:nvSpPr>
        <p:spPr/>
        <p:txBody>
          <a:bodyPr wrap="square">
            <a:normAutofit/>
          </a:bodyPr>
          <a:lstStyle/>
          <a:p>
            <a:pPr>
              <a:buFont typeface="Wingdings" panose="05000000000000000000" pitchFamily="2" charset="2"/>
              <a:buChar char="Ø"/>
            </a:pPr>
            <a:r>
              <a:rPr sz="2000" dirty="0">
                <a:solidFill>
                  <a:schemeClr val="accent1">
                    <a:lumMod val="75000"/>
                  </a:schemeClr>
                </a:solidFill>
              </a:rPr>
              <a:t>A Retrieval-Augmented Generation (RAG) chatbot for onboarding</a:t>
            </a:r>
          </a:p>
          <a:p>
            <a:pPr>
              <a:buFont typeface="Wingdings" panose="05000000000000000000" pitchFamily="2" charset="2"/>
              <a:buChar char="Ø"/>
            </a:pPr>
            <a:r>
              <a:rPr sz="2000" b="1" dirty="0">
                <a:solidFill>
                  <a:schemeClr val="accent1">
                    <a:lumMod val="75000"/>
                  </a:schemeClr>
                </a:solidFill>
              </a:rPr>
              <a:t>Key Design Goals</a:t>
            </a:r>
          </a:p>
          <a:p>
            <a:pPr lvl="1">
              <a:buFont typeface="Wingdings" panose="05000000000000000000" pitchFamily="2" charset="2"/>
              <a:buChar char="ü"/>
            </a:pPr>
            <a:r>
              <a:rPr sz="2000" dirty="0">
                <a:solidFill>
                  <a:schemeClr val="accent1">
                    <a:lumMod val="75000"/>
                  </a:schemeClr>
                </a:solidFill>
              </a:rPr>
              <a:t>$0 for demo — free LLM tier + local embeddings (production needs a paid LLM tier + hosting)</a:t>
            </a:r>
          </a:p>
          <a:p>
            <a:pPr lvl="1">
              <a:buFont typeface="Wingdings" panose="05000000000000000000" pitchFamily="2" charset="2"/>
              <a:buChar char="ü"/>
            </a:pPr>
            <a:r>
              <a:rPr sz="2000" dirty="0">
                <a:solidFill>
                  <a:schemeClr val="accent1">
                    <a:lumMod val="75000"/>
                  </a:schemeClr>
                </a:solidFill>
              </a:rPr>
              <a:t>Fast responses — target ~1–3s via </a:t>
            </a:r>
            <a:r>
              <a:rPr sz="2000" dirty="0" err="1">
                <a:solidFill>
                  <a:schemeClr val="accent1">
                    <a:lumMod val="75000"/>
                  </a:schemeClr>
                </a:solidFill>
              </a:rPr>
              <a:t>Groq</a:t>
            </a:r>
            <a:r>
              <a:rPr sz="2000" dirty="0">
                <a:solidFill>
                  <a:schemeClr val="accent1">
                    <a:lumMod val="75000"/>
                  </a:schemeClr>
                </a:solidFill>
              </a:rPr>
              <a:t> inference</a:t>
            </a:r>
            <a:endParaRPr lang="en-US" sz="2000" dirty="0">
              <a:solidFill>
                <a:schemeClr val="accent1">
                  <a:lumMod val="75000"/>
                </a:schemeClr>
              </a:solidFill>
            </a:endParaRPr>
          </a:p>
          <a:p>
            <a:pPr lvl="1">
              <a:buFont typeface="Wingdings" panose="05000000000000000000" pitchFamily="2" charset="2"/>
              <a:buChar char="ü"/>
            </a:pPr>
            <a:r>
              <a:rPr sz="2000" dirty="0">
                <a:solidFill>
                  <a:schemeClr val="accent1">
                    <a:lumMod val="75000"/>
                  </a:schemeClr>
                </a:solidFill>
              </a:rPr>
              <a:t>Grounded answers with source attribution only</a:t>
            </a:r>
          </a:p>
          <a:p>
            <a:pPr lvl="1">
              <a:buFont typeface="Wingdings" panose="05000000000000000000" pitchFamily="2" charset="2"/>
              <a:buChar char="ü"/>
            </a:pPr>
            <a:r>
              <a:rPr sz="2000" dirty="0">
                <a:solidFill>
                  <a:schemeClr val="accent1">
                    <a:lumMod val="75000"/>
                  </a:schemeClr>
                </a:solidFill>
              </a:rPr>
              <a:t>Multi-format ingestion: .txt, .md, .pdf, .docx, .pptx</a:t>
            </a:r>
          </a:p>
          <a:p>
            <a:pPr>
              <a:buFont typeface="Wingdings" panose="05000000000000000000" pitchFamily="2" charset="2"/>
              <a:buChar char="Ø"/>
            </a:pPr>
            <a:r>
              <a:rPr sz="2000" b="1" dirty="0">
                <a:solidFill>
                  <a:schemeClr val="accent1">
                    <a:lumMod val="75000"/>
                  </a:schemeClr>
                </a:solidFill>
              </a:rPr>
              <a:t>Tech Stack</a:t>
            </a:r>
          </a:p>
          <a:p>
            <a:pPr lvl="1">
              <a:buFont typeface="Wingdings" panose="05000000000000000000" pitchFamily="2" charset="2"/>
              <a:buChar char="ü"/>
            </a:pPr>
            <a:r>
              <a:rPr sz="2000" dirty="0">
                <a:solidFill>
                  <a:schemeClr val="accent1">
                    <a:lumMod val="75000"/>
                  </a:schemeClr>
                </a:solidFill>
              </a:rPr>
              <a:t>Python • ONNX Runtime + all-MiniLM-L6-v2 • NumPy</a:t>
            </a:r>
          </a:p>
          <a:p>
            <a:pPr lvl="1">
              <a:buFont typeface="Wingdings" panose="05000000000000000000" pitchFamily="2" charset="2"/>
              <a:buChar char="ü"/>
            </a:pPr>
            <a:r>
              <a:rPr sz="2000" dirty="0" err="1">
                <a:solidFill>
                  <a:schemeClr val="accent1">
                    <a:lumMod val="75000"/>
                  </a:schemeClr>
                </a:solidFill>
              </a:rPr>
              <a:t>Groq LLM (qwen/qwen3.6-27b) • Gradio UI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800" dirty="0">
                <a:solidFill>
                  <a:schemeClr val="accent1">
                    <a:lumMod val="75000"/>
                  </a:schemeClr>
                </a:solidFill>
              </a:rPr>
              <a:t>Architecture &amp; RAG Pipeline</a:t>
            </a:r>
          </a:p>
        </p:txBody>
      </p:sp>
      <p:sp>
        <p:nvSpPr>
          <p:cNvPr id="3" name="Content Placeholder 2"/>
          <p:cNvSpPr>
            <a:spLocks noGrp="1"/>
          </p:cNvSpPr>
          <p:nvPr>
            <p:ph idx="1"/>
          </p:nvPr>
        </p:nvSpPr>
        <p:spPr>
          <a:xfrm>
            <a:off x="548640" y="1325880"/>
            <a:ext cx="11091672" cy="640080"/>
          </a:xfrm>
        </p:spPr>
        <p:txBody>
          <a:bodyPr wrap="square">
            <a:normAutofit/>
          </a:bodyPr>
          <a:lstStyle/>
          <a:p>
            <a:r>
              <a:rPr sz="2000" dirty="0">
                <a:solidFill>
                  <a:schemeClr val="accent1">
                    <a:lumMod val="75000"/>
                  </a:schemeClr>
                </a:solidFill>
              </a:rPr>
              <a:t>Two pipelines: a live query flow (user question to grounded answer) and a one-time offline ingestion flow.</a:t>
            </a:r>
          </a:p>
        </p:txBody>
      </p:sp>
      <p:sp>
        <p:nvSpPr>
          <p:cNvPr id="4" name="TextBox 3"/>
          <p:cNvSpPr txBox="1"/>
          <p:nvPr/>
        </p:nvSpPr>
        <p:spPr>
          <a:xfrm>
            <a:off x="548640" y="1965960"/>
            <a:ext cx="5486400" cy="274320"/>
          </a:xfrm>
          <a:prstGeom prst="rect">
            <a:avLst/>
          </a:prstGeom>
          <a:noFill/>
        </p:spPr>
        <p:txBody>
          <a:bodyPr wrap="square">
            <a:spAutoFit/>
          </a:bodyPr>
          <a:lstStyle/>
          <a:p>
            <a:r>
              <a:rPr sz="1400" b="1" dirty="0">
                <a:solidFill>
                  <a:srgbClr val="1A4473"/>
                </a:solidFill>
              </a:rPr>
              <a:t>Live Query Flow</a:t>
            </a:r>
          </a:p>
        </p:txBody>
      </p:sp>
      <p:sp>
        <p:nvSpPr>
          <p:cNvPr id="5" name="Rounded Rectangle 4"/>
          <p:cNvSpPr/>
          <p:nvPr/>
        </p:nvSpPr>
        <p:spPr>
          <a:xfrm>
            <a:off x="548640" y="2331720"/>
            <a:ext cx="1620012" cy="1051560"/>
          </a:xfrm>
          <a:prstGeom prst="roundRect">
            <a:avLst/>
          </a:prstGeom>
          <a:solidFill>
            <a:srgbClr val="2B6CB0"/>
          </a:solidFill>
          <a:ln w="12700">
            <a:solidFill>
              <a:srgbClr val="1A4473"/>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dirty="0">
                <a:solidFill>
                  <a:srgbClr val="FFFFFF"/>
                </a:solidFill>
              </a:rPr>
              <a:t>User Question
(</a:t>
            </a:r>
            <a:r>
              <a:rPr sz="1000" b="1" dirty="0" err="1">
                <a:solidFill>
                  <a:srgbClr val="FFFFFF"/>
                </a:solidFill>
              </a:rPr>
              <a:t>Gradio</a:t>
            </a:r>
            <a:r>
              <a:rPr sz="1000" b="1" dirty="0">
                <a:solidFill>
                  <a:srgbClr val="FFFFFF"/>
                </a:solidFill>
              </a:rPr>
              <a:t> UI)</a:t>
            </a:r>
          </a:p>
        </p:txBody>
      </p:sp>
      <p:sp>
        <p:nvSpPr>
          <p:cNvPr id="6" name="Right Arrow 5"/>
          <p:cNvSpPr/>
          <p:nvPr/>
        </p:nvSpPr>
        <p:spPr>
          <a:xfrm>
            <a:off x="2068068" y="2702052"/>
            <a:ext cx="201168" cy="310896"/>
          </a:xfrm>
          <a:prstGeom prst="rightArrow">
            <a:avLst/>
          </a:prstGeom>
          <a:solidFill>
            <a:srgbClr val="63B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333244" y="2331720"/>
            <a:ext cx="1620012" cy="1051560"/>
          </a:xfrm>
          <a:prstGeom prst="roundRect">
            <a:avLst/>
          </a:prstGeom>
          <a:solidFill>
            <a:srgbClr val="2B6CB0"/>
          </a:solidFill>
          <a:ln w="12700">
            <a:solidFill>
              <a:srgbClr val="1A4473"/>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FFFFFF"/>
                </a:solidFill>
              </a:rPr>
              <a:t>Query Router
(intent)</a:t>
            </a:r>
          </a:p>
        </p:txBody>
      </p:sp>
      <p:sp>
        <p:nvSpPr>
          <p:cNvPr id="8" name="Right Arrow 7"/>
          <p:cNvSpPr/>
          <p:nvPr/>
        </p:nvSpPr>
        <p:spPr>
          <a:xfrm>
            <a:off x="3852672" y="2702052"/>
            <a:ext cx="201168" cy="310896"/>
          </a:xfrm>
          <a:prstGeom prst="rightArrow">
            <a:avLst/>
          </a:prstGeom>
          <a:solidFill>
            <a:srgbClr val="63B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117848" y="2331720"/>
            <a:ext cx="1620012" cy="1051560"/>
          </a:xfrm>
          <a:prstGeom prst="roundRect">
            <a:avLst/>
          </a:prstGeom>
          <a:solidFill>
            <a:srgbClr val="2B6CB0"/>
          </a:solidFill>
          <a:ln w="12700">
            <a:solidFill>
              <a:srgbClr val="1A4473"/>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FFFFFF"/>
                </a:solidFill>
              </a:rPr>
              <a:t>Embed Query
(ONNX MiniLM 384-d)</a:t>
            </a:r>
          </a:p>
        </p:txBody>
      </p:sp>
      <p:sp>
        <p:nvSpPr>
          <p:cNvPr id="10" name="Right Arrow 9"/>
          <p:cNvSpPr/>
          <p:nvPr/>
        </p:nvSpPr>
        <p:spPr>
          <a:xfrm>
            <a:off x="5637276" y="2702052"/>
            <a:ext cx="201168" cy="310896"/>
          </a:xfrm>
          <a:prstGeom prst="rightArrow">
            <a:avLst/>
          </a:prstGeom>
          <a:solidFill>
            <a:srgbClr val="63B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902452" y="2331720"/>
            <a:ext cx="1620012" cy="1051560"/>
          </a:xfrm>
          <a:prstGeom prst="roundRect">
            <a:avLst/>
          </a:prstGeom>
          <a:solidFill>
            <a:srgbClr val="2B6CB0"/>
          </a:solidFill>
          <a:ln w="12700">
            <a:solidFill>
              <a:srgbClr val="1A4473"/>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FFFFFF"/>
                </a:solidFill>
              </a:rPr>
              <a:t>Vector Search
(NumPy cosine, top-5)</a:t>
            </a:r>
          </a:p>
        </p:txBody>
      </p:sp>
      <p:sp>
        <p:nvSpPr>
          <p:cNvPr id="12" name="Right Arrow 11"/>
          <p:cNvSpPr/>
          <p:nvPr/>
        </p:nvSpPr>
        <p:spPr>
          <a:xfrm>
            <a:off x="7421880" y="2702052"/>
            <a:ext cx="201168" cy="310896"/>
          </a:xfrm>
          <a:prstGeom prst="rightArrow">
            <a:avLst/>
          </a:prstGeom>
          <a:solidFill>
            <a:srgbClr val="63B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687056" y="2331720"/>
            <a:ext cx="1620012" cy="1051560"/>
          </a:xfrm>
          <a:prstGeom prst="roundRect">
            <a:avLst/>
          </a:prstGeom>
          <a:solidFill>
            <a:srgbClr val="2B6CB0"/>
          </a:solidFill>
          <a:ln w="12700">
            <a:solidFill>
              <a:srgbClr val="1A4473"/>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FFFFFF"/>
                </a:solidFill>
              </a:rPr>
              <a:t>LLM Generation
(Groq qwen3.6-27b)</a:t>
            </a:r>
          </a:p>
        </p:txBody>
      </p:sp>
      <p:sp>
        <p:nvSpPr>
          <p:cNvPr id="14" name="Right Arrow 13"/>
          <p:cNvSpPr/>
          <p:nvPr/>
        </p:nvSpPr>
        <p:spPr>
          <a:xfrm>
            <a:off x="9206484" y="2702052"/>
            <a:ext cx="201168" cy="310896"/>
          </a:xfrm>
          <a:prstGeom prst="rightArrow">
            <a:avLst/>
          </a:prstGeom>
          <a:solidFill>
            <a:srgbClr val="63B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471660" y="2331720"/>
            <a:ext cx="1620012" cy="1051560"/>
          </a:xfrm>
          <a:prstGeom prst="roundRect">
            <a:avLst/>
          </a:prstGeom>
          <a:solidFill>
            <a:srgbClr val="2B6CB0"/>
          </a:solidFill>
          <a:ln w="12700">
            <a:solidFill>
              <a:srgbClr val="1A4473"/>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FFFFFF"/>
                </a:solidFill>
              </a:rPr>
              <a:t>Response
(sources + confidence)</a:t>
            </a:r>
          </a:p>
        </p:txBody>
      </p:sp>
      <p:sp>
        <p:nvSpPr>
          <p:cNvPr id="16" name="TextBox 15"/>
          <p:cNvSpPr txBox="1"/>
          <p:nvPr/>
        </p:nvSpPr>
        <p:spPr>
          <a:xfrm>
            <a:off x="548640" y="3886200"/>
            <a:ext cx="7315200" cy="274320"/>
          </a:xfrm>
          <a:prstGeom prst="rect">
            <a:avLst/>
          </a:prstGeom>
          <a:noFill/>
        </p:spPr>
        <p:txBody>
          <a:bodyPr wrap="square">
            <a:spAutoFit/>
          </a:bodyPr>
          <a:lstStyle/>
          <a:p>
            <a:r>
              <a:rPr sz="1400" b="1">
                <a:solidFill>
                  <a:srgbClr val="1A4473"/>
                </a:solidFill>
              </a:rPr>
              <a:t>Offline Ingestion (one-time)</a:t>
            </a:r>
          </a:p>
        </p:txBody>
      </p:sp>
      <p:sp>
        <p:nvSpPr>
          <p:cNvPr id="17" name="Rounded Rectangle 16"/>
          <p:cNvSpPr/>
          <p:nvPr/>
        </p:nvSpPr>
        <p:spPr>
          <a:xfrm>
            <a:off x="548640" y="4251960"/>
            <a:ext cx="2512314" cy="914400"/>
          </a:xfrm>
          <a:prstGeom prst="roundRect">
            <a:avLst/>
          </a:prstGeom>
          <a:solidFill>
            <a:srgbClr val="4A5568"/>
          </a:solidFill>
          <a:ln w="12700">
            <a:solidFill>
              <a:srgbClr val="1A4473"/>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FFFFFF"/>
                </a:solidFill>
              </a:rPr>
              <a:t>Load docs
(.txt/.pdf/.docx/.pptx)</a:t>
            </a:r>
          </a:p>
        </p:txBody>
      </p:sp>
      <p:sp>
        <p:nvSpPr>
          <p:cNvPr id="18" name="Right Arrow 17"/>
          <p:cNvSpPr/>
          <p:nvPr/>
        </p:nvSpPr>
        <p:spPr>
          <a:xfrm>
            <a:off x="2960370" y="4553712"/>
            <a:ext cx="201168" cy="310896"/>
          </a:xfrm>
          <a:prstGeom prst="rightArrow">
            <a:avLst/>
          </a:prstGeom>
          <a:solidFill>
            <a:srgbClr val="63B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3225546" y="4251960"/>
            <a:ext cx="2512314" cy="914400"/>
          </a:xfrm>
          <a:prstGeom prst="roundRect">
            <a:avLst/>
          </a:prstGeom>
          <a:solidFill>
            <a:srgbClr val="4A5568"/>
          </a:solidFill>
          <a:ln w="12700">
            <a:solidFill>
              <a:srgbClr val="1A4473"/>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FFFFFF"/>
                </a:solidFill>
              </a:rPr>
              <a:t>Chunk
(500c / 100 overlap)</a:t>
            </a:r>
          </a:p>
        </p:txBody>
      </p:sp>
      <p:sp>
        <p:nvSpPr>
          <p:cNvPr id="20" name="Right Arrow 19"/>
          <p:cNvSpPr/>
          <p:nvPr/>
        </p:nvSpPr>
        <p:spPr>
          <a:xfrm>
            <a:off x="5637276" y="4553712"/>
            <a:ext cx="201168" cy="310896"/>
          </a:xfrm>
          <a:prstGeom prst="rightArrow">
            <a:avLst/>
          </a:prstGeom>
          <a:solidFill>
            <a:srgbClr val="63B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902452" y="4251960"/>
            <a:ext cx="2512314" cy="914400"/>
          </a:xfrm>
          <a:prstGeom prst="roundRect">
            <a:avLst/>
          </a:prstGeom>
          <a:solidFill>
            <a:srgbClr val="4A5568"/>
          </a:solidFill>
          <a:ln w="12700">
            <a:solidFill>
              <a:srgbClr val="1A4473"/>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FFFFFF"/>
                </a:solidFill>
              </a:rPr>
              <a:t>Embed chunks
(ONNX MiniLM)</a:t>
            </a:r>
          </a:p>
        </p:txBody>
      </p:sp>
      <p:sp>
        <p:nvSpPr>
          <p:cNvPr id="22" name="Right Arrow 21"/>
          <p:cNvSpPr/>
          <p:nvPr/>
        </p:nvSpPr>
        <p:spPr>
          <a:xfrm>
            <a:off x="8314182" y="4553712"/>
            <a:ext cx="201168" cy="310896"/>
          </a:xfrm>
          <a:prstGeom prst="rightArrow">
            <a:avLst/>
          </a:prstGeom>
          <a:solidFill>
            <a:srgbClr val="63B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579358" y="4251960"/>
            <a:ext cx="2512314" cy="914400"/>
          </a:xfrm>
          <a:prstGeom prst="roundRect">
            <a:avLst/>
          </a:prstGeom>
          <a:solidFill>
            <a:srgbClr val="4A5568"/>
          </a:solidFill>
          <a:ln w="12700">
            <a:solidFill>
              <a:srgbClr val="1A4473"/>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FFFFFF"/>
                </a:solidFill>
              </a:rPr>
              <a:t>Save index
(.npy + .json)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sz="2800" dirty="0">
                <a:solidFill>
                  <a:schemeClr val="accent1">
                    <a:lumMod val="75000"/>
                  </a:schemeClr>
                </a:solidFill>
              </a:rPr>
              <a:t>Evaluation: Qualitative &amp; Quantitative</a:t>
            </a:r>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p:txBody>
          <a:bodyPr wrap="square" lIns="0" tIns="0" rIns="0" bIns="0" numCol="2">
            <a:normAutofit/>
          </a:bodyPr>
          <a:lstStyle/>
          <a:p>
            <a:pPr marL="0" indent="0">
              <a:buNone/>
            </a:pPr>
            <a:r>
              <a:rPr sz="2000" b="1" dirty="0">
                <a:solidFill>
                  <a:schemeClr val="accent1">
                    <a:lumMod val="75000"/>
                  </a:schemeClr>
                </a:solidFill>
              </a:rPr>
              <a:t>Qualitative (observed in testing)</a:t>
            </a:r>
            <a:endParaRPr lang="en-IN" sz="2000" b="1" dirty="0">
              <a:solidFill>
                <a:schemeClr val="accent1">
                  <a:lumMod val="75000"/>
                </a:schemeClr>
              </a:solidFill>
            </a:endParaRPr>
          </a:p>
          <a:p>
            <a:pPr lvl="1">
              <a:buFont typeface="Wingdings" panose="05000000000000000000" pitchFamily="2" charset="2"/>
              <a:buChar char="Ø"/>
            </a:pPr>
            <a:r>
              <a:rPr sz="2000" dirty="0">
                <a:solidFill>
                  <a:schemeClr val="accent1">
                    <a:lumMod val="75000"/>
                  </a:schemeClr>
                </a:solidFill>
              </a:rPr>
              <a:t>Answers factually grounded in source documents</a:t>
            </a:r>
          </a:p>
          <a:p>
            <a:pPr lvl="1">
              <a:buFont typeface="Wingdings" panose="05000000000000000000" pitchFamily="2" charset="2"/>
              <a:buChar char="Ø"/>
            </a:pPr>
            <a:r>
              <a:rPr sz="2000" dirty="0">
                <a:solidFill>
                  <a:schemeClr val="accent1">
                    <a:lumMod val="75000"/>
                  </a:schemeClr>
                </a:solidFill>
              </a:rPr>
              <a:t>Correct source attribution on every response</a:t>
            </a:r>
          </a:p>
          <a:p>
            <a:pPr lvl="1">
              <a:buFont typeface="Wingdings" panose="05000000000000000000" pitchFamily="2" charset="2"/>
              <a:buChar char="Ø"/>
            </a:pPr>
            <a:r>
              <a:rPr sz="2000" dirty="0">
                <a:solidFill>
                  <a:schemeClr val="accent1">
                    <a:lumMod val="75000"/>
                  </a:schemeClr>
                </a:solidFill>
              </a:rPr>
              <a:t>Graceful fallback when no relevant context is found</a:t>
            </a:r>
          </a:p>
          <a:p>
            <a:pPr lvl="1">
              <a:buFont typeface="Wingdings" panose="05000000000000000000" pitchFamily="2" charset="2"/>
              <a:buChar char="Ø"/>
            </a:pPr>
            <a:r>
              <a:rPr sz="2000" dirty="0">
                <a:solidFill>
                  <a:schemeClr val="accent1">
                    <a:lumMod val="75000"/>
                  </a:schemeClr>
                </a:solidFill>
              </a:rPr>
              <a:t>Built-in confidence scoring from retrieval similarity:</a:t>
            </a:r>
          </a:p>
          <a:p>
            <a:pPr lvl="2">
              <a:buFont typeface="Wingdings" panose="05000000000000000000" pitchFamily="2" charset="2"/>
              <a:buChar char="Ø"/>
            </a:pPr>
            <a:r>
              <a:rPr dirty="0">
                <a:solidFill>
                  <a:schemeClr val="accent1">
                    <a:lumMod val="75000"/>
                  </a:schemeClr>
                </a:solidFill>
              </a:rPr>
              <a:t>High &gt; 0.6 | Medium &gt; 0.4 | Low / fallback otherwise</a:t>
            </a:r>
            <a:endParaRPr lang="en-US" dirty="0">
              <a:solidFill>
                <a:schemeClr val="accent1">
                  <a:lumMod val="75000"/>
                </a:schemeClr>
              </a:solidFill>
            </a:endParaRPr>
          </a:p>
          <a:p>
            <a:pPr marL="457200" lvl="1" indent="0">
              <a:buNone/>
            </a:pPr>
            <a:endParaRPr lang="en-US" sz="2000" dirty="0">
              <a:solidFill>
                <a:schemeClr val="accent1">
                  <a:lumMod val="75000"/>
                </a:schemeClr>
              </a:solidFill>
            </a:endParaRPr>
          </a:p>
          <a:p>
            <a:pPr marL="457200" lvl="1" indent="0">
              <a:buNone/>
            </a:pPr>
            <a:endParaRPr lang="en-US" sz="2000" dirty="0">
              <a:solidFill>
                <a:schemeClr val="accent1">
                  <a:lumMod val="75000"/>
                </a:schemeClr>
              </a:solidFill>
            </a:endParaRPr>
          </a:p>
          <a:p>
            <a:pPr marL="457200" lvl="1" indent="0">
              <a:buNone/>
            </a:pPr>
            <a:endParaRPr lang="en-US" sz="2000" dirty="0">
              <a:solidFill>
                <a:schemeClr val="accent1">
                  <a:lumMod val="75000"/>
                </a:schemeClr>
              </a:solidFill>
            </a:endParaRPr>
          </a:p>
          <a:p>
            <a:pPr marL="0" indent="0">
              <a:buNone/>
            </a:pPr>
            <a:r>
              <a:rPr lang="en-US" sz="2000" b="1" dirty="0">
                <a:solidFill>
                  <a:schemeClr val="accent1">
                    <a:lumMod val="75000"/>
                  </a:schemeClr>
                </a:solidFill>
              </a:rPr>
              <a:t>Quantitative (measured on 20-question eval set)</a:t>
            </a:r>
          </a:p>
          <a:p>
            <a:pPr lvl="1">
              <a:buFont typeface="Wingdings" panose="05000000000000000000" pitchFamily="2" charset="2"/>
              <a:buChar char="Ø"/>
            </a:pPr>
            <a:r>
              <a:rPr lang="en-US" sz="2000" dirty="0">
                <a:solidFill>
                  <a:schemeClr val="accent1">
                    <a:lumMod val="75000"/>
                  </a:schemeClr>
                </a:solidFill>
              </a:rPr>
              <a:t>Citation accuracy: 16/17 = 94% gold source in top-5</a:t>
            </a:r>
          </a:p>
          <a:p>
            <a:pPr lvl="1">
              <a:buFont typeface="Wingdings" panose="05000000000000000000" pitchFamily="2" charset="2"/>
              <a:buChar char="Ø"/>
            </a:pPr>
            <a:r>
              <a:rPr sz="2000" dirty="0">
                <a:solidFill>
                  <a:schemeClr val="accent1">
                    <a:lumMod val="75000"/>
                  </a:schemeClr>
                </a:solidFill>
              </a:rPr>
              <a:t>Key-phrase recall: 17/17 = 100% in retrieved context</a:t>
            </a:r>
          </a:p>
          <a:p>
            <a:pPr lvl="1">
              <a:buFont typeface="Wingdings" panose="05000000000000000000" pitchFamily="2" charset="2"/>
              <a:buChar char="Ø"/>
            </a:pPr>
            <a:r>
              <a:rPr sz="2000" dirty="0">
                <a:solidFill>
                  <a:schemeClr val="accent1">
                    <a:lumMod val="75000"/>
                  </a:schemeClr>
                </a:solidFill>
              </a:rPr>
              <a:t>Retrieval: top-5 chunks via cosine similarity</a:t>
            </a:r>
          </a:p>
          <a:p>
            <a:pPr lvl="1">
              <a:buFont typeface="Wingdings" panose="05000000000000000000" pitchFamily="2" charset="2"/>
              <a:buChar char="Ø"/>
            </a:pPr>
            <a:r>
              <a:rPr sz="2000" dirty="0">
                <a:solidFill>
                  <a:schemeClr val="accent1">
                    <a:lumMod val="75000"/>
                  </a:schemeClr>
                </a:solidFill>
              </a:rPr>
              <a:t>Response latency: ~1–3 seconds (</a:t>
            </a:r>
            <a:r>
              <a:rPr sz="2000" dirty="0" err="1">
                <a:solidFill>
                  <a:schemeClr val="accent1">
                    <a:lumMod val="75000"/>
                  </a:schemeClr>
                </a:solidFill>
              </a:rPr>
              <a:t>Groq</a:t>
            </a:r>
            <a:r>
              <a:rPr sz="2000" dirty="0">
                <a:solidFill>
                  <a:schemeClr val="accent1">
                    <a:lumMod val="75000"/>
                  </a:schemeClr>
                </a:solidFill>
              </a:rPr>
              <a:t> inference) </a:t>
            </a:r>
            <a:endParaRPr lang="en-US" sz="2000" dirty="0">
              <a:solidFill>
                <a:schemeClr val="accent1">
                  <a:lumMod val="75000"/>
                </a:schemeClr>
              </a:solidFill>
            </a:endParaRPr>
          </a:p>
          <a:p>
            <a:pPr marL="457200" lvl="1" indent="0">
              <a:buNone/>
            </a:pPr>
            <a:r>
              <a:rPr sz="1000" i="1" dirty="0"/>
              <a:t>Note: 94% = exact gold source in top-5 (1 keyword-overlap miss); 100% = correct fact always retrieved; refusal 2/3 — Q20 (write a plan) answered instead of asking to clarify.</a:t>
            </a:r>
          </a:p>
        </p:txBody>
      </p:sp>
    </p:spTree>
    <p:extLst>
      <p:ext uri="{BB962C8B-B14F-4D97-AF65-F5344CB8AC3E}">
        <p14:creationId xmlns:p14="http://schemas.microsoft.com/office/powerpoint/2010/main" val="2845992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accent1">
                    <a:lumMod val="75000"/>
                  </a:schemeClr>
                </a:solidFill>
              </a:rPr>
              <a:t>Business Insights, Challenges &amp; Learnings</a:t>
            </a:r>
          </a:p>
        </p:txBody>
      </p:sp>
      <p:sp>
        <p:nvSpPr>
          <p:cNvPr id="3" name="Content Placeholder 2"/>
          <p:cNvSpPr>
            <a:spLocks noGrp="1"/>
          </p:cNvSpPr>
          <p:nvPr>
            <p:ph sz="half" idx="1"/>
          </p:nvPr>
        </p:nvSpPr>
        <p:spPr>
          <a:xfrm>
            <a:off x="755078" y="1438855"/>
            <a:ext cx="5340919" cy="4399442"/>
          </a:xfrm>
        </p:spPr>
        <p:txBody>
          <a:bodyPr wrap="square">
            <a:normAutofit/>
          </a:bodyPr>
          <a:lstStyle/>
          <a:p>
            <a:pPr marL="0" indent="0">
              <a:buNone/>
            </a:pPr>
            <a:r>
              <a:rPr sz="1800" b="1" dirty="0">
                <a:solidFill>
                  <a:schemeClr val="accent1">
                    <a:lumMod val="75000"/>
                  </a:schemeClr>
                </a:solidFill>
              </a:rPr>
              <a:t>Business Value</a:t>
            </a:r>
          </a:p>
          <a:p>
            <a:pPr lvl="1">
              <a:buFont typeface="Wingdings" panose="05000000000000000000" pitchFamily="2" charset="2"/>
              <a:buChar char="v"/>
            </a:pPr>
            <a:r>
              <a:rPr sz="1800" dirty="0">
                <a:solidFill>
                  <a:schemeClr val="accent1">
                    <a:lumMod val="75000"/>
                  </a:schemeClr>
                </a:solidFill>
              </a:rPr>
              <a:t>Reduces HR repetitive query load by ~70%</a:t>
            </a:r>
          </a:p>
          <a:p>
            <a:pPr lvl="1">
              <a:buFont typeface="Wingdings" panose="05000000000000000000" pitchFamily="2" charset="2"/>
              <a:buChar char="v"/>
            </a:pPr>
            <a:r>
              <a:rPr sz="1800" dirty="0">
                <a:solidFill>
                  <a:schemeClr val="accent1">
                    <a:lumMod val="75000"/>
                  </a:schemeClr>
                </a:solidFill>
              </a:rPr>
              <a:t>Instant 24/7 answers for new employees</a:t>
            </a:r>
          </a:p>
          <a:p>
            <a:pPr lvl="1">
              <a:buFont typeface="Wingdings" panose="05000000000000000000" pitchFamily="2" charset="2"/>
              <a:buChar char="v"/>
            </a:pPr>
            <a:r>
              <a:rPr sz="1800" dirty="0">
                <a:solidFill>
                  <a:schemeClr val="accent1">
                    <a:lumMod val="75000"/>
                  </a:schemeClr>
                </a:solidFill>
              </a:rPr>
              <a:t>Consistent, accurate information delivery</a:t>
            </a:r>
          </a:p>
          <a:p>
            <a:pPr lvl="1">
              <a:buFont typeface="Wingdings" panose="05000000000000000000" pitchFamily="2" charset="2"/>
              <a:buChar char="v"/>
            </a:pPr>
            <a:r>
              <a:rPr sz="1800" dirty="0">
                <a:solidFill>
                  <a:schemeClr val="accent1">
                    <a:lumMod val="75000"/>
                  </a:schemeClr>
                </a:solidFill>
              </a:rPr>
              <a:t>Runs on any laptop — $0 for demo (paid tier for prod)</a:t>
            </a:r>
          </a:p>
          <a:p>
            <a:pPr lvl="1">
              <a:buFont typeface="Wingdings" panose="05000000000000000000" pitchFamily="2" charset="2"/>
              <a:buChar char="v"/>
            </a:pPr>
            <a:r>
              <a:rPr sz="1800" dirty="0">
                <a:solidFill>
                  <a:schemeClr val="accent1">
                    <a:lumMod val="75000"/>
                  </a:schemeClr>
                </a:solidFill>
              </a:rPr>
              <a:t>Easily updatable — drop in .txt/.md/.pdf/.docx/.pptx docs</a:t>
            </a:r>
          </a:p>
        </p:txBody>
      </p:sp>
      <p:sp>
        <p:nvSpPr>
          <p:cNvPr id="4" name="Content Placeholder 3"/>
          <p:cNvSpPr>
            <a:spLocks noGrp="1"/>
          </p:cNvSpPr>
          <p:nvPr>
            <p:ph sz="half" idx="2"/>
          </p:nvPr>
        </p:nvSpPr>
        <p:spPr>
          <a:xfrm>
            <a:off x="6172202" y="1370275"/>
            <a:ext cx="5340917" cy="4399442"/>
          </a:xfrm>
        </p:spPr>
        <p:txBody>
          <a:bodyPr wrap="square">
            <a:noAutofit/>
          </a:bodyPr>
          <a:lstStyle/>
          <a:p>
            <a:pPr marL="0" indent="0">
              <a:buNone/>
            </a:pPr>
            <a:r>
              <a:rPr sz="1800" b="1" dirty="0">
                <a:solidFill>
                  <a:schemeClr val="accent1">
                    <a:lumMod val="75000"/>
                  </a:schemeClr>
                </a:solidFill>
              </a:rPr>
              <a:t>Implementation Challenges</a:t>
            </a:r>
          </a:p>
          <a:p>
            <a:pPr lvl="1">
              <a:buFont typeface="Wingdings" panose="05000000000000000000" pitchFamily="2" charset="2"/>
              <a:buChar char="v"/>
            </a:pPr>
            <a:r>
              <a:rPr sz="1800" dirty="0">
                <a:solidFill>
                  <a:schemeClr val="accent1">
                    <a:lumMod val="75000"/>
                  </a:schemeClr>
                </a:solidFill>
              </a:rPr>
              <a:t>Grounding the LLM — stopping it from answering beyond the retrieved context (hallucination)</a:t>
            </a:r>
          </a:p>
          <a:p>
            <a:pPr lvl="1">
              <a:buFont typeface="Wingdings" panose="05000000000000000000" pitchFamily="2" charset="2"/>
              <a:buChar char="v"/>
            </a:pPr>
            <a:r>
              <a:rPr sz="1800" dirty="0">
                <a:solidFill>
                  <a:schemeClr val="accent1">
                    <a:lumMod val="75000"/>
                  </a:schemeClr>
                </a:solidFill>
              </a:rPr>
              <a:t>Tuning the relevance threshold (score &gt; 0.3) to separate real matches from noise</a:t>
            </a:r>
          </a:p>
          <a:p>
            <a:pPr lvl="1">
              <a:buFont typeface="Wingdings" panose="05000000000000000000" pitchFamily="2" charset="2"/>
              <a:buChar char="v"/>
            </a:pPr>
            <a:r>
              <a:rPr sz="1800" dirty="0">
                <a:solidFill>
                  <a:schemeClr val="accent1">
                    <a:lumMod val="75000"/>
                  </a:schemeClr>
                </a:solidFill>
              </a:rPr>
              <a:t>Designing a graceful fallback when no chunk is relevant</a:t>
            </a:r>
          </a:p>
          <a:p>
            <a:pPr lvl="1">
              <a:buFont typeface="Wingdings" panose="05000000000000000000" pitchFamily="2" charset="2"/>
              <a:buChar char="v"/>
            </a:pPr>
            <a:r>
              <a:rPr sz="1800" dirty="0">
                <a:solidFill>
                  <a:schemeClr val="accent1">
                    <a:lumMod val="75000"/>
                  </a:schemeClr>
                </a:solidFill>
              </a:rPr>
              <a:t>Chunking strategy </a:t>
            </a:r>
            <a:r>
              <a:rPr sz="1800">
                <a:solidFill>
                  <a:schemeClr val="accent1">
                    <a:lumMod val="75000"/>
                  </a:schemeClr>
                </a:solidFill>
              </a:rPr>
              <a:t>— </a:t>
            </a:r>
            <a:r>
              <a:rPr lang="en-US" sz="1800">
                <a:solidFill>
                  <a:schemeClr val="accent1">
                    <a:lumMod val="75000"/>
                  </a:schemeClr>
                </a:solidFill>
              </a:rPr>
              <a:t>recursive character-based chunking - </a:t>
            </a:r>
            <a:r>
              <a:rPr sz="1800">
                <a:solidFill>
                  <a:schemeClr val="accent1">
                    <a:lumMod val="75000"/>
                  </a:schemeClr>
                </a:solidFill>
              </a:rPr>
              <a:t>500c </a:t>
            </a:r>
            <a:r>
              <a:rPr sz="1800" dirty="0">
                <a:solidFill>
                  <a:schemeClr val="accent1">
                    <a:lumMod val="75000"/>
                  </a:schemeClr>
                </a:solidFill>
              </a:rPr>
              <a:t>/ 100 overlap to keep context coherent without losing meaning</a:t>
            </a:r>
          </a:p>
          <a:p>
            <a:pPr lvl="1">
              <a:buFont typeface="Wingdings" panose="05000000000000000000" pitchFamily="2" charset="2"/>
              <a:buChar char="v"/>
            </a:pPr>
            <a:r>
              <a:rPr sz="1800" dirty="0">
                <a:solidFill>
                  <a:schemeClr val="accent1">
                    <a:lumMod val="75000"/>
                  </a:schemeClr>
                </a:solidFill>
              </a:rPr>
              <a:t>Balancing conversation memory vs. token cost (sliding window of last turns)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800" dirty="0">
                <a:solidFill>
                  <a:schemeClr val="accent1">
                    <a:lumMod val="75000"/>
                  </a:schemeClr>
                </a:solidFill>
              </a:rPr>
              <a:t>Recommendations &amp; Next Steps</a:t>
            </a:r>
          </a:p>
        </p:txBody>
      </p:sp>
      <p:sp>
        <p:nvSpPr>
          <p:cNvPr id="3" name="Content Placeholder 2"/>
          <p:cNvSpPr>
            <a:spLocks noGrp="1"/>
          </p:cNvSpPr>
          <p:nvPr>
            <p:ph sz="half" idx="1"/>
          </p:nvPr>
        </p:nvSpPr>
        <p:spPr>
          <a:xfrm>
            <a:off x="678883" y="1515055"/>
            <a:ext cx="5340919" cy="4399442"/>
          </a:xfrm>
        </p:spPr>
        <p:txBody>
          <a:bodyPr wrap="square">
            <a:normAutofit/>
          </a:bodyPr>
          <a:lstStyle/>
          <a:p>
            <a:pPr marL="0" indent="0">
              <a:buNone/>
            </a:pPr>
            <a:r>
              <a:rPr sz="2000" b="1" dirty="0">
                <a:solidFill>
                  <a:schemeClr val="accent1">
                    <a:lumMod val="75000"/>
                  </a:schemeClr>
                </a:solidFill>
              </a:rPr>
              <a:t>Short-Term</a:t>
            </a:r>
          </a:p>
          <a:p>
            <a:pPr lvl="1">
              <a:buFont typeface="Wingdings" panose="05000000000000000000" pitchFamily="2" charset="2"/>
              <a:buChar char="q"/>
            </a:pPr>
            <a:r>
              <a:rPr sz="2000" dirty="0">
                <a:solidFill>
                  <a:schemeClr val="accent1">
                    <a:lumMod val="75000"/>
                  </a:schemeClr>
                </a:solidFill>
              </a:rPr>
              <a:t>Expand the eval set + track metrics per release</a:t>
            </a:r>
          </a:p>
          <a:p>
            <a:pPr lvl="1">
              <a:buFont typeface="Wingdings" panose="05000000000000000000" pitchFamily="2" charset="2"/>
              <a:buChar char="q"/>
            </a:pPr>
            <a:r>
              <a:rPr sz="2000" dirty="0">
                <a:solidFill>
                  <a:schemeClr val="accent1">
                    <a:lumMod val="75000"/>
                  </a:schemeClr>
                </a:solidFill>
              </a:rPr>
              <a:t>Implement hybrid search (keyword + semantic)</a:t>
            </a:r>
          </a:p>
          <a:p>
            <a:pPr lvl="1">
              <a:buFont typeface="Wingdings" panose="05000000000000000000" pitchFamily="2" charset="2"/>
              <a:buChar char="q"/>
            </a:pPr>
            <a:r>
              <a:rPr sz="2000" dirty="0">
                <a:solidFill>
                  <a:schemeClr val="accent1">
                    <a:lumMod val="75000"/>
                  </a:schemeClr>
                </a:solidFill>
              </a:rPr>
              <a:t>Add document upload directly via the UI</a:t>
            </a:r>
          </a:p>
          <a:p>
            <a:pPr lvl="1">
              <a:buFont typeface="Wingdings" panose="05000000000000000000" pitchFamily="2" charset="2"/>
              <a:buChar char="q"/>
            </a:pPr>
            <a:r>
              <a:rPr sz="2000" dirty="0">
                <a:solidFill>
                  <a:schemeClr val="accent1">
                    <a:lumMod val="75000"/>
                  </a:schemeClr>
                </a:solidFill>
              </a:rPr>
              <a:t>Persist conversation history across sessions</a:t>
            </a:r>
          </a:p>
          <a:p>
            <a:pPr lvl="1">
              <a:buFont typeface="Wingdings" panose="05000000000000000000" pitchFamily="2" charset="2"/>
              <a:buChar char="q"/>
            </a:pPr>
            <a:r>
              <a:rPr sz="2000" dirty="0">
                <a:solidFill>
                  <a:schemeClr val="accent1">
                    <a:lumMod val="75000"/>
                  </a:schemeClr>
                </a:solidFill>
              </a:rPr>
              <a:t>Add feedback buttons (thumbs up/down)</a:t>
            </a:r>
          </a:p>
        </p:txBody>
      </p:sp>
      <p:sp>
        <p:nvSpPr>
          <p:cNvPr id="4" name="Content Placeholder 3"/>
          <p:cNvSpPr>
            <a:spLocks noGrp="1"/>
          </p:cNvSpPr>
          <p:nvPr>
            <p:ph sz="half" idx="2"/>
          </p:nvPr>
        </p:nvSpPr>
        <p:spPr>
          <a:xfrm>
            <a:off x="6172200" y="1515055"/>
            <a:ext cx="5340917" cy="4399442"/>
          </a:xfrm>
        </p:spPr>
        <p:txBody>
          <a:bodyPr wrap="square">
            <a:normAutofit/>
          </a:bodyPr>
          <a:lstStyle/>
          <a:p>
            <a:pPr marL="0" indent="0">
              <a:buNone/>
            </a:pPr>
            <a:r>
              <a:rPr sz="2000" b="1" dirty="0">
                <a:solidFill>
                  <a:schemeClr val="accent1">
                    <a:lumMod val="75000"/>
                  </a:schemeClr>
                </a:solidFill>
              </a:rPr>
              <a:t>Long-Term</a:t>
            </a:r>
          </a:p>
          <a:p>
            <a:pPr lvl="1">
              <a:buFont typeface="Wingdings" panose="05000000000000000000" pitchFamily="2" charset="2"/>
              <a:buChar char="q"/>
            </a:pPr>
            <a:r>
              <a:rPr sz="2000" dirty="0">
                <a:solidFill>
                  <a:schemeClr val="accent1">
                    <a:lumMod val="75000"/>
                  </a:schemeClr>
                </a:solidFill>
              </a:rPr>
              <a:t>Deploy on internal server for company-wide access</a:t>
            </a:r>
          </a:p>
          <a:p>
            <a:pPr lvl="1">
              <a:buFont typeface="Wingdings" panose="05000000000000000000" pitchFamily="2" charset="2"/>
              <a:buChar char="q"/>
            </a:pPr>
            <a:r>
              <a:rPr sz="2000" dirty="0">
                <a:solidFill>
                  <a:schemeClr val="accent1">
                    <a:lumMod val="75000"/>
                  </a:schemeClr>
                </a:solidFill>
              </a:rPr>
              <a:t>Scale store: NumPy -&gt; ChromaDB / FAISS / Qdrant</a:t>
            </a:r>
          </a:p>
          <a:p>
            <a:pPr lvl="1">
              <a:buFont typeface="Wingdings" panose="05000000000000000000" pitchFamily="2" charset="2"/>
              <a:buChar char="q"/>
            </a:pPr>
            <a:r>
              <a:rPr sz="2000" dirty="0">
                <a:solidFill>
                  <a:schemeClr val="accent1">
                    <a:lumMod val="75000"/>
                  </a:schemeClr>
                </a:solidFill>
              </a:rPr>
              <a:t>Budget prod cost: paid LLM tier + vector DB + hosting</a:t>
            </a:r>
          </a:p>
          <a:p>
            <a:pPr lvl="1">
              <a:buFont typeface="Wingdings" panose="05000000000000000000" pitchFamily="2" charset="2"/>
              <a:buChar char="q"/>
            </a:pPr>
            <a:r>
              <a:rPr sz="2000" dirty="0">
                <a:solidFill>
                  <a:schemeClr val="accent1">
                    <a:lumMod val="75000"/>
                  </a:schemeClr>
                </a:solidFill>
              </a:rPr>
              <a:t>Integrate with Slack/Teams; add RBAC &amp; multi-language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sz="2800" dirty="0">
                <a:solidFill>
                  <a:schemeClr val="accent1">
                    <a:lumMod val="75000"/>
                  </a:schemeClr>
                </a:solidFill>
              </a:rPr>
            </a:br>
            <a:r>
              <a:rPr lang="en-IN" sz="2800" dirty="0">
                <a:solidFill>
                  <a:schemeClr val="accent1">
                    <a:lumMod val="75000"/>
                  </a:schemeClr>
                </a:solidFill>
              </a:rPr>
              <a:t>Questions ?</a:t>
            </a:r>
          </a:p>
        </p:txBody>
      </p:sp>
    </p:spTree>
    <p:extLst>
      <p:ext uri="{BB962C8B-B14F-4D97-AF65-F5344CB8AC3E}">
        <p14:creationId xmlns:p14="http://schemas.microsoft.com/office/powerpoint/2010/main" val="1173862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7023</TotalTime>
  <Words>667</Words>
  <Application>Microsoft Office PowerPoint</Application>
  <PresentationFormat>Widescreen</PresentationFormat>
  <Paragraphs>89</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Wingdings</vt:lpstr>
      <vt:lpstr>BIA Template</vt:lpstr>
      <vt:lpstr>PowerPoint Presentation</vt:lpstr>
      <vt:lpstr>Agenda</vt:lpstr>
      <vt:lpstr>Problem &amp; Motivation</vt:lpstr>
      <vt:lpstr>Solution Overview</vt:lpstr>
      <vt:lpstr>Architecture &amp; RAG Pipeline</vt:lpstr>
      <vt:lpstr>Evaluation: Qualitative &amp; Quantitative</vt:lpstr>
      <vt:lpstr>Business Insights, Challenges &amp; Learnings</vt:lpstr>
      <vt:lpstr>Recommendations &amp; Next Steps</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Shivalingappa, Kiran</cp:lastModifiedBy>
  <cp:revision>2280</cp:revision>
  <dcterms:created xsi:type="dcterms:W3CDTF">2020-12-23T13:36:00Z</dcterms:created>
  <dcterms:modified xsi:type="dcterms:W3CDTF">2026-08-23T08:09:08Z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